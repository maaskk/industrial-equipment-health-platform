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158" autoAdjust="0"/>
  </p:normalViewPr>
  <p:slideViewPr>
    <p:cSldViewPr snapToGrid="0">
      <p:cViewPr>
        <p:scale>
          <a:sx n="84" d="100"/>
          <a:sy n="84" d="100"/>
        </p:scale>
        <p:origin x="48" y="3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MAE</c:v>
          </c:tx>
          <c:spPr>
            <a:solidFill>
              <a:srgbClr val="287B83"/>
            </a:solidFill>
          </c:spPr>
          <c:invertIfNegative val="1"/>
          <c:dLbls>
            <c:spPr>
              <a:noFill/>
              <a:ln>
                <a:noFill/>
              </a:ln>
              <a:effectLst/>
            </c:spPr>
            <c:txPr>
              <a:bodyPr anchorCtr="1"/>
              <a:lstStyle/>
              <a:p>
                <a:pPr>
                  <a:defRPr sz="975" b="1">
                    <a:solidFill>
                      <a:srgbClr val="17212B"/>
                    </a:solidFill>
                    <a:latin typeface="Avenir Next"/>
                    <a:ea typeface="Avenir Next"/>
                    <a:cs typeface="Avenir Next"/>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Gradient boosting</c:v>
                </c:pt>
                <c:pt idx="1">
                  <c:v>Forêt aléatoire</c:v>
                </c:pt>
                <c:pt idx="2">
                  <c:v>Ridge brut</c:v>
                </c:pt>
                <c:pt idx="3">
                  <c:v>Ridge cycle</c:v>
                </c:pt>
                <c:pt idx="4">
                  <c:v>Moyenne</c:v>
                </c:pt>
              </c:strCache>
            </c:strRef>
          </c:cat>
          <c:val>
            <c:numRef>
              <c:f>'Chart Data'!$B$2:$B$6</c:f>
              <c:numCache>
                <c:formatCode>General</c:formatCode>
                <c:ptCount val="5"/>
                <c:pt idx="0">
                  <c:v>12.556800000000001</c:v>
                </c:pt>
                <c:pt idx="1">
                  <c:v>12.7272</c:v>
                </c:pt>
                <c:pt idx="2">
                  <c:v>18.8325</c:v>
                </c:pt>
                <c:pt idx="3">
                  <c:v>29.8477</c:v>
                </c:pt>
                <c:pt idx="4">
                  <c:v>37.315399999999997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52F-46A6-9CC7-86FC26722E07}"/>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venir Next"/>
                <a:ea typeface="Avenir Next"/>
                <a:cs typeface="Avenir Next"/>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CF5"/>
        </a:solidFill>
        <a:ln w="9525">
          <a:solidFill>
            <a:srgbClr val="D7D1C5"/>
          </a:solidFill>
        </a:ln>
      </c:spPr>
    </c:plotArea>
    <c:plotVisOnly val="1"/>
    <c:dispBlanksAs val="zero"/>
    <c:showDLblsOverMax val="1"/>
  </c:chart>
  <c:spPr>
    <a:solidFill>
      <a:srgbClr val="FFFCF5"/>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Bonjour. Nous présentons une plateforme complète de maintenance prédictive. Notre objectif n'est pas seulement d'entraîner un modèle : nous partons des données NASA C-MAPSS, nous les contrôlons, nous entraînons et versionnons le modèle, puis nous servons la prédiction par API dans une pile Docker pilotée par Komodo. La présentation suit ce même parcours et chaque membre explique la partie qu'il a réalisée.</a:t>
            </a:r>
          </a:p>
          <a:p>
            <a:endParaRPr/>
          </a:p>
          <a:p>
            <a:r>
              <a:t>Sources :</a:t>
            </a:r>
          </a:p>
          <a:p>
            <a:r>
              <a:t>https://github.com/Maaskk/industrial-equipment-health-platform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maintenance corrective intervient trop tard, après la panne. La maintenance préventive réduit le risque, mais elle suit un calendrier fixe. Notre approche prédictive utilise l'état mesuré du moteur. Le modèle estime la Remaining Useful Life, donc un nombre de cycles restants. Cette valeur aide à prioriser les contrôles ; elle ne constitue pas une garantie absolue de panne.</a:t>
            </a:r>
          </a:p>
          <a:p>
            <a:endParaRPr/>
          </a:p>
          <a:p>
            <a:r>
              <a:t>Sources :</a:t>
            </a:r>
          </a:p>
          <a:p>
            <a:r>
              <a:t>https://github.com/Maaskk/industrial-equipment-health-platform/blob/main/docs/project-charter.md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C-MAPSS simule la dégradation de turboréacteurs. Les fichiers d'entraînement suivent les moteurs jusqu'à la défaillance ; les trajectoires de test sont tronquées. L'EDA montre des durées de vie dispersées, plusieurs capteurs peu informatifs et des tendances utiles. Les indicateurs affichés par le produit sont la RUL, un niveau de risque dérivé de seuils, la version du modèle et la latence. L'évaluation finale couvre FD001 à FD004.</a:t>
            </a:r>
          </a:p>
          <a:p>
            <a:endParaRPr/>
          </a:p>
          <a:p>
            <a:r>
              <a:t>Sources :</a:t>
            </a:r>
          </a:p>
          <a:p>
            <a:r>
              <a:t>https://github.com/Maaskk/industrial-equipment-health-platform/blob/main/reports/model_metrics/final_evaluation.json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vue résume tout le projet. dlt charge les fichiers, DuckDB persiste les tables, dbt transforme et teste, puis les features alimentent le modèle. MLflow conserve les expériences et le champion. FastAPI sert ce champion. Docker Compose décrit les services et Komodo gère la pile sur le serveur partagé. Dagster impose l'ordre d'exécution et le planning.</a:t>
            </a:r>
          </a:p>
          <a:p>
            <a:endParaRPr/>
          </a:p>
          <a:p>
            <a:r>
              <a:t>Sources :</a:t>
            </a:r>
          </a:p>
          <a:p>
            <a:r>
              <a:t>https://github.com/Maaskk/industrial-equipment-health-platform/blob/main/docs/architecture.md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Dagster modélise le pipeline sous forme d'assets dépendants. Il ne lance pas l'entraînement si les transformations ou les tests échouent. Un job quotidien est planifié à 06:00, heure de Casablanca. Ce job exécute aussi le rapport de drift après l'entraînement. Le drift est donc observé, mais il ne déclenche pas de réentraînement : le réentraînement vient du planning quotidien.</a:t>
            </a:r>
          </a:p>
          <a:p>
            <a:endParaRPr/>
          </a:p>
          <a:p>
            <a:r>
              <a:t>Sources :</a:t>
            </a:r>
          </a:p>
          <a:p>
            <a:r>
              <a:t>https://github.com/Maaskk/industrial-equipment-health-platform/blob/main/orchestration/dagster_assets.py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qualité n'est pas une simple vérification finale. Les contrats définissent les colonnes et les types. Les tests contrôlent les valeurs nulles, les domaines, l'unicité moteur-cycle et la cohérence des volumes. Une erreur bloque l'asset suivant. Le lignage relie les fichiers d'origine, les tables dlt, les marts dbt, le run MLflow et finalement la prédiction.</a:t>
            </a:r>
          </a:p>
          <a:p>
            <a:endParaRPr/>
          </a:p>
          <a:p>
            <a:r>
              <a:t>Sources :</a:t>
            </a:r>
          </a:p>
          <a:p>
            <a:r>
              <a:t>https://github.com/Maaskk/industrial-equipment-health-platform/tree/main/contracts</a:t>
            </a:r>
          </a:p>
          <a:p>
            <a:r>
              <a:t>https://github.com/Maaskk/industrial-equipment-health-platform/blob/main/docs/data-quality.md</a:t>
            </a:r>
          </a:p>
          <a:p>
            <a:r>
              <a:t>https://github.com/Maaskk/industrial-equipment-health-platform/blob/main/docs/data-lineage.md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CI rejoue les contrôles de données, l'entraînement et le registre, les tests Python, les portes statiques, le build Docker et un smoke test. Le run 35261575924 est passé avec succès sur la révision finale. Un échec dans une étape empêche la livraison.</a:t>
            </a:r>
          </a:p>
          <a:p>
            <a:endParaRPr/>
          </a:p>
          <a:p>
            <a:r>
              <a:t>Sources :</a:t>
            </a:r>
          </a:p>
          <a:p>
            <a:r>
              <a:t>https://github.com/Maaskk/industrial-equipment-health-platform/blob/main/.github/workflows/ci.yml</a:t>
            </a:r>
          </a:p>
          <a:p>
            <a:r>
              <a:t>https://github.com/Maaskk/industrial-equipment-health-platform/actions/runs/35261575924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capteur reçoit des statistiques sur une fenêtre de cinq cycles : moyenne, écart type et pente. Avec le cycle, le sous-ensemble, les réglages et les mesures brutes, nous obtenons 89 variables internes. Nous comparons une baseline moyenne, deux modèles Ridge, une forêt aléatoire et le gradient boosting dans les mêmes conditions. La séparation par moteur évite qu'un même moteur se retrouve dans l'entraînement et la validation.</a:t>
            </a:r>
          </a:p>
          <a:p>
            <a:endParaRPr/>
          </a:p>
          <a:p>
            <a:r>
              <a:t>Sources :</a:t>
            </a:r>
          </a:p>
          <a:p>
            <a:r>
              <a:t>https://github.com/Maaskk/industrial-equipment-health-platform/blob/main/scripts/train_model.py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MAE mesure l'erreur moyenne en cycles. La RMSE donne plus de poids aux grandes erreurs. Le score NASA est asymétrique : il pénalise particulièrement la surestimation de la durée de vie, plus dangereuse pour la maintenance. Le HistGradientBoostingRegressor obtient 12,56 cycles de MAE, 16,93 de RMSE et un score NASA de 4 466. Le gain de MAE face à la forêt aléatoire est faible, mais le score NASA est meilleur.</a:t>
            </a:r>
          </a:p>
          <a:p>
            <a:endParaRPr/>
          </a:p>
          <a:p>
            <a:r>
              <a:t>Sources :</a:t>
            </a:r>
          </a:p>
          <a:p>
            <a:r>
              <a:t>https://github.com/Maaskk/industrial-equipment-health-platform/blob/main/reports/model_metrics/final_evaluation.json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entraînement crée un run MLflow avec les paramètres, les métriques et les artefacts. Le modèle candidat est enregistré dans le registre. L'alias champion désigne la version servie par FastAPI ; la version observée en production est la version 2. Nous évitons de figer un run ID dans les slides : pendant la démonstration, nous l'ouvrons directement dans MLflow.</a:t>
            </a:r>
          </a:p>
          <a:p>
            <a:endParaRPr/>
          </a:p>
          <a:p>
            <a:r>
              <a:t>Sources :</a:t>
            </a:r>
          </a:p>
          <a:p>
            <a:r>
              <a:t>https://github.com/Maaskk/industrial-equipment-health-platform/blob/main/docs/mlflow-model-registry.md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réentraînement automatique existe : Dagster lance le pipeline tous les jours à 06:00. Le premier candidat devient champion. Ensuite, le nouveau candidat n'est promu que si sa MAE et sa RMSE ne sont pas moins bonnes que celles du champion. Si les métriques du champion sont absentes, la promotion est bloquée. Le drift reste un signal de monitoring ; il ne déclenche pas le réentraînement.</a:t>
            </a:r>
          </a:p>
          <a:p>
            <a:endParaRPr/>
          </a:p>
          <a:p>
            <a:r>
              <a:t>Sources :</a:t>
            </a:r>
          </a:p>
          <a:p>
            <a:r>
              <a:t>https://github.com/Maaskk/industrial-equipment-health-platform/blob/main/src/industrial_health/mlops/promotion.py</a:t>
            </a:r>
          </a:p>
          <a:p>
            <a:r>
              <a:t>https://github.com/Maaskk/industrial-equipment-health-platform/blob/main/orchestration/dagster_assets.py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 Actions valide la qualité, l'entraînement, l'image Docker et le smoke test. La révision 3ef8c10 est la révision de référence du dépôt et son run CI 35261575924 est passé. Docker Compose définit les services FastAPI, MLflow et Dagster. Komodo gère cette stack sur le serveur partagé. La production de démonstration utilise FD001 pour rester légère, tandis que l'évaluation hors ligne utilise FD001 à FD004.</a:t>
            </a:r>
          </a:p>
          <a:p>
            <a:endParaRPr/>
          </a:p>
          <a:p>
            <a:r>
              <a:t>Sources :</a:t>
            </a:r>
          </a:p>
          <a:p>
            <a:r>
              <a:t>https://github.com/Maaskk/industrial-equipment-health-platform/blob/main/deploy/compose.production.yml</a:t>
            </a:r>
          </a:p>
          <a:p>
            <a:r>
              <a:t>https://github.com/Maaskk/industrial-equipment-health-platform/blob/main/komodo/resources.toml</a:t>
            </a:r>
          </a:p>
          <a:p>
            <a:r>
              <a:t>https://github.com/Maaskk/industrial-equipment-health-platform/actions/runs/35261575924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FastAPI valide strictement le contrat avec Pydantic. La requête contient l'identifiant moteur, le cycle, les réglages et les 21 capteurs ; le serveur reconstruit ensuite les features glissantes. Le modèle utilise 89 variables internes alors que le payload de démonstration en fournit 88, le cycle complétant le vecteur. La réponse contient la RUL, le niveau de risque, la version du modèle et la latence.</a:t>
            </a:r>
          </a:p>
          <a:p>
            <a:endParaRPr/>
          </a:p>
          <a:p>
            <a:r>
              <a:t>Sources :</a:t>
            </a:r>
          </a:p>
          <a:p>
            <a:r>
              <a:t>https://github.com/Maaskk/industrial-equipment-health-platform/blob/main/docs/api.md</a:t>
            </a:r>
          </a:p>
          <a:p>
            <a:r>
              <a:t>https://github.com/Maaskk/industrial-equipment-health-platform/blob/main/src/industrial_health/api/contracts.py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Suivre un trajet court et expliquer ce que reçoit l'utilisateur. Ne pas décrire la vue 3D comme une simulation physique.</a:t>
            </a:r>
          </a:p>
          <a:p>
            <a:endParaRPr/>
          </a:p>
          <a:p>
            <a:r>
              <a:t>Sources :</a:t>
            </a:r>
          </a:p>
          <a:p>
            <a:r>
              <a:t>https://github.com/Maaskk/industrial-equipment-health-platform/blob/main/docs/screenshots/engine-observatory.png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contribution porte sur la validation finale. J'ai contrôlé les codes HTTP de santé et de prédiction, la version du champion et la latence. La requête vérifiée renvoie 101,87 cycles avec un risque faible en 224 millisecondes. Avant la soutenance, nous refaisons les captures Komodo, MLflow et Dagster afin que les preuves correspondent exactement à l'état présenté.</a:t>
            </a:r>
          </a:p>
          <a:p>
            <a:endParaRPr/>
          </a:p>
          <a:p>
            <a:r>
              <a:t>Sources :</a:t>
            </a:r>
          </a:p>
          <a:p>
            <a:r>
              <a:t>https://github.com/Maaskk/industrial-equipment-health-platform/blob/main/docs/validation/aya-final-production-validation.md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Dans Komodo, nous montrons la Stack réelle et ses conteneurs, puis les logs et l'état de santé. La révision de référence est 3ef8c10. La checklist impose de contrôler l'image active juste avant la démo. Nous ne créons pas de fausses ressources pour remplir les pages : un Repo ou un Build Komodo n'est ajouté que s'il est réellement utilisé par l'architecture.</a:t>
            </a:r>
          </a:p>
          <a:p>
            <a:endParaRPr/>
          </a:p>
          <a:p>
            <a:r>
              <a:t>Sources :</a:t>
            </a:r>
          </a:p>
          <a:p>
            <a:r>
              <a:t>https://github.com/Maaskk/industrial-equipment-health-platform/blob/main/docs/soutenance/DEMO_CHECKLIST_FINAL.md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système est complet pour le cadre du module, mais il a des limites. C-MAPSS reste une simulation. Le drift actuel compare surtout la distribution des prédictions et ne couvre pas tout le drift de données ou de concept. Les niveaux de risque proviennent de seuils métier simples. Enfin, FD001 est choisi pour la démo de production, alors que l'évaluation couvre les quatre sous-ensembles. Les prochaines étapes sont des données réelles, un drift par variable et une validation métier des alertes.</a:t>
            </a:r>
          </a:p>
          <a:p>
            <a:endParaRPr/>
          </a:p>
          <a:p>
            <a:r>
              <a:t>Sources :</a:t>
            </a:r>
          </a:p>
          <a:p>
            <a:r>
              <a:t>https://github.com/Maaskk/industrial-equipment-health-platform/blob/main/docs/monitoring.md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la démonstration, une seule personne pilote l'écran. Nous ouvrons la flotte, une prédiction, le champion MLflow, le planning Dagster et enfin la Stack Komodo. Chaque membre commente la preuve liée à sa contribution. Si le réseau tombe, les captures et les réponses JSON sont disponibles. Mohamed Akrame Kraichy est cité uniquement pour son appui antérieur sur Agile et Jira ; il ne fait pas partie des sept présentateurs actifs.</a:t>
            </a:r>
          </a:p>
          <a:p>
            <a:endParaRPr/>
          </a:p>
          <a:p>
            <a:r>
              <a:t>Sources :</a:t>
            </a:r>
          </a:p>
          <a:p>
            <a:r>
              <a:t>https://github.com/Maaskk/industrial-equipment-health-platform/blob/main/docs/soutenance/DEMO_CHECKLIST_FINAL.md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FEE0A7F-CFA6-465D-9A5D-45259414C496}"/>
              </a:ext>
            </a:extLst>
          </p:cNvPr>
          <p:cNvSpPr>
            <a:spLocks noGrp="1"/>
          </p:cNvSpPr>
          <p:nvPr/>
        </p:nvSpPr>
        <p:spPr>
          <a:xfrm>
            <a:off x="0" y="0"/>
            <a:ext cx="228600" cy="6858000"/>
          </a:xfrm>
          <a:prstGeom prst="rect">
            <a:avLst/>
          </a:prstGeom>
          <a:solidFill>
            <a:srgbClr val="C45A31"/>
          </a:solidFill>
          <a:ln w="0">
            <a:noFill/>
          </a:ln>
        </p:spPr>
      </p:sp>
      <p:sp>
        <p:nvSpPr>
          <p:cNvPr id="2" name="Rectangle 1">
            <a:extLst>
              <a:ext uri="{FF2B5EF4-FFF2-40B4-BE49-F238E27FC236}">
                <a16:creationId xmlns:a16="http://schemas.microsoft.com/office/drawing/2014/main" id="{6F1D35B8-46AB-4718-BD4B-080A1C74E327}"/>
              </a:ext>
            </a:extLst>
          </p:cNvPr>
          <p:cNvSpPr>
            <a:spLocks noGrp="1"/>
          </p:cNvSpPr>
          <p:nvPr/>
        </p:nvSpPr>
        <p:spPr>
          <a:xfrm>
            <a:off x="7953375" y="0"/>
            <a:ext cx="4238625" cy="6858000"/>
          </a:xfrm>
          <a:prstGeom prst="rect">
            <a:avLst/>
          </a:prstGeom>
          <a:solidFill>
            <a:srgbClr val="173B5D"/>
          </a:solidFill>
          <a:ln w="0">
            <a:noFill/>
          </a:ln>
        </p:spPr>
      </p:sp>
      <p:sp>
        <p:nvSpPr>
          <p:cNvPr id="3" name="Rectangle 2">
            <a:extLst>
              <a:ext uri="{FF2B5EF4-FFF2-40B4-BE49-F238E27FC236}">
                <a16:creationId xmlns:a16="http://schemas.microsoft.com/office/drawing/2014/main" id="{5F0E2328-F4E2-4C06-89D0-4816FCAA9531}"/>
              </a:ext>
            </a:extLst>
          </p:cNvPr>
          <p:cNvSpPr>
            <a:spLocks noGrp="1"/>
          </p:cNvSpPr>
          <p:nvPr/>
        </p:nvSpPr>
        <p:spPr>
          <a:xfrm>
            <a:off x="704850" y="1066800"/>
            <a:ext cx="6762750" cy="1238250"/>
          </a:xfrm>
          <a:prstGeom prst="rect">
            <a:avLst/>
          </a:prstGeom>
          <a:noFill/>
          <a:ln w="0">
            <a:noFill/>
          </a:ln>
        </p:spPr>
        <p:txBody>
          <a:bodyPr wrap="square" lIns="0" tIns="0" rIns="0" bIns="0" anchor="t">
            <a:noAutofit/>
          </a:bodyPr>
          <a:lstStyle/>
          <a:p>
            <a:pPr algn="l">
              <a:lnSpc>
                <a:spcPct val="95000"/>
              </a:lnSpc>
              <a:buNone/>
              <a:defRPr sz="3675" b="1">
                <a:solidFill>
                  <a:srgbClr val="173B5D"/>
                </a:solidFill>
                <a:latin typeface="Avenir Next"/>
                <a:ea typeface="Avenir Next"/>
                <a:cs typeface="Avenir Next"/>
              </a:defRPr>
            </a:pPr>
            <a:r>
              <a:rPr sz="3675" b="1">
                <a:solidFill>
                  <a:srgbClr val="173B5D"/>
                </a:solidFill>
                <a:latin typeface="Avenir Next"/>
                <a:ea typeface="Avenir Next"/>
                <a:cs typeface="Avenir Next"/>
              </a:rPr>
              <a:t>Industrial Equipment</a:t>
            </a:r>
          </a:p>
          <a:p>
            <a:pPr algn="l">
              <a:lnSpc>
                <a:spcPct val="95000"/>
              </a:lnSpc>
              <a:buNone/>
              <a:defRPr sz="3675" b="1">
                <a:solidFill>
                  <a:srgbClr val="173B5D"/>
                </a:solidFill>
                <a:latin typeface="Avenir Next"/>
                <a:ea typeface="Avenir Next"/>
                <a:cs typeface="Avenir Next"/>
              </a:defRPr>
            </a:pPr>
            <a:r>
              <a:rPr sz="3675" b="1">
                <a:solidFill>
                  <a:srgbClr val="173B5D"/>
                </a:solidFill>
                <a:latin typeface="Avenir Next"/>
                <a:ea typeface="Avenir Next"/>
                <a:cs typeface="Avenir Next"/>
              </a:rPr>
              <a:t>Health Platform</a:t>
            </a:r>
          </a:p>
        </p:txBody>
      </p:sp>
      <p:sp>
        <p:nvSpPr>
          <p:cNvPr id="4" name="Rectangle 3">
            <a:extLst>
              <a:ext uri="{FF2B5EF4-FFF2-40B4-BE49-F238E27FC236}">
                <a16:creationId xmlns:a16="http://schemas.microsoft.com/office/drawing/2014/main" id="{01EF1E33-F737-470B-8A89-D99E9511CB11}"/>
              </a:ext>
            </a:extLst>
          </p:cNvPr>
          <p:cNvSpPr>
            <a:spLocks noGrp="1"/>
          </p:cNvSpPr>
          <p:nvPr/>
        </p:nvSpPr>
        <p:spPr>
          <a:xfrm>
            <a:off x="723900" y="2590800"/>
            <a:ext cx="6477000" cy="419100"/>
          </a:xfrm>
          <a:prstGeom prst="rect">
            <a:avLst/>
          </a:prstGeom>
          <a:noFill/>
          <a:ln w="0">
            <a:noFill/>
          </a:ln>
        </p:spPr>
        <p:txBody>
          <a:bodyPr wrap="square" lIns="0" tIns="0" rIns="0" bIns="0" anchor="t">
            <a:noAutofit/>
          </a:bodyPr>
          <a:lstStyle/>
          <a:p>
            <a:pPr algn="l">
              <a:lnSpc>
                <a:spcPct val="103000"/>
              </a:lnSpc>
              <a:buNone/>
              <a:defRPr sz="1875" b="0">
                <a:solidFill>
                  <a:srgbClr val="C45A31"/>
                </a:solidFill>
                <a:latin typeface="Avenir Next"/>
                <a:ea typeface="Avenir Next"/>
                <a:cs typeface="Avenir Next"/>
              </a:defRPr>
            </a:pPr>
            <a:r>
              <a:rPr sz="1875" b="0">
                <a:solidFill>
                  <a:srgbClr val="C45A31"/>
                </a:solidFill>
                <a:latin typeface="Avenir Next"/>
                <a:ea typeface="Avenir Next"/>
                <a:cs typeface="Avenir Next"/>
              </a:rPr>
              <a:t>Maintenance prédictive avec DataOps et MLOps</a:t>
            </a:r>
          </a:p>
        </p:txBody>
      </p:sp>
      <p:sp>
        <p:nvSpPr>
          <p:cNvPr id="5" name="Rectangle 4">
            <a:extLst>
              <a:ext uri="{FF2B5EF4-FFF2-40B4-BE49-F238E27FC236}">
                <a16:creationId xmlns:a16="http://schemas.microsoft.com/office/drawing/2014/main" id="{2AC3341D-F219-45E7-BAE0-51C1C035A9E5}"/>
              </a:ext>
            </a:extLst>
          </p:cNvPr>
          <p:cNvSpPr>
            <a:spLocks noGrp="1"/>
          </p:cNvSpPr>
          <p:nvPr/>
        </p:nvSpPr>
        <p:spPr>
          <a:xfrm>
            <a:off x="723900" y="3219450"/>
            <a:ext cx="6572250" cy="304800"/>
          </a:xfrm>
          <a:prstGeom prst="rect">
            <a:avLst/>
          </a:prstGeom>
          <a:noFill/>
          <a:ln w="0">
            <a:noFill/>
          </a:ln>
        </p:spPr>
        <p:txBody>
          <a:bodyPr wrap="square" lIns="0" tIns="0" rIns="0" bIns="0" anchor="t">
            <a:noAutofit/>
          </a:bodyPr>
          <a:lstStyle/>
          <a:p>
            <a:pPr algn="l">
              <a:lnSpc>
                <a:spcPct val="103000"/>
              </a:lnSpc>
              <a:buNone/>
              <a:defRPr sz="1200" b="0">
                <a:solidFill>
                  <a:srgbClr val="66727C"/>
                </a:solidFill>
                <a:latin typeface="Avenir Next"/>
                <a:ea typeface="Avenir Next"/>
                <a:cs typeface="Avenir Next"/>
              </a:defRPr>
            </a:pPr>
            <a:r>
              <a:rPr sz="1200" b="0">
                <a:solidFill>
                  <a:srgbClr val="66727C"/>
                </a:solidFill>
                <a:latin typeface="Avenir Next"/>
                <a:ea typeface="Avenir Next"/>
                <a:cs typeface="Avenir Next"/>
              </a:rPr>
              <a:t>NASA C-MAPSS  •  RUL  •  FastAPI  •  MLflow  •  Dagster</a:t>
            </a:r>
          </a:p>
        </p:txBody>
      </p:sp>
      <p:sp>
        <p:nvSpPr>
          <p:cNvPr id="6" name="Rectangle 5">
            <a:extLst>
              <a:ext uri="{FF2B5EF4-FFF2-40B4-BE49-F238E27FC236}">
                <a16:creationId xmlns:a16="http://schemas.microsoft.com/office/drawing/2014/main" id="{4000D46B-4757-4369-9645-742C34E16E37}"/>
              </a:ext>
            </a:extLst>
          </p:cNvPr>
          <p:cNvSpPr>
            <a:spLocks noGrp="1"/>
          </p:cNvSpPr>
          <p:nvPr/>
        </p:nvSpPr>
        <p:spPr>
          <a:xfrm>
            <a:off x="8429625" y="1066800"/>
            <a:ext cx="2381250" cy="247650"/>
          </a:xfrm>
          <a:prstGeom prst="rect">
            <a:avLst/>
          </a:prstGeom>
          <a:noFill/>
          <a:ln w="0">
            <a:noFill/>
          </a:ln>
        </p:spPr>
        <p:txBody>
          <a:bodyPr wrap="square" lIns="0" tIns="0" rIns="0" bIns="0" anchor="t">
            <a:noAutofit/>
          </a:bodyPr>
          <a:lstStyle/>
          <a:p>
            <a:pPr algn="l">
              <a:lnSpc>
                <a:spcPct val="103000"/>
              </a:lnSpc>
              <a:buNone/>
              <a:defRPr sz="1050" b="1">
                <a:solidFill>
                  <a:srgbClr val="AFC5D4"/>
                </a:solidFill>
                <a:latin typeface="Avenir Next"/>
                <a:ea typeface="Avenir Next"/>
                <a:cs typeface="Avenir Next"/>
              </a:defRPr>
            </a:pPr>
            <a:r>
              <a:rPr sz="1050" b="1">
                <a:solidFill>
                  <a:srgbClr val="AFC5D4"/>
                </a:solidFill>
                <a:latin typeface="Avenir Next"/>
                <a:ea typeface="Avenir Next"/>
                <a:cs typeface="Avenir Next"/>
              </a:rPr>
              <a:t>ÉQUIPE</a:t>
            </a:r>
          </a:p>
        </p:txBody>
      </p:sp>
      <p:sp>
        <p:nvSpPr>
          <p:cNvPr id="7" name="Rectangle 6">
            <a:extLst>
              <a:ext uri="{FF2B5EF4-FFF2-40B4-BE49-F238E27FC236}">
                <a16:creationId xmlns:a16="http://schemas.microsoft.com/office/drawing/2014/main" id="{B657D918-9DB9-416D-890B-05B68CD21ED2}"/>
              </a:ext>
            </a:extLst>
          </p:cNvPr>
          <p:cNvSpPr>
            <a:spLocks noGrp="1"/>
          </p:cNvSpPr>
          <p:nvPr/>
        </p:nvSpPr>
        <p:spPr>
          <a:xfrm>
            <a:off x="8429625" y="1504950"/>
            <a:ext cx="2952750" cy="2952750"/>
          </a:xfrm>
          <a:prstGeom prst="rect">
            <a:avLst/>
          </a:prstGeom>
          <a:noFill/>
          <a:ln w="0">
            <a:noFill/>
          </a:ln>
        </p:spPr>
        <p:txBody>
          <a:bodyPr wrap="square" lIns="0" tIns="0" rIns="0" bIns="0" anchor="t">
            <a:noAutofit/>
          </a:bodyPr>
          <a:lstStyle/>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Ilyass</a:t>
            </a:r>
          </a:p>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Mohamed</a:t>
            </a:r>
          </a:p>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Hamza</a:t>
            </a:r>
          </a:p>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Mouhcine</a:t>
            </a:r>
          </a:p>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Ossama</a:t>
            </a:r>
          </a:p>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Hajar</a:t>
            </a:r>
          </a:p>
          <a:p>
            <a:pPr algn="l">
              <a:lnSpc>
                <a:spcPct val="116000"/>
              </a:lnSpc>
              <a:buNone/>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Aya Moujoud</a:t>
            </a:r>
          </a:p>
        </p:txBody>
      </p:sp>
      <p:sp>
        <p:nvSpPr>
          <p:cNvPr id="8" name="Rectangle 7">
            <a:extLst>
              <a:ext uri="{FF2B5EF4-FFF2-40B4-BE49-F238E27FC236}">
                <a16:creationId xmlns:a16="http://schemas.microsoft.com/office/drawing/2014/main" id="{F998AD46-EAEF-436E-B043-F9C1FCCCDBF3}"/>
              </a:ext>
            </a:extLst>
          </p:cNvPr>
          <p:cNvSpPr>
            <a:spLocks noGrp="1"/>
          </p:cNvSpPr>
          <p:nvPr/>
        </p:nvSpPr>
        <p:spPr>
          <a:xfrm>
            <a:off x="723900" y="5381625"/>
            <a:ext cx="4762500" cy="266700"/>
          </a:xfrm>
          <a:prstGeom prst="rect">
            <a:avLst/>
          </a:prstGeom>
          <a:noFill/>
          <a:ln w="0">
            <a:noFill/>
          </a:ln>
        </p:spPr>
        <p:txBody>
          <a:bodyPr wrap="square" lIns="0" tIns="0" rIns="0" bIns="0" anchor="t">
            <a:noAutofit/>
          </a:bodyPr>
          <a:lstStyle/>
          <a:p>
            <a:pPr algn="l">
              <a:lnSpc>
                <a:spcPct val="103000"/>
              </a:lnSpc>
              <a:buNone/>
              <a:defRPr sz="1350" b="1">
                <a:solidFill>
                  <a:srgbClr val="173B5D"/>
                </a:solidFill>
                <a:latin typeface="Avenir Next"/>
                <a:ea typeface="Avenir Next"/>
                <a:cs typeface="Avenir Next"/>
              </a:defRPr>
            </a:pPr>
            <a:r>
              <a:rPr sz="1350" b="1">
                <a:solidFill>
                  <a:srgbClr val="173B5D"/>
                </a:solidFill>
                <a:latin typeface="Avenir Next"/>
                <a:ea typeface="Avenir Next"/>
                <a:cs typeface="Avenir Next"/>
              </a:rPr>
              <a:t>MLOps &amp; DataOps</a:t>
            </a:r>
          </a:p>
        </p:txBody>
      </p:sp>
      <p:sp>
        <p:nvSpPr>
          <p:cNvPr id="9" name="Rectangle 8">
            <a:extLst>
              <a:ext uri="{FF2B5EF4-FFF2-40B4-BE49-F238E27FC236}">
                <a16:creationId xmlns:a16="http://schemas.microsoft.com/office/drawing/2014/main" id="{41740A1A-6587-4099-9F73-B2FB2F7E6055}"/>
              </a:ext>
            </a:extLst>
          </p:cNvPr>
          <p:cNvSpPr>
            <a:spLocks noGrp="1"/>
          </p:cNvSpPr>
          <p:nvPr/>
        </p:nvSpPr>
        <p:spPr>
          <a:xfrm>
            <a:off x="723900" y="5781675"/>
            <a:ext cx="4762500" cy="238125"/>
          </a:xfrm>
          <a:prstGeom prst="rect">
            <a:avLst/>
          </a:prstGeom>
          <a:noFill/>
          <a:ln w="0">
            <a:noFill/>
          </a:ln>
        </p:spPr>
        <p:txBody>
          <a:bodyPr wrap="square" lIns="0" tIns="0" rIns="0" bIns="0" anchor="t">
            <a:noAutofit/>
          </a:bodyPr>
          <a:lstStyle/>
          <a:p>
            <a:pPr algn="l">
              <a:lnSpc>
                <a:spcPct val="103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17 septembre 2026</a:t>
            </a:r>
          </a:p>
        </p:txBody>
      </p:sp>
      <p:sp>
        <p:nvSpPr>
          <p:cNvPr id="10" name="Rectangle 9">
            <a:extLst>
              <a:ext uri="{FF2B5EF4-FFF2-40B4-BE49-F238E27FC236}">
                <a16:creationId xmlns:a16="http://schemas.microsoft.com/office/drawing/2014/main" id="{947A27C3-148B-4B28-B796-0242471FD11C}"/>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Ilyass</a:t>
            </a:r>
          </a:p>
        </p:txBody>
      </p:sp>
      <p:sp>
        <p:nvSpPr>
          <p:cNvPr id="11" name="Rectangle 10">
            <a:extLst>
              <a:ext uri="{FF2B5EF4-FFF2-40B4-BE49-F238E27FC236}">
                <a16:creationId xmlns:a16="http://schemas.microsoft.com/office/drawing/2014/main" id="{21FD9A54-4F32-4E7B-A090-3F6C5EED6C9A}"/>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01 / 18</a:t>
            </a:r>
          </a:p>
        </p:txBody>
      </p:sp>
    </p:spTree>
    <p:extLst>
      <p:ext uri="{BB962C8B-B14F-4D97-AF65-F5344CB8AC3E}">
        <p14:creationId xmlns:p14="http://schemas.microsoft.com/office/powerpoint/2010/main" val="1274525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250BE39-474B-4AFD-AE19-F6F536399B89}"/>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04BE091C-9EBA-4507-957B-16871D42BF4F}"/>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BBAD1C73-14E0-45AC-B86D-31CAAD3BEF2A}"/>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De la panne subie à la panne anticipée</a:t>
            </a:r>
          </a:p>
        </p:txBody>
      </p:sp>
      <p:sp>
        <p:nvSpPr>
          <p:cNvPr id="4" name="Rectangle 3">
            <a:extLst>
              <a:ext uri="{FF2B5EF4-FFF2-40B4-BE49-F238E27FC236}">
                <a16:creationId xmlns:a16="http://schemas.microsoft.com/office/drawing/2014/main" id="{4805381D-4E85-4F83-AC8F-926CD42EAF37}"/>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ILYASS</a:t>
            </a:r>
          </a:p>
        </p:txBody>
      </p:sp>
      <p:sp>
        <p:nvSpPr>
          <p:cNvPr id="5" name="Rectangle 4">
            <a:extLst>
              <a:ext uri="{FF2B5EF4-FFF2-40B4-BE49-F238E27FC236}">
                <a16:creationId xmlns:a16="http://schemas.microsoft.com/office/drawing/2014/main" id="{0E82952F-8F56-41FD-97EE-442C94018CB2}"/>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Trois stratégies de maintenance, trois niveaux de maîtrise du risque</a:t>
            </a:r>
          </a:p>
        </p:txBody>
      </p:sp>
      <p:sp>
        <p:nvSpPr>
          <p:cNvPr id="6" name="Rectangle 5">
            <a:extLst>
              <a:ext uri="{FF2B5EF4-FFF2-40B4-BE49-F238E27FC236}">
                <a16:creationId xmlns:a16="http://schemas.microsoft.com/office/drawing/2014/main" id="{89EB4B27-6B8B-450E-8416-327541F5F2FB}"/>
              </a:ext>
            </a:extLst>
          </p:cNvPr>
          <p:cNvSpPr>
            <a:spLocks noGrp="1"/>
          </p:cNvSpPr>
          <p:nvPr/>
        </p:nvSpPr>
        <p:spPr>
          <a:xfrm>
            <a:off x="666750" y="1762125"/>
            <a:ext cx="3143250" cy="1952625"/>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9477B6A8-CDFC-4C83-A56E-BBE47E7D5537}"/>
              </a:ext>
            </a:extLst>
          </p:cNvPr>
          <p:cNvSpPr>
            <a:spLocks noGrp="1"/>
          </p:cNvSpPr>
          <p:nvPr/>
        </p:nvSpPr>
        <p:spPr>
          <a:xfrm>
            <a:off x="666750" y="1762125"/>
            <a:ext cx="3143250" cy="47625"/>
          </a:xfrm>
          <a:prstGeom prst="rect">
            <a:avLst/>
          </a:prstGeom>
          <a:solidFill>
            <a:srgbClr val="A74A42"/>
          </a:solidFill>
          <a:ln w="0">
            <a:noFill/>
          </a:ln>
        </p:spPr>
      </p:sp>
      <p:sp>
        <p:nvSpPr>
          <p:cNvPr id="8" name="Rectangle 7">
            <a:extLst>
              <a:ext uri="{FF2B5EF4-FFF2-40B4-BE49-F238E27FC236}">
                <a16:creationId xmlns:a16="http://schemas.microsoft.com/office/drawing/2014/main" id="{D4FB2C57-9008-4DD6-A940-A2494EA9E36F}"/>
              </a:ext>
            </a:extLst>
          </p:cNvPr>
          <p:cNvSpPr>
            <a:spLocks noGrp="1"/>
          </p:cNvSpPr>
          <p:nvPr/>
        </p:nvSpPr>
        <p:spPr>
          <a:xfrm>
            <a:off x="838200" y="1924050"/>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Corrective</a:t>
            </a:r>
          </a:p>
        </p:txBody>
      </p:sp>
      <p:sp>
        <p:nvSpPr>
          <p:cNvPr id="9" name="Rectangle 8">
            <a:extLst>
              <a:ext uri="{FF2B5EF4-FFF2-40B4-BE49-F238E27FC236}">
                <a16:creationId xmlns:a16="http://schemas.microsoft.com/office/drawing/2014/main" id="{AE014793-97C7-4BD1-A03D-E490CD8C5CC5}"/>
              </a:ext>
            </a:extLst>
          </p:cNvPr>
          <p:cNvSpPr>
            <a:spLocks noGrp="1"/>
          </p:cNvSpPr>
          <p:nvPr/>
        </p:nvSpPr>
        <p:spPr>
          <a:xfrm>
            <a:off x="838200" y="2295525"/>
            <a:ext cx="2800350" cy="13049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Intervenir après la panne</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Coût élevé, arrêt imprévu</a:t>
            </a:r>
          </a:p>
        </p:txBody>
      </p:sp>
      <p:sp>
        <p:nvSpPr>
          <p:cNvPr id="10" name="Rectangle 9">
            <a:extLst>
              <a:ext uri="{FF2B5EF4-FFF2-40B4-BE49-F238E27FC236}">
                <a16:creationId xmlns:a16="http://schemas.microsoft.com/office/drawing/2014/main" id="{DD7F98C2-7BDF-4D42-B222-1F6670B2E960}"/>
              </a:ext>
            </a:extLst>
          </p:cNvPr>
          <p:cNvSpPr>
            <a:spLocks noGrp="1"/>
          </p:cNvSpPr>
          <p:nvPr/>
        </p:nvSpPr>
        <p:spPr>
          <a:xfrm>
            <a:off x="4524375" y="1762125"/>
            <a:ext cx="3143250" cy="1952625"/>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C05DEE68-593F-4E7C-A169-8F4F07868287}"/>
              </a:ext>
            </a:extLst>
          </p:cNvPr>
          <p:cNvSpPr>
            <a:spLocks noGrp="1"/>
          </p:cNvSpPr>
          <p:nvPr/>
        </p:nvSpPr>
        <p:spPr>
          <a:xfrm>
            <a:off x="4524375" y="1762125"/>
            <a:ext cx="3143250"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188AB8DD-764C-476E-86F9-1ABF000A4C99}"/>
              </a:ext>
            </a:extLst>
          </p:cNvPr>
          <p:cNvSpPr>
            <a:spLocks noGrp="1"/>
          </p:cNvSpPr>
          <p:nvPr/>
        </p:nvSpPr>
        <p:spPr>
          <a:xfrm>
            <a:off x="4695825" y="1924050"/>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Préventive</a:t>
            </a:r>
          </a:p>
        </p:txBody>
      </p:sp>
      <p:sp>
        <p:nvSpPr>
          <p:cNvPr id="13" name="Rectangle 12">
            <a:extLst>
              <a:ext uri="{FF2B5EF4-FFF2-40B4-BE49-F238E27FC236}">
                <a16:creationId xmlns:a16="http://schemas.microsoft.com/office/drawing/2014/main" id="{832CA241-76B3-4769-AE49-32F369E6728E}"/>
              </a:ext>
            </a:extLst>
          </p:cNvPr>
          <p:cNvSpPr>
            <a:spLocks noGrp="1"/>
          </p:cNvSpPr>
          <p:nvPr/>
        </p:nvSpPr>
        <p:spPr>
          <a:xfrm>
            <a:off x="4695825" y="2295525"/>
            <a:ext cx="2800350" cy="13049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Intervenir selon un calendrier</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Simple, mais parfois prématuré</a:t>
            </a:r>
          </a:p>
        </p:txBody>
      </p:sp>
      <p:sp>
        <p:nvSpPr>
          <p:cNvPr id="14" name="Rectangle 13">
            <a:extLst>
              <a:ext uri="{FF2B5EF4-FFF2-40B4-BE49-F238E27FC236}">
                <a16:creationId xmlns:a16="http://schemas.microsoft.com/office/drawing/2014/main" id="{9097A831-B181-425B-9642-DA1BADCF116A}"/>
              </a:ext>
            </a:extLst>
          </p:cNvPr>
          <p:cNvSpPr>
            <a:spLocks noGrp="1"/>
          </p:cNvSpPr>
          <p:nvPr/>
        </p:nvSpPr>
        <p:spPr>
          <a:xfrm>
            <a:off x="8382000" y="1762125"/>
            <a:ext cx="3143250" cy="1952625"/>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77A68822-962D-496F-9CB3-F9ADCEA2566F}"/>
              </a:ext>
            </a:extLst>
          </p:cNvPr>
          <p:cNvSpPr>
            <a:spLocks noGrp="1"/>
          </p:cNvSpPr>
          <p:nvPr/>
        </p:nvSpPr>
        <p:spPr>
          <a:xfrm>
            <a:off x="8382000" y="1762125"/>
            <a:ext cx="3143250" cy="47625"/>
          </a:xfrm>
          <a:prstGeom prst="rect">
            <a:avLst/>
          </a:prstGeom>
          <a:solidFill>
            <a:srgbClr val="C45A31"/>
          </a:solidFill>
          <a:ln w="0">
            <a:noFill/>
          </a:ln>
        </p:spPr>
      </p:sp>
      <p:sp>
        <p:nvSpPr>
          <p:cNvPr id="16" name="Rectangle 15">
            <a:extLst>
              <a:ext uri="{FF2B5EF4-FFF2-40B4-BE49-F238E27FC236}">
                <a16:creationId xmlns:a16="http://schemas.microsoft.com/office/drawing/2014/main" id="{62E30E1C-B5D4-42D1-BE3C-B450D39DDCCA}"/>
              </a:ext>
            </a:extLst>
          </p:cNvPr>
          <p:cNvSpPr>
            <a:spLocks noGrp="1"/>
          </p:cNvSpPr>
          <p:nvPr/>
        </p:nvSpPr>
        <p:spPr>
          <a:xfrm>
            <a:off x="8553450" y="1924050"/>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Prédictive</a:t>
            </a:r>
          </a:p>
        </p:txBody>
      </p:sp>
      <p:sp>
        <p:nvSpPr>
          <p:cNvPr id="17" name="Rectangle 16">
            <a:extLst>
              <a:ext uri="{FF2B5EF4-FFF2-40B4-BE49-F238E27FC236}">
                <a16:creationId xmlns:a16="http://schemas.microsoft.com/office/drawing/2014/main" id="{163E923D-C723-4566-9961-7C3AC593E2B2}"/>
              </a:ext>
            </a:extLst>
          </p:cNvPr>
          <p:cNvSpPr>
            <a:spLocks noGrp="1"/>
          </p:cNvSpPr>
          <p:nvPr/>
        </p:nvSpPr>
        <p:spPr>
          <a:xfrm>
            <a:off x="8553450" y="2295525"/>
            <a:ext cx="2800350" cy="13049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Intervenir selon l'état estimé</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Capteurs, historique et modèle</a:t>
            </a:r>
          </a:p>
        </p:txBody>
      </p:sp>
      <p:sp>
        <p:nvSpPr>
          <p:cNvPr id="18" name="Rectangle 17">
            <a:extLst>
              <a:ext uri="{FF2B5EF4-FFF2-40B4-BE49-F238E27FC236}">
                <a16:creationId xmlns:a16="http://schemas.microsoft.com/office/drawing/2014/main" id="{4A9F9606-4C88-4977-83DB-278408030193}"/>
              </a:ext>
            </a:extLst>
          </p:cNvPr>
          <p:cNvSpPr>
            <a:spLocks noGrp="1"/>
          </p:cNvSpPr>
          <p:nvPr/>
        </p:nvSpPr>
        <p:spPr>
          <a:xfrm>
            <a:off x="876300" y="4333875"/>
            <a:ext cx="2190750" cy="285750"/>
          </a:xfrm>
          <a:prstGeom prst="rect">
            <a:avLst/>
          </a:prstGeom>
          <a:noFill/>
          <a:ln w="0">
            <a:noFill/>
          </a:ln>
        </p:spPr>
        <p:txBody>
          <a:bodyPr wrap="square" lIns="0" tIns="0" rIns="0" bIns="0" anchor="t">
            <a:noAutofit/>
          </a:bodyPr>
          <a:lstStyle/>
          <a:p>
            <a:pPr algn="l">
              <a:lnSpc>
                <a:spcPct val="103000"/>
              </a:lnSpc>
              <a:buNone/>
              <a:defRPr sz="1275" b="1">
                <a:solidFill>
                  <a:srgbClr val="C45A31"/>
                </a:solidFill>
                <a:latin typeface="Avenir Next"/>
                <a:ea typeface="Avenir Next"/>
                <a:cs typeface="Avenir Next"/>
              </a:defRPr>
            </a:pPr>
            <a:r>
              <a:rPr sz="1275" b="1">
                <a:solidFill>
                  <a:srgbClr val="C45A31"/>
                </a:solidFill>
                <a:latin typeface="Avenir Next"/>
                <a:ea typeface="Avenir Next"/>
                <a:cs typeface="Avenir Next"/>
              </a:rPr>
              <a:t>Notre question</a:t>
            </a:r>
          </a:p>
        </p:txBody>
      </p:sp>
      <p:sp>
        <p:nvSpPr>
          <p:cNvPr id="19" name="Rectangle 18">
            <a:extLst>
              <a:ext uri="{FF2B5EF4-FFF2-40B4-BE49-F238E27FC236}">
                <a16:creationId xmlns:a16="http://schemas.microsoft.com/office/drawing/2014/main" id="{457F4F53-4AB4-4C69-B98C-A8275DC1B710}"/>
              </a:ext>
            </a:extLst>
          </p:cNvPr>
          <p:cNvSpPr>
            <a:spLocks noGrp="1"/>
          </p:cNvSpPr>
          <p:nvPr/>
        </p:nvSpPr>
        <p:spPr>
          <a:xfrm>
            <a:off x="876300" y="4762500"/>
            <a:ext cx="7239000" cy="523875"/>
          </a:xfrm>
          <a:prstGeom prst="rect">
            <a:avLst/>
          </a:prstGeom>
          <a:noFill/>
          <a:ln w="0">
            <a:noFill/>
          </a:ln>
        </p:spPr>
        <p:txBody>
          <a:bodyPr wrap="square" lIns="0" tIns="0" rIns="0" bIns="0" anchor="t">
            <a:noAutofit/>
          </a:bodyPr>
          <a:lstStyle/>
          <a:p>
            <a:pPr algn="l">
              <a:lnSpc>
                <a:spcPct val="103000"/>
              </a:lnSpc>
              <a:buNone/>
              <a:defRPr sz="2250" b="1">
                <a:solidFill>
                  <a:srgbClr val="173B5D"/>
                </a:solidFill>
                <a:latin typeface="Avenir Next"/>
                <a:ea typeface="Avenir Next"/>
                <a:cs typeface="Avenir Next"/>
              </a:defRPr>
            </a:pPr>
            <a:r>
              <a:rPr sz="2250" b="1">
                <a:solidFill>
                  <a:srgbClr val="173B5D"/>
                </a:solidFill>
                <a:latin typeface="Avenir Next"/>
                <a:ea typeface="Avenir Next"/>
                <a:cs typeface="Avenir Next"/>
              </a:rPr>
              <a:t>Combien de cycles reste-t-il avant la défaillance ?</a:t>
            </a:r>
          </a:p>
        </p:txBody>
      </p:sp>
      <p:sp>
        <p:nvSpPr>
          <p:cNvPr id="20" name="Rectangle 19">
            <a:extLst>
              <a:ext uri="{FF2B5EF4-FFF2-40B4-BE49-F238E27FC236}">
                <a16:creationId xmlns:a16="http://schemas.microsoft.com/office/drawing/2014/main" id="{BC29A88F-0DCA-4280-BDDE-A164899544F1}"/>
              </a:ext>
            </a:extLst>
          </p:cNvPr>
          <p:cNvSpPr>
            <a:spLocks noGrp="1"/>
          </p:cNvSpPr>
          <p:nvPr/>
        </p:nvSpPr>
        <p:spPr>
          <a:xfrm>
            <a:off x="9096375" y="4429125"/>
            <a:ext cx="1619250" cy="552450"/>
          </a:xfrm>
          <a:prstGeom prst="rect">
            <a:avLst/>
          </a:prstGeom>
          <a:noFill/>
          <a:ln w="0">
            <a:noFill/>
          </a:ln>
        </p:spPr>
        <p:txBody>
          <a:bodyPr wrap="square" lIns="0" tIns="0" rIns="0" bIns="0" anchor="t">
            <a:noAutofit/>
          </a:bodyPr>
          <a:lstStyle/>
          <a:p>
            <a:pPr algn="ctr">
              <a:lnSpc>
                <a:spcPct val="103000"/>
              </a:lnSpc>
              <a:buNone/>
              <a:defRPr sz="3450" b="1">
                <a:solidFill>
                  <a:srgbClr val="C45A31"/>
                </a:solidFill>
                <a:latin typeface="Avenir Next"/>
                <a:ea typeface="Avenir Next"/>
                <a:cs typeface="Avenir Next"/>
              </a:defRPr>
            </a:pPr>
            <a:r>
              <a:rPr sz="3450" b="1">
                <a:solidFill>
                  <a:srgbClr val="C45A31"/>
                </a:solidFill>
                <a:latin typeface="Avenir Next"/>
                <a:ea typeface="Avenir Next"/>
                <a:cs typeface="Avenir Next"/>
              </a:rPr>
              <a:t>RUL</a:t>
            </a:r>
          </a:p>
        </p:txBody>
      </p:sp>
      <p:sp>
        <p:nvSpPr>
          <p:cNvPr id="21" name="Rectangle 20">
            <a:extLst>
              <a:ext uri="{FF2B5EF4-FFF2-40B4-BE49-F238E27FC236}">
                <a16:creationId xmlns:a16="http://schemas.microsoft.com/office/drawing/2014/main" id="{9D5DD4F7-E893-4931-8938-2134AC1C2807}"/>
              </a:ext>
            </a:extLst>
          </p:cNvPr>
          <p:cNvSpPr>
            <a:spLocks noGrp="1"/>
          </p:cNvSpPr>
          <p:nvPr/>
        </p:nvSpPr>
        <p:spPr>
          <a:xfrm>
            <a:off x="8620125" y="5048250"/>
            <a:ext cx="2571750" cy="285750"/>
          </a:xfrm>
          <a:prstGeom prst="rect">
            <a:avLst/>
          </a:prstGeom>
          <a:noFill/>
          <a:ln w="0">
            <a:noFill/>
          </a:ln>
        </p:spPr>
        <p:txBody>
          <a:bodyPr wrap="square" lIns="0" tIns="0" rIns="0" bIns="0" anchor="t">
            <a:noAutofit/>
          </a:bodyPr>
          <a:lstStyle/>
          <a:p>
            <a:pPr algn="ctr">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Remaining Useful Life</a:t>
            </a:r>
          </a:p>
        </p:txBody>
      </p:sp>
      <p:sp>
        <p:nvSpPr>
          <p:cNvPr id="22" name="Rectangle 21">
            <a:extLst>
              <a:ext uri="{FF2B5EF4-FFF2-40B4-BE49-F238E27FC236}">
                <a16:creationId xmlns:a16="http://schemas.microsoft.com/office/drawing/2014/main" id="{A92EE846-AA38-4623-978E-A38A6B7720FA}"/>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Ilyass  Contexte métier</a:t>
            </a:r>
          </a:p>
        </p:txBody>
      </p:sp>
      <p:sp>
        <p:nvSpPr>
          <p:cNvPr id="23" name="Rectangle 22">
            <a:extLst>
              <a:ext uri="{FF2B5EF4-FFF2-40B4-BE49-F238E27FC236}">
                <a16:creationId xmlns:a16="http://schemas.microsoft.com/office/drawing/2014/main" id="{5AC9A0B4-79EE-4CF6-8C47-F7AFCD81D28B}"/>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02 / 18</a:t>
            </a:r>
          </a:p>
        </p:txBody>
      </p:sp>
    </p:spTree>
    <p:extLst>
      <p:ext uri="{BB962C8B-B14F-4D97-AF65-F5344CB8AC3E}">
        <p14:creationId xmlns:p14="http://schemas.microsoft.com/office/powerpoint/2010/main" val="2069191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9DE9249-7D7F-46EF-B862-81E5C86DF62C}"/>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667BC7B2-F313-40DD-90C4-982FA8120C2B}"/>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AC185208-3A23-47F0-AD3A-945F69D86F63}"/>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NASA C-MAPSS : données, EDA et indicateurs</a:t>
            </a:r>
          </a:p>
        </p:txBody>
      </p:sp>
      <p:sp>
        <p:nvSpPr>
          <p:cNvPr id="4" name="Rectangle 3">
            <a:extLst>
              <a:ext uri="{FF2B5EF4-FFF2-40B4-BE49-F238E27FC236}">
                <a16:creationId xmlns:a16="http://schemas.microsoft.com/office/drawing/2014/main" id="{97E52A0D-7281-45BB-9613-D98257E6C6C4}"/>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ILYASS</a:t>
            </a:r>
          </a:p>
        </p:txBody>
      </p:sp>
      <p:sp>
        <p:nvSpPr>
          <p:cNvPr id="5" name="Rectangle 4">
            <a:extLst>
              <a:ext uri="{FF2B5EF4-FFF2-40B4-BE49-F238E27FC236}">
                <a16:creationId xmlns:a16="http://schemas.microsoft.com/office/drawing/2014/main" id="{FA73A157-F327-419C-B504-22ACBF75258B}"/>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Quatre sous-ensembles, des trajectoires moteur jusqu'à la défaillance</a:t>
            </a:r>
          </a:p>
        </p:txBody>
      </p:sp>
      <p:sp>
        <p:nvSpPr>
          <p:cNvPr id="6" name="Rectangle 5">
            <a:extLst>
              <a:ext uri="{FF2B5EF4-FFF2-40B4-BE49-F238E27FC236}">
                <a16:creationId xmlns:a16="http://schemas.microsoft.com/office/drawing/2014/main" id="{16F320E2-6ED0-43CE-95EA-A2CDCDC4C0A8}"/>
              </a:ext>
            </a:extLst>
          </p:cNvPr>
          <p:cNvSpPr>
            <a:spLocks noGrp="1"/>
          </p:cNvSpPr>
          <p:nvPr/>
        </p:nvSpPr>
        <p:spPr>
          <a:xfrm>
            <a:off x="571500" y="1524000"/>
            <a:ext cx="2190750" cy="552450"/>
          </a:xfrm>
          <a:prstGeom prst="rect">
            <a:avLst/>
          </a:prstGeom>
          <a:noFill/>
          <a:ln w="0">
            <a:noFill/>
          </a:ln>
        </p:spPr>
        <p:txBody>
          <a:bodyPr wrap="square" lIns="0" tIns="0" rIns="0" bIns="0" anchor="t">
            <a:noAutofit/>
          </a:bodyPr>
          <a:lstStyle/>
          <a:p>
            <a:pPr algn="l">
              <a:lnSpc>
                <a:spcPct val="103000"/>
              </a:lnSpc>
              <a:buNone/>
              <a:defRPr sz="3000" b="1">
                <a:solidFill>
                  <a:srgbClr val="C45A31"/>
                </a:solidFill>
                <a:latin typeface="Avenir Next"/>
                <a:ea typeface="Avenir Next"/>
                <a:cs typeface="Avenir Next"/>
              </a:defRPr>
            </a:pPr>
            <a:r>
              <a:rPr sz="3000" b="1">
                <a:solidFill>
                  <a:srgbClr val="C45A31"/>
                </a:solidFill>
                <a:latin typeface="Avenir Next"/>
                <a:ea typeface="Avenir Next"/>
                <a:cs typeface="Avenir Next"/>
              </a:rPr>
              <a:t>160 359</a:t>
            </a:r>
          </a:p>
        </p:txBody>
      </p:sp>
      <p:sp>
        <p:nvSpPr>
          <p:cNvPr id="7" name="Rectangle 6">
            <a:extLst>
              <a:ext uri="{FF2B5EF4-FFF2-40B4-BE49-F238E27FC236}">
                <a16:creationId xmlns:a16="http://schemas.microsoft.com/office/drawing/2014/main" id="{6A937E41-71A5-4FDF-90B9-398DB5EA61C4}"/>
              </a:ext>
            </a:extLst>
          </p:cNvPr>
          <p:cNvSpPr>
            <a:spLocks noGrp="1"/>
          </p:cNvSpPr>
          <p:nvPr/>
        </p:nvSpPr>
        <p:spPr>
          <a:xfrm>
            <a:off x="571500" y="2057400"/>
            <a:ext cx="219075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lignes d'entraînement</a:t>
            </a:r>
          </a:p>
        </p:txBody>
      </p:sp>
      <p:sp>
        <p:nvSpPr>
          <p:cNvPr id="8" name="Rectangle 7">
            <a:extLst>
              <a:ext uri="{FF2B5EF4-FFF2-40B4-BE49-F238E27FC236}">
                <a16:creationId xmlns:a16="http://schemas.microsoft.com/office/drawing/2014/main" id="{1C99668B-13B1-4351-B9BE-1AFD54E71FE2}"/>
              </a:ext>
            </a:extLst>
          </p:cNvPr>
          <p:cNvSpPr>
            <a:spLocks noGrp="1"/>
          </p:cNvSpPr>
          <p:nvPr/>
        </p:nvSpPr>
        <p:spPr>
          <a:xfrm>
            <a:off x="3000375" y="1524000"/>
            <a:ext cx="2000250" cy="552450"/>
          </a:xfrm>
          <a:prstGeom prst="rect">
            <a:avLst/>
          </a:prstGeom>
          <a:noFill/>
          <a:ln w="0">
            <a:noFill/>
          </a:ln>
        </p:spPr>
        <p:txBody>
          <a:bodyPr wrap="square" lIns="0" tIns="0" rIns="0" bIns="0" anchor="t">
            <a:noAutofit/>
          </a:bodyPr>
          <a:lstStyle/>
          <a:p>
            <a:pPr algn="l">
              <a:lnSpc>
                <a:spcPct val="103000"/>
              </a:lnSpc>
              <a:buNone/>
              <a:defRPr sz="3000" b="1">
                <a:solidFill>
                  <a:srgbClr val="173B5D"/>
                </a:solidFill>
                <a:latin typeface="Avenir Next"/>
                <a:ea typeface="Avenir Next"/>
                <a:cs typeface="Avenir Next"/>
              </a:defRPr>
            </a:pPr>
            <a:r>
              <a:rPr sz="3000" b="1">
                <a:solidFill>
                  <a:srgbClr val="173B5D"/>
                </a:solidFill>
                <a:latin typeface="Avenir Next"/>
                <a:ea typeface="Avenir Next"/>
                <a:cs typeface="Avenir Next"/>
              </a:rPr>
              <a:t>104 897</a:t>
            </a:r>
          </a:p>
        </p:txBody>
      </p:sp>
      <p:sp>
        <p:nvSpPr>
          <p:cNvPr id="9" name="Rectangle 8">
            <a:extLst>
              <a:ext uri="{FF2B5EF4-FFF2-40B4-BE49-F238E27FC236}">
                <a16:creationId xmlns:a16="http://schemas.microsoft.com/office/drawing/2014/main" id="{86843EBD-EFEA-453D-B657-B40D18D8BC23}"/>
              </a:ext>
            </a:extLst>
          </p:cNvPr>
          <p:cNvSpPr>
            <a:spLocks noGrp="1"/>
          </p:cNvSpPr>
          <p:nvPr/>
        </p:nvSpPr>
        <p:spPr>
          <a:xfrm>
            <a:off x="3000375" y="2057400"/>
            <a:ext cx="200025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lignes de test</a:t>
            </a:r>
          </a:p>
        </p:txBody>
      </p:sp>
      <p:sp>
        <p:nvSpPr>
          <p:cNvPr id="10" name="Rectangle 9">
            <a:extLst>
              <a:ext uri="{FF2B5EF4-FFF2-40B4-BE49-F238E27FC236}">
                <a16:creationId xmlns:a16="http://schemas.microsoft.com/office/drawing/2014/main" id="{83410C0A-3BE7-4299-BB29-76A51F72D5FB}"/>
              </a:ext>
            </a:extLst>
          </p:cNvPr>
          <p:cNvSpPr>
            <a:spLocks noGrp="1"/>
          </p:cNvSpPr>
          <p:nvPr/>
        </p:nvSpPr>
        <p:spPr>
          <a:xfrm>
            <a:off x="5238750" y="1524000"/>
            <a:ext cx="2095500" cy="552450"/>
          </a:xfrm>
          <a:prstGeom prst="rect">
            <a:avLst/>
          </a:prstGeom>
          <a:noFill/>
          <a:ln w="0">
            <a:noFill/>
          </a:ln>
        </p:spPr>
        <p:txBody>
          <a:bodyPr wrap="square" lIns="0" tIns="0" rIns="0" bIns="0" anchor="t">
            <a:noAutofit/>
          </a:bodyPr>
          <a:lstStyle/>
          <a:p>
            <a:pPr algn="l">
              <a:lnSpc>
                <a:spcPct val="103000"/>
              </a:lnSpc>
              <a:buNone/>
              <a:defRPr sz="3000" b="1">
                <a:solidFill>
                  <a:srgbClr val="287B83"/>
                </a:solidFill>
                <a:latin typeface="Avenir Next"/>
                <a:ea typeface="Avenir Next"/>
                <a:cs typeface="Avenir Next"/>
              </a:defRPr>
            </a:pPr>
            <a:r>
              <a:rPr sz="3000" b="1">
                <a:solidFill>
                  <a:srgbClr val="287B83"/>
                </a:solidFill>
                <a:latin typeface="Avenir Next"/>
                <a:ea typeface="Avenir Next"/>
                <a:cs typeface="Avenir Next"/>
              </a:rPr>
              <a:t>709 / 707</a:t>
            </a:r>
          </a:p>
        </p:txBody>
      </p:sp>
      <p:sp>
        <p:nvSpPr>
          <p:cNvPr id="11" name="Rectangle 10">
            <a:extLst>
              <a:ext uri="{FF2B5EF4-FFF2-40B4-BE49-F238E27FC236}">
                <a16:creationId xmlns:a16="http://schemas.microsoft.com/office/drawing/2014/main" id="{55605FCF-57BF-4914-AC0F-A918ABF8220A}"/>
              </a:ext>
            </a:extLst>
          </p:cNvPr>
          <p:cNvSpPr>
            <a:spLocks noGrp="1"/>
          </p:cNvSpPr>
          <p:nvPr/>
        </p:nvSpPr>
        <p:spPr>
          <a:xfrm>
            <a:off x="5238750" y="2057400"/>
            <a:ext cx="209550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moteurs train / test</a:t>
            </a:r>
          </a:p>
        </p:txBody>
      </p:sp>
      <p:sp>
        <p:nvSpPr>
          <p:cNvPr id="12" name="Rectangle 11">
            <a:extLst>
              <a:ext uri="{FF2B5EF4-FFF2-40B4-BE49-F238E27FC236}">
                <a16:creationId xmlns:a16="http://schemas.microsoft.com/office/drawing/2014/main" id="{C820779B-A817-41FA-8899-57DA36A69FDF}"/>
              </a:ext>
            </a:extLst>
          </p:cNvPr>
          <p:cNvSpPr>
            <a:spLocks noGrp="1"/>
          </p:cNvSpPr>
          <p:nvPr/>
        </p:nvSpPr>
        <p:spPr>
          <a:xfrm>
            <a:off x="7620000" y="1524000"/>
            <a:ext cx="1333500" cy="552450"/>
          </a:xfrm>
          <a:prstGeom prst="rect">
            <a:avLst/>
          </a:prstGeom>
          <a:noFill/>
          <a:ln w="0">
            <a:noFill/>
          </a:ln>
        </p:spPr>
        <p:txBody>
          <a:bodyPr wrap="square" lIns="0" tIns="0" rIns="0" bIns="0" anchor="t">
            <a:noAutofit/>
          </a:bodyPr>
          <a:lstStyle/>
          <a:p>
            <a:pPr algn="l">
              <a:lnSpc>
                <a:spcPct val="103000"/>
              </a:lnSpc>
              <a:buNone/>
              <a:defRPr sz="3000" b="1">
                <a:solidFill>
                  <a:srgbClr val="173B5D"/>
                </a:solidFill>
                <a:latin typeface="Avenir Next"/>
                <a:ea typeface="Avenir Next"/>
                <a:cs typeface="Avenir Next"/>
              </a:defRPr>
            </a:pPr>
            <a:r>
              <a:rPr sz="3000" b="1">
                <a:solidFill>
                  <a:srgbClr val="173B5D"/>
                </a:solidFill>
                <a:latin typeface="Avenir Next"/>
                <a:ea typeface="Avenir Next"/>
                <a:cs typeface="Avenir Next"/>
              </a:rPr>
              <a:t>21</a:t>
            </a:r>
          </a:p>
        </p:txBody>
      </p:sp>
      <p:sp>
        <p:nvSpPr>
          <p:cNvPr id="13" name="Rectangle 12">
            <a:extLst>
              <a:ext uri="{FF2B5EF4-FFF2-40B4-BE49-F238E27FC236}">
                <a16:creationId xmlns:a16="http://schemas.microsoft.com/office/drawing/2014/main" id="{3E164E25-0F5E-4A9D-9BD2-4184C02C2651}"/>
              </a:ext>
            </a:extLst>
          </p:cNvPr>
          <p:cNvSpPr>
            <a:spLocks noGrp="1"/>
          </p:cNvSpPr>
          <p:nvPr/>
        </p:nvSpPr>
        <p:spPr>
          <a:xfrm>
            <a:off x="7620000" y="2057400"/>
            <a:ext cx="133350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capteurs</a:t>
            </a:r>
          </a:p>
        </p:txBody>
      </p:sp>
      <p:sp>
        <p:nvSpPr>
          <p:cNvPr id="14" name="Rectangle 13">
            <a:extLst>
              <a:ext uri="{FF2B5EF4-FFF2-40B4-BE49-F238E27FC236}">
                <a16:creationId xmlns:a16="http://schemas.microsoft.com/office/drawing/2014/main" id="{6B4C964A-DA40-4264-B847-FAC6975D3CBC}"/>
              </a:ext>
            </a:extLst>
          </p:cNvPr>
          <p:cNvSpPr>
            <a:spLocks noGrp="1"/>
          </p:cNvSpPr>
          <p:nvPr/>
        </p:nvSpPr>
        <p:spPr>
          <a:xfrm>
            <a:off x="9334500" y="1524000"/>
            <a:ext cx="1619250" cy="552450"/>
          </a:xfrm>
          <a:prstGeom prst="rect">
            <a:avLst/>
          </a:prstGeom>
          <a:noFill/>
          <a:ln w="0">
            <a:noFill/>
          </a:ln>
        </p:spPr>
        <p:txBody>
          <a:bodyPr wrap="square" lIns="0" tIns="0" rIns="0" bIns="0" anchor="t">
            <a:noAutofit/>
          </a:bodyPr>
          <a:lstStyle/>
          <a:p>
            <a:pPr algn="l">
              <a:lnSpc>
                <a:spcPct val="103000"/>
              </a:lnSpc>
              <a:buNone/>
              <a:defRPr sz="3000" b="1">
                <a:solidFill>
                  <a:srgbClr val="C45A31"/>
                </a:solidFill>
                <a:latin typeface="Avenir Next"/>
                <a:ea typeface="Avenir Next"/>
                <a:cs typeface="Avenir Next"/>
              </a:defRPr>
            </a:pPr>
            <a:r>
              <a:rPr sz="3000" b="1">
                <a:solidFill>
                  <a:srgbClr val="C45A31"/>
                </a:solidFill>
                <a:latin typeface="Avenir Next"/>
                <a:ea typeface="Avenir Next"/>
                <a:cs typeface="Avenir Next"/>
              </a:rPr>
              <a:t>125</a:t>
            </a:r>
          </a:p>
        </p:txBody>
      </p:sp>
      <p:sp>
        <p:nvSpPr>
          <p:cNvPr id="15" name="Rectangle 14">
            <a:extLst>
              <a:ext uri="{FF2B5EF4-FFF2-40B4-BE49-F238E27FC236}">
                <a16:creationId xmlns:a16="http://schemas.microsoft.com/office/drawing/2014/main" id="{B9627AD1-CAF0-4E1F-AB8C-82B4ABDA8948}"/>
              </a:ext>
            </a:extLst>
          </p:cNvPr>
          <p:cNvSpPr>
            <a:spLocks noGrp="1"/>
          </p:cNvSpPr>
          <p:nvPr/>
        </p:nvSpPr>
        <p:spPr>
          <a:xfrm>
            <a:off x="9334500" y="2057400"/>
            <a:ext cx="161925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RUL maximale</a:t>
            </a:r>
          </a:p>
        </p:txBody>
      </p:sp>
      <p:sp>
        <p:nvSpPr>
          <p:cNvPr id="16" name="Rectangle 15">
            <a:extLst>
              <a:ext uri="{FF2B5EF4-FFF2-40B4-BE49-F238E27FC236}">
                <a16:creationId xmlns:a16="http://schemas.microsoft.com/office/drawing/2014/main" id="{6B5E53A3-4669-4853-A5FB-4E864A29AAAE}"/>
              </a:ext>
            </a:extLst>
          </p:cNvPr>
          <p:cNvSpPr>
            <a:spLocks noGrp="1"/>
          </p:cNvSpPr>
          <p:nvPr/>
        </p:nvSpPr>
        <p:spPr>
          <a:xfrm>
            <a:off x="666750" y="3190875"/>
            <a:ext cx="4762500" cy="2190750"/>
          </a:xfrm>
          <a:prstGeom prst="rect">
            <a:avLst/>
          </a:prstGeom>
          <a:solidFill>
            <a:srgbClr val="FFFCF5"/>
          </a:solidFill>
          <a:ln w="10478">
            <a:solidFill>
              <a:srgbClr val="D7D1C5"/>
            </a:solidFill>
            <a:prstDash val="solid"/>
          </a:ln>
        </p:spPr>
      </p:sp>
      <p:sp>
        <p:nvSpPr>
          <p:cNvPr id="17" name="Rectangle 16">
            <a:extLst>
              <a:ext uri="{FF2B5EF4-FFF2-40B4-BE49-F238E27FC236}">
                <a16:creationId xmlns:a16="http://schemas.microsoft.com/office/drawing/2014/main" id="{7AEBC5D3-312C-429A-8899-1F3B7C7E15BD}"/>
              </a:ext>
            </a:extLst>
          </p:cNvPr>
          <p:cNvSpPr>
            <a:spLocks noGrp="1"/>
          </p:cNvSpPr>
          <p:nvPr/>
        </p:nvSpPr>
        <p:spPr>
          <a:xfrm>
            <a:off x="666750" y="3190875"/>
            <a:ext cx="4762500" cy="47625"/>
          </a:xfrm>
          <a:prstGeom prst="rect">
            <a:avLst/>
          </a:prstGeom>
          <a:solidFill>
            <a:srgbClr val="C45A31"/>
          </a:solidFill>
          <a:ln w="0">
            <a:noFill/>
          </a:ln>
        </p:spPr>
      </p:sp>
      <p:sp>
        <p:nvSpPr>
          <p:cNvPr id="18" name="Rectangle 17">
            <a:extLst>
              <a:ext uri="{FF2B5EF4-FFF2-40B4-BE49-F238E27FC236}">
                <a16:creationId xmlns:a16="http://schemas.microsoft.com/office/drawing/2014/main" id="{21A40BAD-9A82-41D2-998B-ED5B886F6770}"/>
              </a:ext>
            </a:extLst>
          </p:cNvPr>
          <p:cNvSpPr>
            <a:spLocks noGrp="1"/>
          </p:cNvSpPr>
          <p:nvPr/>
        </p:nvSpPr>
        <p:spPr>
          <a:xfrm>
            <a:off x="838200" y="3352800"/>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Ce que révèle l'EDA</a:t>
            </a:r>
          </a:p>
        </p:txBody>
      </p:sp>
      <p:sp>
        <p:nvSpPr>
          <p:cNvPr id="19" name="Rectangle 18">
            <a:extLst>
              <a:ext uri="{FF2B5EF4-FFF2-40B4-BE49-F238E27FC236}">
                <a16:creationId xmlns:a16="http://schemas.microsoft.com/office/drawing/2014/main" id="{57EF06AB-D4FD-42C1-BF46-DE026F26EC8F}"/>
              </a:ext>
            </a:extLst>
          </p:cNvPr>
          <p:cNvSpPr>
            <a:spLocks noGrp="1"/>
          </p:cNvSpPr>
          <p:nvPr/>
        </p:nvSpPr>
        <p:spPr>
          <a:xfrm>
            <a:off x="838200" y="3724275"/>
            <a:ext cx="4419600" cy="15430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Durées de vie dispersées</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Capteurs quasi constants à exclure</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Tendances monotones utiles</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Conditions opérationnelles hétérogènes</a:t>
            </a:r>
          </a:p>
        </p:txBody>
      </p:sp>
      <p:sp>
        <p:nvSpPr>
          <p:cNvPr id="20" name="Rectangle 19">
            <a:extLst>
              <a:ext uri="{FF2B5EF4-FFF2-40B4-BE49-F238E27FC236}">
                <a16:creationId xmlns:a16="http://schemas.microsoft.com/office/drawing/2014/main" id="{63E3151F-AB65-4B65-8A8A-3AB370D360C4}"/>
              </a:ext>
            </a:extLst>
          </p:cNvPr>
          <p:cNvSpPr>
            <a:spLocks noGrp="1"/>
          </p:cNvSpPr>
          <p:nvPr/>
        </p:nvSpPr>
        <p:spPr>
          <a:xfrm>
            <a:off x="6286500" y="3190875"/>
            <a:ext cx="4762500" cy="2190750"/>
          </a:xfrm>
          <a:prstGeom prst="rect">
            <a:avLst/>
          </a:prstGeom>
          <a:solidFill>
            <a:srgbClr val="FFFCF5"/>
          </a:solidFill>
          <a:ln w="10478">
            <a:solidFill>
              <a:srgbClr val="D7D1C5"/>
            </a:solidFill>
            <a:prstDash val="solid"/>
          </a:ln>
        </p:spPr>
      </p:sp>
      <p:sp>
        <p:nvSpPr>
          <p:cNvPr id="21" name="Rectangle 20">
            <a:extLst>
              <a:ext uri="{FF2B5EF4-FFF2-40B4-BE49-F238E27FC236}">
                <a16:creationId xmlns:a16="http://schemas.microsoft.com/office/drawing/2014/main" id="{DAFBCA5E-4FC6-4FA3-B623-D98437A85BF6}"/>
              </a:ext>
            </a:extLst>
          </p:cNvPr>
          <p:cNvSpPr>
            <a:spLocks noGrp="1"/>
          </p:cNvSpPr>
          <p:nvPr/>
        </p:nvSpPr>
        <p:spPr>
          <a:xfrm>
            <a:off x="6286500" y="3190875"/>
            <a:ext cx="4762500" cy="47625"/>
          </a:xfrm>
          <a:prstGeom prst="rect">
            <a:avLst/>
          </a:prstGeom>
          <a:solidFill>
            <a:srgbClr val="287B83"/>
          </a:solidFill>
          <a:ln w="0">
            <a:noFill/>
          </a:ln>
        </p:spPr>
      </p:sp>
      <p:sp>
        <p:nvSpPr>
          <p:cNvPr id="22" name="Rectangle 21">
            <a:extLst>
              <a:ext uri="{FF2B5EF4-FFF2-40B4-BE49-F238E27FC236}">
                <a16:creationId xmlns:a16="http://schemas.microsoft.com/office/drawing/2014/main" id="{F09CC239-CAFB-446E-A675-9627BF4099FE}"/>
              </a:ext>
            </a:extLst>
          </p:cNvPr>
          <p:cNvSpPr>
            <a:spLocks noGrp="1"/>
          </p:cNvSpPr>
          <p:nvPr/>
        </p:nvSpPr>
        <p:spPr>
          <a:xfrm>
            <a:off x="6457950" y="3352800"/>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KPIs produit</a:t>
            </a:r>
          </a:p>
        </p:txBody>
      </p:sp>
      <p:sp>
        <p:nvSpPr>
          <p:cNvPr id="23" name="Rectangle 22">
            <a:extLst>
              <a:ext uri="{FF2B5EF4-FFF2-40B4-BE49-F238E27FC236}">
                <a16:creationId xmlns:a16="http://schemas.microsoft.com/office/drawing/2014/main" id="{C8E024F0-FFA8-4CB2-A78F-ABADB545ECAF}"/>
              </a:ext>
            </a:extLst>
          </p:cNvPr>
          <p:cNvSpPr>
            <a:spLocks noGrp="1"/>
          </p:cNvSpPr>
          <p:nvPr/>
        </p:nvSpPr>
        <p:spPr>
          <a:xfrm>
            <a:off x="6457950" y="3724275"/>
            <a:ext cx="4419600" cy="15430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RUL en cycles</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Risque élevé : moins de 30 cycles</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Risque moyen : 30 à 80</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Risque faible : plus de 80</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Version du modèle et latence</a:t>
            </a:r>
          </a:p>
        </p:txBody>
      </p:sp>
      <p:sp>
        <p:nvSpPr>
          <p:cNvPr id="24" name="Rectangle 23">
            <a:extLst>
              <a:ext uri="{FF2B5EF4-FFF2-40B4-BE49-F238E27FC236}">
                <a16:creationId xmlns:a16="http://schemas.microsoft.com/office/drawing/2014/main" id="{1604945F-2CC6-439D-9F01-CDA4ECA5DD33}"/>
              </a:ext>
            </a:extLst>
          </p:cNvPr>
          <p:cNvSpPr>
            <a:spLocks noGrp="1"/>
          </p:cNvSpPr>
          <p:nvPr/>
        </p:nvSpPr>
        <p:spPr>
          <a:xfrm>
            <a:off x="1428750" y="5810250"/>
            <a:ext cx="9334500" cy="333375"/>
          </a:xfrm>
          <a:prstGeom prst="rect">
            <a:avLst/>
          </a:prstGeom>
          <a:noFill/>
          <a:ln w="0">
            <a:noFill/>
          </a:ln>
        </p:spPr>
        <p:txBody>
          <a:bodyPr wrap="square" lIns="0" tIns="0" rIns="0" bIns="0" anchor="t">
            <a:noAutofit/>
          </a:bodyPr>
          <a:lstStyle/>
          <a:p>
            <a:pPr algn="ctr">
              <a:lnSpc>
                <a:spcPct val="103000"/>
              </a:lnSpc>
              <a:buNone/>
              <a:defRPr sz="1425" b="1">
                <a:solidFill>
                  <a:srgbClr val="173B5D"/>
                </a:solidFill>
                <a:latin typeface="Avenir Next"/>
                <a:ea typeface="Avenir Next"/>
                <a:cs typeface="Avenir Next"/>
              </a:defRPr>
            </a:pPr>
            <a:r>
              <a:rPr sz="1425" b="1">
                <a:solidFill>
                  <a:srgbClr val="173B5D"/>
                </a:solidFill>
                <a:latin typeface="Avenir Next"/>
                <a:ea typeface="Avenir Next"/>
                <a:cs typeface="Avenir Next"/>
              </a:rPr>
              <a:t>26 colonnes : moteur, cycle, 3 réglages opérationnels et 21 capteurs</a:t>
            </a:r>
          </a:p>
        </p:txBody>
      </p:sp>
      <p:sp>
        <p:nvSpPr>
          <p:cNvPr id="25" name="Rectangle 24">
            <a:extLst>
              <a:ext uri="{FF2B5EF4-FFF2-40B4-BE49-F238E27FC236}">
                <a16:creationId xmlns:a16="http://schemas.microsoft.com/office/drawing/2014/main" id="{A5F31540-38AB-4B3D-AED5-54013AA7A36A}"/>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Ilyass  Analyse et données</a:t>
            </a:r>
          </a:p>
        </p:txBody>
      </p:sp>
      <p:sp>
        <p:nvSpPr>
          <p:cNvPr id="26" name="Rectangle 25">
            <a:extLst>
              <a:ext uri="{FF2B5EF4-FFF2-40B4-BE49-F238E27FC236}">
                <a16:creationId xmlns:a16="http://schemas.microsoft.com/office/drawing/2014/main" id="{A3116498-7BD0-4D96-B5AA-1582D56CB416}"/>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03 / 18</a:t>
            </a:r>
          </a:p>
        </p:txBody>
      </p:sp>
    </p:spTree>
    <p:extLst>
      <p:ext uri="{BB962C8B-B14F-4D97-AF65-F5344CB8AC3E}">
        <p14:creationId xmlns:p14="http://schemas.microsoft.com/office/powerpoint/2010/main" val="46411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66956A5D-A4F3-45E5-8C02-31E4326832A9}"/>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02C4BD16-2855-45E4-885C-D2103EF75A29}"/>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C83E9144-0AEE-4C11-90F3-B69014713F7B}"/>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Architecture globale</a:t>
            </a:r>
          </a:p>
        </p:txBody>
      </p:sp>
      <p:sp>
        <p:nvSpPr>
          <p:cNvPr id="4" name="Rectangle 3">
            <a:extLst>
              <a:ext uri="{FF2B5EF4-FFF2-40B4-BE49-F238E27FC236}">
                <a16:creationId xmlns:a16="http://schemas.microsoft.com/office/drawing/2014/main" id="{13B9C84F-7D1C-429A-9B6B-B52BA59A229F}"/>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MOHAMED</a:t>
            </a:r>
          </a:p>
        </p:txBody>
      </p:sp>
      <p:sp>
        <p:nvSpPr>
          <p:cNvPr id="5" name="Rectangle 4">
            <a:extLst>
              <a:ext uri="{FF2B5EF4-FFF2-40B4-BE49-F238E27FC236}">
                <a16:creationId xmlns:a16="http://schemas.microsoft.com/office/drawing/2014/main" id="{78E55494-B0D4-4C5D-BD31-E58A947ADBEF}"/>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Une chaîne continue de la donnée brute au monitoring</a:t>
            </a:r>
          </a:p>
        </p:txBody>
      </p:sp>
      <p:sp>
        <p:nvSpPr>
          <p:cNvPr id="6" name="Rectangle 5">
            <a:extLst>
              <a:ext uri="{FF2B5EF4-FFF2-40B4-BE49-F238E27FC236}">
                <a16:creationId xmlns:a16="http://schemas.microsoft.com/office/drawing/2014/main" id="{B5E3A6C0-E6F6-4511-BA1E-190116FE86CA}"/>
              </a:ext>
            </a:extLst>
          </p:cNvPr>
          <p:cNvSpPr>
            <a:spLocks noGrp="1"/>
          </p:cNvSpPr>
          <p:nvPr/>
        </p:nvSpPr>
        <p:spPr>
          <a:xfrm>
            <a:off x="428625" y="1714500"/>
            <a:ext cx="1666875" cy="1000125"/>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0B5CA410-AFF8-4BAE-AAE1-02796038CC9B}"/>
              </a:ext>
            </a:extLst>
          </p:cNvPr>
          <p:cNvSpPr>
            <a:spLocks noGrp="1"/>
          </p:cNvSpPr>
          <p:nvPr/>
        </p:nvSpPr>
        <p:spPr>
          <a:xfrm>
            <a:off x="428625" y="1714500"/>
            <a:ext cx="1666875" cy="47625"/>
          </a:xfrm>
          <a:prstGeom prst="rect">
            <a:avLst/>
          </a:prstGeom>
          <a:solidFill>
            <a:srgbClr val="C45A31"/>
          </a:solidFill>
          <a:ln w="0">
            <a:noFill/>
          </a:ln>
        </p:spPr>
      </p:sp>
      <p:sp>
        <p:nvSpPr>
          <p:cNvPr id="8" name="Rectangle 7">
            <a:extLst>
              <a:ext uri="{FF2B5EF4-FFF2-40B4-BE49-F238E27FC236}">
                <a16:creationId xmlns:a16="http://schemas.microsoft.com/office/drawing/2014/main" id="{78FF86B9-D9E3-4945-90A8-527957F0EB50}"/>
              </a:ext>
            </a:extLst>
          </p:cNvPr>
          <p:cNvSpPr>
            <a:spLocks noGrp="1"/>
          </p:cNvSpPr>
          <p:nvPr/>
        </p:nvSpPr>
        <p:spPr>
          <a:xfrm>
            <a:off x="600075" y="1876425"/>
            <a:ext cx="1323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C-MAPSS</a:t>
            </a:r>
          </a:p>
        </p:txBody>
      </p:sp>
      <p:sp>
        <p:nvSpPr>
          <p:cNvPr id="9" name="Rectangle 8">
            <a:extLst>
              <a:ext uri="{FF2B5EF4-FFF2-40B4-BE49-F238E27FC236}">
                <a16:creationId xmlns:a16="http://schemas.microsoft.com/office/drawing/2014/main" id="{921C4E70-70B5-48F3-ACA2-7E8415013FDE}"/>
              </a:ext>
            </a:extLst>
          </p:cNvPr>
          <p:cNvSpPr>
            <a:spLocks noGrp="1"/>
          </p:cNvSpPr>
          <p:nvPr/>
        </p:nvSpPr>
        <p:spPr>
          <a:xfrm>
            <a:off x="600075" y="2247900"/>
            <a:ext cx="1323975"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FD001 à FD004</a:t>
            </a:r>
          </a:p>
        </p:txBody>
      </p:sp>
      <p:sp>
        <p:nvSpPr>
          <p:cNvPr id="10" name="Rectangle 9">
            <a:extLst>
              <a:ext uri="{FF2B5EF4-FFF2-40B4-BE49-F238E27FC236}">
                <a16:creationId xmlns:a16="http://schemas.microsoft.com/office/drawing/2014/main" id="{751FCB61-A3D0-4A50-914B-18B89BE8F585}"/>
              </a:ext>
            </a:extLst>
          </p:cNvPr>
          <p:cNvSpPr>
            <a:spLocks noGrp="1"/>
          </p:cNvSpPr>
          <p:nvPr/>
        </p:nvSpPr>
        <p:spPr>
          <a:xfrm>
            <a:off x="2381250" y="1714500"/>
            <a:ext cx="1666875" cy="1000125"/>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7A57487C-49CA-40D1-881D-3E5E5762B157}"/>
              </a:ext>
            </a:extLst>
          </p:cNvPr>
          <p:cNvSpPr>
            <a:spLocks noGrp="1"/>
          </p:cNvSpPr>
          <p:nvPr/>
        </p:nvSpPr>
        <p:spPr>
          <a:xfrm>
            <a:off x="2381250" y="1714500"/>
            <a:ext cx="1666875"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D2A1CE1C-C1BA-439F-A1CF-CFEA3D1936D8}"/>
              </a:ext>
            </a:extLst>
          </p:cNvPr>
          <p:cNvSpPr>
            <a:spLocks noGrp="1"/>
          </p:cNvSpPr>
          <p:nvPr/>
        </p:nvSpPr>
        <p:spPr>
          <a:xfrm>
            <a:off x="2552700" y="1876425"/>
            <a:ext cx="1323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dlt</a:t>
            </a:r>
          </a:p>
        </p:txBody>
      </p:sp>
      <p:sp>
        <p:nvSpPr>
          <p:cNvPr id="13" name="Rectangle 12">
            <a:extLst>
              <a:ext uri="{FF2B5EF4-FFF2-40B4-BE49-F238E27FC236}">
                <a16:creationId xmlns:a16="http://schemas.microsoft.com/office/drawing/2014/main" id="{E44816DF-1A78-4CFA-B940-0BF8FA6976B2}"/>
              </a:ext>
            </a:extLst>
          </p:cNvPr>
          <p:cNvSpPr>
            <a:spLocks noGrp="1"/>
          </p:cNvSpPr>
          <p:nvPr/>
        </p:nvSpPr>
        <p:spPr>
          <a:xfrm>
            <a:off x="2552700" y="2247900"/>
            <a:ext cx="1323975"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ingestion</a:t>
            </a:r>
          </a:p>
        </p:txBody>
      </p:sp>
      <p:sp>
        <p:nvSpPr>
          <p:cNvPr id="14" name="Rectangle 13">
            <a:extLst>
              <a:ext uri="{FF2B5EF4-FFF2-40B4-BE49-F238E27FC236}">
                <a16:creationId xmlns:a16="http://schemas.microsoft.com/office/drawing/2014/main" id="{AE522718-A68D-4461-9C6C-B3066B79D2A7}"/>
              </a:ext>
            </a:extLst>
          </p:cNvPr>
          <p:cNvSpPr>
            <a:spLocks noGrp="1"/>
          </p:cNvSpPr>
          <p:nvPr/>
        </p:nvSpPr>
        <p:spPr>
          <a:xfrm>
            <a:off x="4333875" y="1714500"/>
            <a:ext cx="1666875" cy="1000125"/>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E525C799-F237-4177-B60A-10EB51FEAC59}"/>
              </a:ext>
            </a:extLst>
          </p:cNvPr>
          <p:cNvSpPr>
            <a:spLocks noGrp="1"/>
          </p:cNvSpPr>
          <p:nvPr/>
        </p:nvSpPr>
        <p:spPr>
          <a:xfrm>
            <a:off x="4333875" y="1714500"/>
            <a:ext cx="1666875" cy="47625"/>
          </a:xfrm>
          <a:prstGeom prst="rect">
            <a:avLst/>
          </a:prstGeom>
          <a:solidFill>
            <a:srgbClr val="287B83"/>
          </a:solidFill>
          <a:ln w="0">
            <a:noFill/>
          </a:ln>
        </p:spPr>
      </p:sp>
      <p:sp>
        <p:nvSpPr>
          <p:cNvPr id="16" name="Rectangle 15">
            <a:extLst>
              <a:ext uri="{FF2B5EF4-FFF2-40B4-BE49-F238E27FC236}">
                <a16:creationId xmlns:a16="http://schemas.microsoft.com/office/drawing/2014/main" id="{9C2B9A7F-C6AB-4603-ACDE-1F0646B008C8}"/>
              </a:ext>
            </a:extLst>
          </p:cNvPr>
          <p:cNvSpPr>
            <a:spLocks noGrp="1"/>
          </p:cNvSpPr>
          <p:nvPr/>
        </p:nvSpPr>
        <p:spPr>
          <a:xfrm>
            <a:off x="4505325" y="1876425"/>
            <a:ext cx="1323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DuckDB</a:t>
            </a:r>
          </a:p>
        </p:txBody>
      </p:sp>
      <p:sp>
        <p:nvSpPr>
          <p:cNvPr id="17" name="Rectangle 16">
            <a:extLst>
              <a:ext uri="{FF2B5EF4-FFF2-40B4-BE49-F238E27FC236}">
                <a16:creationId xmlns:a16="http://schemas.microsoft.com/office/drawing/2014/main" id="{BCA43494-5026-4FAD-8E7A-C496D71C1878}"/>
              </a:ext>
            </a:extLst>
          </p:cNvPr>
          <p:cNvSpPr>
            <a:spLocks noGrp="1"/>
          </p:cNvSpPr>
          <p:nvPr/>
        </p:nvSpPr>
        <p:spPr>
          <a:xfrm>
            <a:off x="4505325" y="2247900"/>
            <a:ext cx="1323975"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raw, staging, marts</a:t>
            </a:r>
          </a:p>
        </p:txBody>
      </p:sp>
      <p:sp>
        <p:nvSpPr>
          <p:cNvPr id="18" name="Rectangle 17">
            <a:extLst>
              <a:ext uri="{FF2B5EF4-FFF2-40B4-BE49-F238E27FC236}">
                <a16:creationId xmlns:a16="http://schemas.microsoft.com/office/drawing/2014/main" id="{595FD5D7-3552-443D-842A-40193780946C}"/>
              </a:ext>
            </a:extLst>
          </p:cNvPr>
          <p:cNvSpPr>
            <a:spLocks noGrp="1"/>
          </p:cNvSpPr>
          <p:nvPr/>
        </p:nvSpPr>
        <p:spPr>
          <a:xfrm>
            <a:off x="6286500" y="1714500"/>
            <a:ext cx="1666875" cy="1000125"/>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6F6B6C3F-C24E-442A-9A50-A0C34D7C465B}"/>
              </a:ext>
            </a:extLst>
          </p:cNvPr>
          <p:cNvSpPr>
            <a:spLocks noGrp="1"/>
          </p:cNvSpPr>
          <p:nvPr/>
        </p:nvSpPr>
        <p:spPr>
          <a:xfrm>
            <a:off x="6286500" y="1714500"/>
            <a:ext cx="1666875" cy="47625"/>
          </a:xfrm>
          <a:prstGeom prst="rect">
            <a:avLst/>
          </a:prstGeom>
          <a:solidFill>
            <a:srgbClr val="287B83"/>
          </a:solidFill>
          <a:ln w="0">
            <a:noFill/>
          </a:ln>
        </p:spPr>
      </p:sp>
      <p:sp>
        <p:nvSpPr>
          <p:cNvPr id="20" name="Rectangle 19">
            <a:extLst>
              <a:ext uri="{FF2B5EF4-FFF2-40B4-BE49-F238E27FC236}">
                <a16:creationId xmlns:a16="http://schemas.microsoft.com/office/drawing/2014/main" id="{3C1B5336-B1FF-4491-872C-9AC751DB437E}"/>
              </a:ext>
            </a:extLst>
          </p:cNvPr>
          <p:cNvSpPr>
            <a:spLocks noGrp="1"/>
          </p:cNvSpPr>
          <p:nvPr/>
        </p:nvSpPr>
        <p:spPr>
          <a:xfrm>
            <a:off x="6457950" y="1876425"/>
            <a:ext cx="1323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dbt</a:t>
            </a:r>
          </a:p>
        </p:txBody>
      </p:sp>
      <p:sp>
        <p:nvSpPr>
          <p:cNvPr id="21" name="Rectangle 20">
            <a:extLst>
              <a:ext uri="{FF2B5EF4-FFF2-40B4-BE49-F238E27FC236}">
                <a16:creationId xmlns:a16="http://schemas.microsoft.com/office/drawing/2014/main" id="{DD96636D-6F13-4662-A29C-B5501AD93370}"/>
              </a:ext>
            </a:extLst>
          </p:cNvPr>
          <p:cNvSpPr>
            <a:spLocks noGrp="1"/>
          </p:cNvSpPr>
          <p:nvPr/>
        </p:nvSpPr>
        <p:spPr>
          <a:xfrm>
            <a:off x="6457950" y="2247900"/>
            <a:ext cx="1323975"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transformer et tester</a:t>
            </a:r>
          </a:p>
        </p:txBody>
      </p:sp>
      <p:sp>
        <p:nvSpPr>
          <p:cNvPr id="22" name="Rectangle 21">
            <a:extLst>
              <a:ext uri="{FF2B5EF4-FFF2-40B4-BE49-F238E27FC236}">
                <a16:creationId xmlns:a16="http://schemas.microsoft.com/office/drawing/2014/main" id="{8814B4D4-EA76-4AD3-ADAA-9D85FD556287}"/>
              </a:ext>
            </a:extLst>
          </p:cNvPr>
          <p:cNvSpPr>
            <a:spLocks noGrp="1"/>
          </p:cNvSpPr>
          <p:nvPr/>
        </p:nvSpPr>
        <p:spPr>
          <a:xfrm>
            <a:off x="8239125" y="1714500"/>
            <a:ext cx="1666875" cy="1000125"/>
          </a:xfrm>
          <a:prstGeom prst="rect">
            <a:avLst/>
          </a:prstGeom>
          <a:solidFill>
            <a:srgbClr val="FFFCF5"/>
          </a:solidFill>
          <a:ln w="10478">
            <a:solidFill>
              <a:srgbClr val="D7D1C5"/>
            </a:solidFill>
            <a:prstDash val="solid"/>
          </a:ln>
        </p:spPr>
      </p:sp>
      <p:sp>
        <p:nvSpPr>
          <p:cNvPr id="23" name="Rectangle 22">
            <a:extLst>
              <a:ext uri="{FF2B5EF4-FFF2-40B4-BE49-F238E27FC236}">
                <a16:creationId xmlns:a16="http://schemas.microsoft.com/office/drawing/2014/main" id="{EB26D349-4733-495C-BCEF-B3FD82C02AB6}"/>
              </a:ext>
            </a:extLst>
          </p:cNvPr>
          <p:cNvSpPr>
            <a:spLocks noGrp="1"/>
          </p:cNvSpPr>
          <p:nvPr/>
        </p:nvSpPr>
        <p:spPr>
          <a:xfrm>
            <a:off x="8239125" y="1714500"/>
            <a:ext cx="1666875" cy="47625"/>
          </a:xfrm>
          <a:prstGeom prst="rect">
            <a:avLst/>
          </a:prstGeom>
          <a:solidFill>
            <a:srgbClr val="287B83"/>
          </a:solidFill>
          <a:ln w="0">
            <a:noFill/>
          </a:ln>
        </p:spPr>
      </p:sp>
      <p:sp>
        <p:nvSpPr>
          <p:cNvPr id="24" name="Rectangle 23">
            <a:extLst>
              <a:ext uri="{FF2B5EF4-FFF2-40B4-BE49-F238E27FC236}">
                <a16:creationId xmlns:a16="http://schemas.microsoft.com/office/drawing/2014/main" id="{0E32DC4D-353E-4927-8F93-9195A0523F70}"/>
              </a:ext>
            </a:extLst>
          </p:cNvPr>
          <p:cNvSpPr>
            <a:spLocks noGrp="1"/>
          </p:cNvSpPr>
          <p:nvPr/>
        </p:nvSpPr>
        <p:spPr>
          <a:xfrm>
            <a:off x="8410575" y="1876425"/>
            <a:ext cx="1323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Features</a:t>
            </a:r>
          </a:p>
        </p:txBody>
      </p:sp>
      <p:sp>
        <p:nvSpPr>
          <p:cNvPr id="25" name="Rectangle 24">
            <a:extLst>
              <a:ext uri="{FF2B5EF4-FFF2-40B4-BE49-F238E27FC236}">
                <a16:creationId xmlns:a16="http://schemas.microsoft.com/office/drawing/2014/main" id="{DD2402F1-F9F0-4AAB-8047-26CCA7407F27}"/>
              </a:ext>
            </a:extLst>
          </p:cNvPr>
          <p:cNvSpPr>
            <a:spLocks noGrp="1"/>
          </p:cNvSpPr>
          <p:nvPr/>
        </p:nvSpPr>
        <p:spPr>
          <a:xfrm>
            <a:off x="8410575" y="2247900"/>
            <a:ext cx="1323975"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lang="fr-FR" sz="1125" b="0" dirty="0">
                <a:solidFill>
                  <a:srgbClr val="66727C"/>
                </a:solidFill>
                <a:latin typeface="Avenir Next"/>
                <a:ea typeface="Avenir Next"/>
                <a:cs typeface="Avenir Next"/>
              </a:rPr>
              <a:t>47 variables </a:t>
            </a:r>
            <a:endParaRPr sz="1125" b="0" dirty="0">
              <a:solidFill>
                <a:srgbClr val="66727C"/>
              </a:solidFill>
              <a:latin typeface="Avenir Next"/>
              <a:ea typeface="Avenir Next"/>
              <a:cs typeface="Avenir Next"/>
            </a:endParaRPr>
          </a:p>
        </p:txBody>
      </p:sp>
      <p:sp>
        <p:nvSpPr>
          <p:cNvPr id="26" name="Rectangle 25">
            <a:extLst>
              <a:ext uri="{FF2B5EF4-FFF2-40B4-BE49-F238E27FC236}">
                <a16:creationId xmlns:a16="http://schemas.microsoft.com/office/drawing/2014/main" id="{1C98CCD5-7A47-49BF-AA41-EE664D158C3C}"/>
              </a:ext>
            </a:extLst>
          </p:cNvPr>
          <p:cNvSpPr>
            <a:spLocks noGrp="1"/>
          </p:cNvSpPr>
          <p:nvPr/>
        </p:nvSpPr>
        <p:spPr>
          <a:xfrm>
            <a:off x="10191750" y="1714500"/>
            <a:ext cx="1571625" cy="1000125"/>
          </a:xfrm>
          <a:prstGeom prst="rect">
            <a:avLst/>
          </a:prstGeom>
          <a:solidFill>
            <a:srgbClr val="FFFCF5"/>
          </a:solidFill>
          <a:ln w="10478">
            <a:solidFill>
              <a:srgbClr val="D7D1C5"/>
            </a:solidFill>
            <a:prstDash val="solid"/>
          </a:ln>
        </p:spPr>
      </p:sp>
      <p:sp>
        <p:nvSpPr>
          <p:cNvPr id="27" name="Rectangle 26">
            <a:extLst>
              <a:ext uri="{FF2B5EF4-FFF2-40B4-BE49-F238E27FC236}">
                <a16:creationId xmlns:a16="http://schemas.microsoft.com/office/drawing/2014/main" id="{F24AA592-D463-4769-9678-F312B88E8829}"/>
              </a:ext>
            </a:extLst>
          </p:cNvPr>
          <p:cNvSpPr>
            <a:spLocks noGrp="1"/>
          </p:cNvSpPr>
          <p:nvPr/>
        </p:nvSpPr>
        <p:spPr>
          <a:xfrm>
            <a:off x="10191750" y="1714500"/>
            <a:ext cx="1571625" cy="47625"/>
          </a:xfrm>
          <a:prstGeom prst="rect">
            <a:avLst/>
          </a:prstGeom>
          <a:solidFill>
            <a:srgbClr val="C45A31"/>
          </a:solidFill>
          <a:ln w="0">
            <a:noFill/>
          </a:ln>
        </p:spPr>
      </p:sp>
      <p:sp>
        <p:nvSpPr>
          <p:cNvPr id="28" name="Rectangle 27">
            <a:extLst>
              <a:ext uri="{FF2B5EF4-FFF2-40B4-BE49-F238E27FC236}">
                <a16:creationId xmlns:a16="http://schemas.microsoft.com/office/drawing/2014/main" id="{374BB24D-E82C-4E41-B834-5B966FFA937B}"/>
              </a:ext>
            </a:extLst>
          </p:cNvPr>
          <p:cNvSpPr>
            <a:spLocks noGrp="1"/>
          </p:cNvSpPr>
          <p:nvPr/>
        </p:nvSpPr>
        <p:spPr>
          <a:xfrm>
            <a:off x="10363200" y="1876425"/>
            <a:ext cx="122872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Modèle</a:t>
            </a:r>
          </a:p>
        </p:txBody>
      </p:sp>
      <p:sp>
        <p:nvSpPr>
          <p:cNvPr id="29" name="Rectangle 28">
            <a:extLst>
              <a:ext uri="{FF2B5EF4-FFF2-40B4-BE49-F238E27FC236}">
                <a16:creationId xmlns:a16="http://schemas.microsoft.com/office/drawing/2014/main" id="{EA416EF3-D974-4766-88BF-C79298E45ECB}"/>
              </a:ext>
            </a:extLst>
          </p:cNvPr>
          <p:cNvSpPr>
            <a:spLocks noGrp="1"/>
          </p:cNvSpPr>
          <p:nvPr/>
        </p:nvSpPr>
        <p:spPr>
          <a:xfrm>
            <a:off x="10363200" y="2247900"/>
            <a:ext cx="1228725"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HGB et métriques</a:t>
            </a:r>
          </a:p>
        </p:txBody>
      </p:sp>
      <p:cxnSp>
        <p:nvCxnSpPr>
          <p:cNvPr id="87" name="Connecteur droit avec flèche 86"/>
          <p:cNvCxnSpPr>
            <a:stCxn id="6" idx="3"/>
            <a:endCxn id="10" idx="1"/>
          </p:cNvCxnSpPr>
          <p:nvPr/>
        </p:nvCxnSpPr>
        <p:spPr>
          <a:xfrm>
            <a:off x="2095500" y="2214563"/>
            <a:ext cx="285750" cy="0"/>
          </a:xfrm>
          <a:prstGeom prst="straightConnector1">
            <a:avLst/>
          </a:prstGeom>
          <a:ln w="19050">
            <a:solidFill>
              <a:srgbClr val="287B83"/>
            </a:solidFill>
            <a:prstDash val="solid"/>
            <a:tailEnd type="triangle" w="sm" len="sm"/>
          </a:ln>
        </p:spPr>
      </p:cxnSp>
      <p:cxnSp>
        <p:nvCxnSpPr>
          <p:cNvPr id="88" name="Connecteur droit avec flèche 87"/>
          <p:cNvCxnSpPr>
            <a:stCxn id="10" idx="3"/>
            <a:endCxn id="14" idx="1"/>
          </p:cNvCxnSpPr>
          <p:nvPr/>
        </p:nvCxnSpPr>
        <p:spPr>
          <a:xfrm>
            <a:off x="4048125" y="2214563"/>
            <a:ext cx="285750" cy="0"/>
          </a:xfrm>
          <a:prstGeom prst="straightConnector1">
            <a:avLst/>
          </a:prstGeom>
          <a:ln w="19050">
            <a:solidFill>
              <a:srgbClr val="287B83"/>
            </a:solidFill>
            <a:prstDash val="solid"/>
            <a:tailEnd type="triangle" w="sm" len="sm"/>
          </a:ln>
        </p:spPr>
      </p:cxnSp>
      <p:cxnSp>
        <p:nvCxnSpPr>
          <p:cNvPr id="89" name="Connecteur droit avec flèche 88"/>
          <p:cNvCxnSpPr>
            <a:stCxn id="14" idx="3"/>
            <a:endCxn id="18" idx="1"/>
          </p:cNvCxnSpPr>
          <p:nvPr/>
        </p:nvCxnSpPr>
        <p:spPr>
          <a:xfrm>
            <a:off x="6000750" y="2214563"/>
            <a:ext cx="285750" cy="0"/>
          </a:xfrm>
          <a:prstGeom prst="straightConnector1">
            <a:avLst/>
          </a:prstGeom>
          <a:ln w="19050">
            <a:solidFill>
              <a:srgbClr val="287B83"/>
            </a:solidFill>
            <a:prstDash val="solid"/>
            <a:tailEnd type="triangle" w="sm" len="sm"/>
          </a:ln>
        </p:spPr>
      </p:cxnSp>
      <p:cxnSp>
        <p:nvCxnSpPr>
          <p:cNvPr id="90" name="Connecteur droit avec flèche 89"/>
          <p:cNvCxnSpPr>
            <a:stCxn id="18" idx="3"/>
            <a:endCxn id="22" idx="1"/>
          </p:cNvCxnSpPr>
          <p:nvPr/>
        </p:nvCxnSpPr>
        <p:spPr>
          <a:xfrm>
            <a:off x="7953375" y="2214563"/>
            <a:ext cx="285750" cy="0"/>
          </a:xfrm>
          <a:prstGeom prst="straightConnector1">
            <a:avLst/>
          </a:prstGeom>
          <a:ln w="19050">
            <a:solidFill>
              <a:srgbClr val="287B83"/>
            </a:solidFill>
            <a:prstDash val="solid"/>
            <a:tailEnd type="triangle" w="sm" len="sm"/>
          </a:ln>
        </p:spPr>
      </p:cxnSp>
      <p:cxnSp>
        <p:nvCxnSpPr>
          <p:cNvPr id="91" name="Connecteur droit avec flèche 90"/>
          <p:cNvCxnSpPr>
            <a:stCxn id="22" idx="3"/>
            <a:endCxn id="26" idx="1"/>
          </p:cNvCxnSpPr>
          <p:nvPr/>
        </p:nvCxnSpPr>
        <p:spPr>
          <a:xfrm>
            <a:off x="9906000" y="2214563"/>
            <a:ext cx="285750" cy="0"/>
          </a:xfrm>
          <a:prstGeom prst="straightConnector1">
            <a:avLst/>
          </a:prstGeom>
          <a:ln w="19050">
            <a:solidFill>
              <a:srgbClr val="287B83"/>
            </a:solidFill>
            <a:prstDash val="solid"/>
            <a:tailEnd type="triangle" w="sm" len="sm"/>
          </a:ln>
        </p:spPr>
      </p:cxnSp>
      <p:sp>
        <p:nvSpPr>
          <p:cNvPr id="35" name="Rectangle 34">
            <a:extLst>
              <a:ext uri="{FF2B5EF4-FFF2-40B4-BE49-F238E27FC236}">
                <a16:creationId xmlns:a16="http://schemas.microsoft.com/office/drawing/2014/main" id="{976BBDB6-7635-4529-8C92-98421EF33D0E}"/>
              </a:ext>
            </a:extLst>
          </p:cNvPr>
          <p:cNvSpPr>
            <a:spLocks noGrp="1"/>
          </p:cNvSpPr>
          <p:nvPr/>
        </p:nvSpPr>
        <p:spPr>
          <a:xfrm>
            <a:off x="1571625" y="3714750"/>
            <a:ext cx="2095500" cy="1047750"/>
          </a:xfrm>
          <a:prstGeom prst="rect">
            <a:avLst/>
          </a:prstGeom>
          <a:solidFill>
            <a:srgbClr val="FFFCF5"/>
          </a:solidFill>
          <a:ln w="10478">
            <a:solidFill>
              <a:srgbClr val="D7D1C5"/>
            </a:solidFill>
            <a:prstDash val="solid"/>
          </a:ln>
        </p:spPr>
      </p:sp>
      <p:sp>
        <p:nvSpPr>
          <p:cNvPr id="36" name="Rectangle 35">
            <a:extLst>
              <a:ext uri="{FF2B5EF4-FFF2-40B4-BE49-F238E27FC236}">
                <a16:creationId xmlns:a16="http://schemas.microsoft.com/office/drawing/2014/main" id="{31337F9E-F09E-4516-99EA-C38EC2E22F7B}"/>
              </a:ext>
            </a:extLst>
          </p:cNvPr>
          <p:cNvSpPr>
            <a:spLocks noGrp="1"/>
          </p:cNvSpPr>
          <p:nvPr/>
        </p:nvSpPr>
        <p:spPr>
          <a:xfrm>
            <a:off x="1571625" y="3714750"/>
            <a:ext cx="2095500" cy="47625"/>
          </a:xfrm>
          <a:prstGeom prst="rect">
            <a:avLst/>
          </a:prstGeom>
          <a:solidFill>
            <a:srgbClr val="287B83"/>
          </a:solidFill>
          <a:ln w="0">
            <a:noFill/>
          </a:ln>
        </p:spPr>
      </p:sp>
      <p:sp>
        <p:nvSpPr>
          <p:cNvPr id="37" name="Rectangle 36">
            <a:extLst>
              <a:ext uri="{FF2B5EF4-FFF2-40B4-BE49-F238E27FC236}">
                <a16:creationId xmlns:a16="http://schemas.microsoft.com/office/drawing/2014/main" id="{9970B46C-AA4E-4368-8939-2399FC4D2B6F}"/>
              </a:ext>
            </a:extLst>
          </p:cNvPr>
          <p:cNvSpPr>
            <a:spLocks noGrp="1"/>
          </p:cNvSpPr>
          <p:nvPr/>
        </p:nvSpPr>
        <p:spPr>
          <a:xfrm>
            <a:off x="1743075" y="3876675"/>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MLflow</a:t>
            </a:r>
          </a:p>
        </p:txBody>
      </p:sp>
      <p:sp>
        <p:nvSpPr>
          <p:cNvPr id="38" name="Rectangle 37">
            <a:extLst>
              <a:ext uri="{FF2B5EF4-FFF2-40B4-BE49-F238E27FC236}">
                <a16:creationId xmlns:a16="http://schemas.microsoft.com/office/drawing/2014/main" id="{79198FAE-40F5-4FCD-9E6A-3D0A40F69FCE}"/>
              </a:ext>
            </a:extLst>
          </p:cNvPr>
          <p:cNvSpPr>
            <a:spLocks noGrp="1"/>
          </p:cNvSpPr>
          <p:nvPr/>
        </p:nvSpPr>
        <p:spPr>
          <a:xfrm>
            <a:off x="1743075" y="4248150"/>
            <a:ext cx="1752600" cy="4000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tracking et registre</a:t>
            </a:r>
          </a:p>
        </p:txBody>
      </p:sp>
      <p:sp>
        <p:nvSpPr>
          <p:cNvPr id="39" name="Rectangle 38">
            <a:extLst>
              <a:ext uri="{FF2B5EF4-FFF2-40B4-BE49-F238E27FC236}">
                <a16:creationId xmlns:a16="http://schemas.microsoft.com/office/drawing/2014/main" id="{231D68FD-B336-4068-9468-888677DDA53A}"/>
              </a:ext>
            </a:extLst>
          </p:cNvPr>
          <p:cNvSpPr>
            <a:spLocks noGrp="1"/>
          </p:cNvSpPr>
          <p:nvPr/>
        </p:nvSpPr>
        <p:spPr>
          <a:xfrm>
            <a:off x="4333875" y="3714750"/>
            <a:ext cx="2095500" cy="1047750"/>
          </a:xfrm>
          <a:prstGeom prst="rect">
            <a:avLst/>
          </a:prstGeom>
          <a:solidFill>
            <a:srgbClr val="FFFCF5"/>
          </a:solidFill>
          <a:ln w="10478">
            <a:solidFill>
              <a:srgbClr val="D7D1C5"/>
            </a:solidFill>
            <a:prstDash val="solid"/>
          </a:ln>
        </p:spPr>
      </p:sp>
      <p:sp>
        <p:nvSpPr>
          <p:cNvPr id="40" name="Rectangle 39">
            <a:extLst>
              <a:ext uri="{FF2B5EF4-FFF2-40B4-BE49-F238E27FC236}">
                <a16:creationId xmlns:a16="http://schemas.microsoft.com/office/drawing/2014/main" id="{899A534B-AD10-45D4-846A-0F8B889F8CC3}"/>
              </a:ext>
            </a:extLst>
          </p:cNvPr>
          <p:cNvSpPr>
            <a:spLocks noGrp="1"/>
          </p:cNvSpPr>
          <p:nvPr/>
        </p:nvSpPr>
        <p:spPr>
          <a:xfrm>
            <a:off x="4333875" y="3714750"/>
            <a:ext cx="2095500" cy="47625"/>
          </a:xfrm>
          <a:prstGeom prst="rect">
            <a:avLst/>
          </a:prstGeom>
          <a:solidFill>
            <a:srgbClr val="287B83"/>
          </a:solidFill>
          <a:ln w="0">
            <a:noFill/>
          </a:ln>
        </p:spPr>
      </p:sp>
      <p:sp>
        <p:nvSpPr>
          <p:cNvPr id="41" name="Rectangle 40">
            <a:extLst>
              <a:ext uri="{FF2B5EF4-FFF2-40B4-BE49-F238E27FC236}">
                <a16:creationId xmlns:a16="http://schemas.microsoft.com/office/drawing/2014/main" id="{EEEF520F-2AD4-48EB-B097-ED79FD8F2BF4}"/>
              </a:ext>
            </a:extLst>
          </p:cNvPr>
          <p:cNvSpPr>
            <a:spLocks noGrp="1"/>
          </p:cNvSpPr>
          <p:nvPr/>
        </p:nvSpPr>
        <p:spPr>
          <a:xfrm>
            <a:off x="4505325" y="3876675"/>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FastAPI</a:t>
            </a:r>
          </a:p>
        </p:txBody>
      </p:sp>
      <p:sp>
        <p:nvSpPr>
          <p:cNvPr id="42" name="Rectangle 41">
            <a:extLst>
              <a:ext uri="{FF2B5EF4-FFF2-40B4-BE49-F238E27FC236}">
                <a16:creationId xmlns:a16="http://schemas.microsoft.com/office/drawing/2014/main" id="{B391310F-0197-4285-8B04-F140232A4150}"/>
              </a:ext>
            </a:extLst>
          </p:cNvPr>
          <p:cNvSpPr>
            <a:spLocks noGrp="1"/>
          </p:cNvSpPr>
          <p:nvPr/>
        </p:nvSpPr>
        <p:spPr>
          <a:xfrm>
            <a:off x="4505325" y="4248150"/>
            <a:ext cx="1752600" cy="4000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contrat de prédiction</a:t>
            </a:r>
          </a:p>
        </p:txBody>
      </p:sp>
      <p:sp>
        <p:nvSpPr>
          <p:cNvPr id="43" name="Rectangle 42">
            <a:extLst>
              <a:ext uri="{FF2B5EF4-FFF2-40B4-BE49-F238E27FC236}">
                <a16:creationId xmlns:a16="http://schemas.microsoft.com/office/drawing/2014/main" id="{CA69B7B8-2B34-4705-B7C4-313BB1336B76}"/>
              </a:ext>
            </a:extLst>
          </p:cNvPr>
          <p:cNvSpPr>
            <a:spLocks noGrp="1"/>
          </p:cNvSpPr>
          <p:nvPr/>
        </p:nvSpPr>
        <p:spPr>
          <a:xfrm>
            <a:off x="7096125" y="3714750"/>
            <a:ext cx="2095500" cy="1047750"/>
          </a:xfrm>
          <a:prstGeom prst="rect">
            <a:avLst/>
          </a:prstGeom>
          <a:solidFill>
            <a:srgbClr val="FFFCF5"/>
          </a:solidFill>
          <a:ln w="10478">
            <a:solidFill>
              <a:srgbClr val="D7D1C5"/>
            </a:solidFill>
            <a:prstDash val="solid"/>
          </a:ln>
        </p:spPr>
      </p:sp>
      <p:sp>
        <p:nvSpPr>
          <p:cNvPr id="44" name="Rectangle 43">
            <a:extLst>
              <a:ext uri="{FF2B5EF4-FFF2-40B4-BE49-F238E27FC236}">
                <a16:creationId xmlns:a16="http://schemas.microsoft.com/office/drawing/2014/main" id="{A1981949-8BF1-4C44-94FA-E7D237323E26}"/>
              </a:ext>
            </a:extLst>
          </p:cNvPr>
          <p:cNvSpPr>
            <a:spLocks noGrp="1"/>
          </p:cNvSpPr>
          <p:nvPr/>
        </p:nvSpPr>
        <p:spPr>
          <a:xfrm>
            <a:off x="7096125" y="3714750"/>
            <a:ext cx="2095500" cy="47625"/>
          </a:xfrm>
          <a:prstGeom prst="rect">
            <a:avLst/>
          </a:prstGeom>
          <a:solidFill>
            <a:srgbClr val="287B83"/>
          </a:solidFill>
          <a:ln w="0">
            <a:noFill/>
          </a:ln>
        </p:spPr>
      </p:sp>
      <p:sp>
        <p:nvSpPr>
          <p:cNvPr id="45" name="Rectangle 44">
            <a:extLst>
              <a:ext uri="{FF2B5EF4-FFF2-40B4-BE49-F238E27FC236}">
                <a16:creationId xmlns:a16="http://schemas.microsoft.com/office/drawing/2014/main" id="{00E7BFB5-0E8E-4874-BD25-722A83D74A7B}"/>
              </a:ext>
            </a:extLst>
          </p:cNvPr>
          <p:cNvSpPr>
            <a:spLocks noGrp="1"/>
          </p:cNvSpPr>
          <p:nvPr/>
        </p:nvSpPr>
        <p:spPr>
          <a:xfrm>
            <a:off x="7267575" y="3876675"/>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Docker</a:t>
            </a:r>
          </a:p>
        </p:txBody>
      </p:sp>
      <p:sp>
        <p:nvSpPr>
          <p:cNvPr id="46" name="Rectangle 45">
            <a:extLst>
              <a:ext uri="{FF2B5EF4-FFF2-40B4-BE49-F238E27FC236}">
                <a16:creationId xmlns:a16="http://schemas.microsoft.com/office/drawing/2014/main" id="{28961366-E63F-45AA-BB6C-496F01445EA2}"/>
              </a:ext>
            </a:extLst>
          </p:cNvPr>
          <p:cNvSpPr>
            <a:spLocks noGrp="1"/>
          </p:cNvSpPr>
          <p:nvPr/>
        </p:nvSpPr>
        <p:spPr>
          <a:xfrm>
            <a:off x="7267575" y="4248150"/>
            <a:ext cx="1752600" cy="4000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services reproductibles</a:t>
            </a:r>
          </a:p>
        </p:txBody>
      </p:sp>
      <p:sp>
        <p:nvSpPr>
          <p:cNvPr id="47" name="Rectangle 46">
            <a:extLst>
              <a:ext uri="{FF2B5EF4-FFF2-40B4-BE49-F238E27FC236}">
                <a16:creationId xmlns:a16="http://schemas.microsoft.com/office/drawing/2014/main" id="{8B280BEA-8D69-4391-A1E7-55A41066562E}"/>
              </a:ext>
            </a:extLst>
          </p:cNvPr>
          <p:cNvSpPr>
            <a:spLocks noGrp="1"/>
          </p:cNvSpPr>
          <p:nvPr/>
        </p:nvSpPr>
        <p:spPr>
          <a:xfrm>
            <a:off x="9858375" y="3714750"/>
            <a:ext cx="1905000" cy="1047750"/>
          </a:xfrm>
          <a:prstGeom prst="rect">
            <a:avLst/>
          </a:prstGeom>
          <a:solidFill>
            <a:srgbClr val="FFFCF5"/>
          </a:solidFill>
          <a:ln w="10478">
            <a:solidFill>
              <a:srgbClr val="D7D1C5"/>
            </a:solidFill>
            <a:prstDash val="solid"/>
          </a:ln>
        </p:spPr>
      </p:sp>
      <p:sp>
        <p:nvSpPr>
          <p:cNvPr id="48" name="Rectangle 47">
            <a:extLst>
              <a:ext uri="{FF2B5EF4-FFF2-40B4-BE49-F238E27FC236}">
                <a16:creationId xmlns:a16="http://schemas.microsoft.com/office/drawing/2014/main" id="{FE82D940-9823-477A-8B90-832F1AADED48}"/>
              </a:ext>
            </a:extLst>
          </p:cNvPr>
          <p:cNvSpPr>
            <a:spLocks noGrp="1"/>
          </p:cNvSpPr>
          <p:nvPr/>
        </p:nvSpPr>
        <p:spPr>
          <a:xfrm>
            <a:off x="9858375" y="3714750"/>
            <a:ext cx="1905000" cy="47625"/>
          </a:xfrm>
          <a:prstGeom prst="rect">
            <a:avLst/>
          </a:prstGeom>
          <a:solidFill>
            <a:srgbClr val="C45A31"/>
          </a:solidFill>
          <a:ln w="0">
            <a:noFill/>
          </a:ln>
        </p:spPr>
      </p:sp>
      <p:sp>
        <p:nvSpPr>
          <p:cNvPr id="49" name="Rectangle 48">
            <a:extLst>
              <a:ext uri="{FF2B5EF4-FFF2-40B4-BE49-F238E27FC236}">
                <a16:creationId xmlns:a16="http://schemas.microsoft.com/office/drawing/2014/main" id="{03C3689A-CB65-4017-9832-D0B1EE57E6A4}"/>
              </a:ext>
            </a:extLst>
          </p:cNvPr>
          <p:cNvSpPr>
            <a:spLocks noGrp="1"/>
          </p:cNvSpPr>
          <p:nvPr/>
        </p:nvSpPr>
        <p:spPr>
          <a:xfrm>
            <a:off x="10029825" y="3876675"/>
            <a:ext cx="1562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Komodo</a:t>
            </a:r>
          </a:p>
        </p:txBody>
      </p:sp>
      <p:sp>
        <p:nvSpPr>
          <p:cNvPr id="50" name="Rectangle 49">
            <a:extLst>
              <a:ext uri="{FF2B5EF4-FFF2-40B4-BE49-F238E27FC236}">
                <a16:creationId xmlns:a16="http://schemas.microsoft.com/office/drawing/2014/main" id="{58B0B3EE-D60D-447B-B913-56E66EE69C42}"/>
              </a:ext>
            </a:extLst>
          </p:cNvPr>
          <p:cNvSpPr>
            <a:spLocks noGrp="1"/>
          </p:cNvSpPr>
          <p:nvPr/>
        </p:nvSpPr>
        <p:spPr>
          <a:xfrm>
            <a:off x="10029825" y="4248150"/>
            <a:ext cx="1562100" cy="4000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déploiement et logs</a:t>
            </a:r>
          </a:p>
        </p:txBody>
      </p:sp>
      <p:cxnSp>
        <p:nvCxnSpPr>
          <p:cNvPr id="108" name="Connecteur droit avec flèche 107"/>
          <p:cNvCxnSpPr>
            <a:stCxn id="35" idx="3"/>
            <a:endCxn id="39" idx="1"/>
          </p:cNvCxnSpPr>
          <p:nvPr/>
        </p:nvCxnSpPr>
        <p:spPr>
          <a:xfrm>
            <a:off x="3667125" y="4238625"/>
            <a:ext cx="666750" cy="0"/>
          </a:xfrm>
          <a:prstGeom prst="straightConnector1">
            <a:avLst/>
          </a:prstGeom>
          <a:ln w="19050">
            <a:solidFill>
              <a:srgbClr val="287B83"/>
            </a:solidFill>
            <a:prstDash val="solid"/>
            <a:tailEnd type="triangle" w="sm" len="sm"/>
          </a:ln>
        </p:spPr>
      </p:cxnSp>
      <p:cxnSp>
        <p:nvCxnSpPr>
          <p:cNvPr id="109" name="Connecteur droit avec flèche 108"/>
          <p:cNvCxnSpPr>
            <a:stCxn id="39" idx="3"/>
            <a:endCxn id="43" idx="1"/>
          </p:cNvCxnSpPr>
          <p:nvPr/>
        </p:nvCxnSpPr>
        <p:spPr>
          <a:xfrm>
            <a:off x="6429375" y="4238625"/>
            <a:ext cx="666750" cy="0"/>
          </a:xfrm>
          <a:prstGeom prst="straightConnector1">
            <a:avLst/>
          </a:prstGeom>
          <a:ln w="19050">
            <a:solidFill>
              <a:srgbClr val="287B83"/>
            </a:solidFill>
            <a:prstDash val="solid"/>
            <a:tailEnd type="triangle" w="sm" len="sm"/>
          </a:ln>
        </p:spPr>
      </p:cxnSp>
      <p:cxnSp>
        <p:nvCxnSpPr>
          <p:cNvPr id="110" name="Connecteur droit avec flèche 109"/>
          <p:cNvCxnSpPr>
            <a:stCxn id="43" idx="3"/>
            <a:endCxn id="47" idx="1"/>
          </p:cNvCxnSpPr>
          <p:nvPr/>
        </p:nvCxnSpPr>
        <p:spPr>
          <a:xfrm>
            <a:off x="9191625" y="4238625"/>
            <a:ext cx="666750" cy="0"/>
          </a:xfrm>
          <a:prstGeom prst="straightConnector1">
            <a:avLst/>
          </a:prstGeom>
          <a:ln w="19050">
            <a:solidFill>
              <a:srgbClr val="287B83"/>
            </a:solidFill>
            <a:prstDash val="solid"/>
            <a:tailEnd type="triangle" w="sm" len="sm"/>
          </a:ln>
        </p:spPr>
      </p:cxnSp>
      <p:cxnSp>
        <p:nvCxnSpPr>
          <p:cNvPr id="111" name="Connecteur droit avec flèche 110"/>
          <p:cNvCxnSpPr>
            <a:stCxn id="26" idx="2"/>
            <a:endCxn id="35" idx="0"/>
          </p:cNvCxnSpPr>
          <p:nvPr/>
        </p:nvCxnSpPr>
        <p:spPr>
          <a:xfrm flipH="1">
            <a:off x="2619375" y="2714625"/>
            <a:ext cx="8358188" cy="1000125"/>
          </a:xfrm>
          <a:prstGeom prst="straightConnector1">
            <a:avLst/>
          </a:prstGeom>
          <a:ln w="19050">
            <a:solidFill>
              <a:srgbClr val="287B83"/>
            </a:solidFill>
            <a:prstDash val="solid"/>
            <a:tailEnd type="triangle" w="sm" len="sm"/>
          </a:ln>
        </p:spPr>
      </p:cxnSp>
      <p:sp>
        <p:nvSpPr>
          <p:cNvPr id="55" name="Rectangle 54">
            <a:extLst>
              <a:ext uri="{FF2B5EF4-FFF2-40B4-BE49-F238E27FC236}">
                <a16:creationId xmlns:a16="http://schemas.microsoft.com/office/drawing/2014/main" id="{2A7AD2DE-4772-4196-9A56-212225E15060}"/>
              </a:ext>
            </a:extLst>
          </p:cNvPr>
          <p:cNvSpPr>
            <a:spLocks noGrp="1"/>
          </p:cNvSpPr>
          <p:nvPr/>
        </p:nvSpPr>
        <p:spPr>
          <a:xfrm>
            <a:off x="2190750" y="5572125"/>
            <a:ext cx="7810500" cy="361950"/>
          </a:xfrm>
          <a:prstGeom prst="rect">
            <a:avLst/>
          </a:prstGeom>
          <a:noFill/>
          <a:ln w="0">
            <a:noFill/>
          </a:ln>
        </p:spPr>
        <p:txBody>
          <a:bodyPr wrap="square" lIns="0" tIns="0" rIns="0" bIns="0" anchor="t">
            <a:noAutofit/>
          </a:bodyPr>
          <a:lstStyle/>
          <a:p>
            <a:pPr algn="ctr">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Dagster orchestre les dépendances et la planification quotidienne</a:t>
            </a:r>
          </a:p>
        </p:txBody>
      </p:sp>
      <p:sp>
        <p:nvSpPr>
          <p:cNvPr id="56" name="Rectangle 55">
            <a:extLst>
              <a:ext uri="{FF2B5EF4-FFF2-40B4-BE49-F238E27FC236}">
                <a16:creationId xmlns:a16="http://schemas.microsoft.com/office/drawing/2014/main" id="{17EA0202-FC58-4D4B-A0B4-06288718ADB1}"/>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Mohamed  Architecture DataOps</a:t>
            </a:r>
          </a:p>
        </p:txBody>
      </p:sp>
      <p:sp>
        <p:nvSpPr>
          <p:cNvPr id="57" name="Rectangle 56">
            <a:extLst>
              <a:ext uri="{FF2B5EF4-FFF2-40B4-BE49-F238E27FC236}">
                <a16:creationId xmlns:a16="http://schemas.microsoft.com/office/drawing/2014/main" id="{27FA23E4-205F-4C23-A1B5-587C43A25553}"/>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04 / 18</a:t>
            </a:r>
          </a:p>
        </p:txBody>
      </p:sp>
    </p:spTree>
    <p:extLst>
      <p:ext uri="{BB962C8B-B14F-4D97-AF65-F5344CB8AC3E}">
        <p14:creationId xmlns:p14="http://schemas.microsoft.com/office/powerpoint/2010/main" val="2063033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FB10FAF5-2CBF-4ABB-9438-CF20E955ECBB}"/>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F05071D2-AF08-4E36-AC7C-07CFCA4C94B3}"/>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DD354191-928F-4133-8F16-CA4A95F96F08}"/>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DataOps et orchestration Dagster</a:t>
            </a:r>
          </a:p>
        </p:txBody>
      </p:sp>
      <p:sp>
        <p:nvSpPr>
          <p:cNvPr id="4" name="Rectangle 3">
            <a:extLst>
              <a:ext uri="{FF2B5EF4-FFF2-40B4-BE49-F238E27FC236}">
                <a16:creationId xmlns:a16="http://schemas.microsoft.com/office/drawing/2014/main" id="{677DFD9F-8F52-4396-8E93-9FE6C6779C82}"/>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MOHAMED</a:t>
            </a:r>
          </a:p>
        </p:txBody>
      </p:sp>
      <p:sp>
        <p:nvSpPr>
          <p:cNvPr id="5" name="Rectangle 4">
            <a:extLst>
              <a:ext uri="{FF2B5EF4-FFF2-40B4-BE49-F238E27FC236}">
                <a16:creationId xmlns:a16="http://schemas.microsoft.com/office/drawing/2014/main" id="{73369A21-3570-4734-A104-6B9E03FD4E8D}"/>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Stockage local, dépendances explicites et exécution reproductible</a:t>
            </a:r>
          </a:p>
        </p:txBody>
      </p:sp>
      <p:sp>
        <p:nvSpPr>
          <p:cNvPr id="6" name="Rectangle 5">
            <a:extLst>
              <a:ext uri="{FF2B5EF4-FFF2-40B4-BE49-F238E27FC236}">
                <a16:creationId xmlns:a16="http://schemas.microsoft.com/office/drawing/2014/main" id="{43708456-CB53-493D-933A-E2249A88A5EF}"/>
              </a:ext>
            </a:extLst>
          </p:cNvPr>
          <p:cNvSpPr>
            <a:spLocks noGrp="1"/>
          </p:cNvSpPr>
          <p:nvPr/>
        </p:nvSpPr>
        <p:spPr>
          <a:xfrm>
            <a:off x="918525" y="1769085"/>
            <a:ext cx="1764812" cy="1252538"/>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414A15AC-6E59-40B3-ACC4-E0DBC8309EDD}"/>
              </a:ext>
            </a:extLst>
          </p:cNvPr>
          <p:cNvSpPr>
            <a:spLocks noGrp="1"/>
          </p:cNvSpPr>
          <p:nvPr/>
        </p:nvSpPr>
        <p:spPr>
          <a:xfrm>
            <a:off x="918525" y="1769085"/>
            <a:ext cx="1764812" cy="52189"/>
          </a:xfrm>
          <a:prstGeom prst="rect">
            <a:avLst/>
          </a:prstGeom>
          <a:solidFill>
            <a:srgbClr val="287B83"/>
          </a:solidFill>
          <a:ln w="0">
            <a:noFill/>
          </a:ln>
        </p:spPr>
      </p:sp>
      <p:sp>
        <p:nvSpPr>
          <p:cNvPr id="8" name="Rectangle 7">
            <a:extLst>
              <a:ext uri="{FF2B5EF4-FFF2-40B4-BE49-F238E27FC236}">
                <a16:creationId xmlns:a16="http://schemas.microsoft.com/office/drawing/2014/main" id="{A5A80845-0001-46BF-B509-F94575334C0C}"/>
              </a:ext>
            </a:extLst>
          </p:cNvPr>
          <p:cNvSpPr>
            <a:spLocks noGrp="1"/>
          </p:cNvSpPr>
          <p:nvPr/>
        </p:nvSpPr>
        <p:spPr>
          <a:xfrm>
            <a:off x="1120800" y="1931010"/>
            <a:ext cx="1391087" cy="354886"/>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Ingestion</a:t>
            </a:r>
          </a:p>
        </p:txBody>
      </p:sp>
      <p:sp>
        <p:nvSpPr>
          <p:cNvPr id="9" name="Rectangle 8">
            <a:extLst>
              <a:ext uri="{FF2B5EF4-FFF2-40B4-BE49-F238E27FC236}">
                <a16:creationId xmlns:a16="http://schemas.microsoft.com/office/drawing/2014/main" id="{D94718B9-4E03-4619-8C21-C543ACF893F4}"/>
              </a:ext>
            </a:extLst>
          </p:cNvPr>
          <p:cNvSpPr>
            <a:spLocks noGrp="1"/>
          </p:cNvSpPr>
          <p:nvPr/>
        </p:nvSpPr>
        <p:spPr>
          <a:xfrm>
            <a:off x="1120800" y="2302485"/>
            <a:ext cx="1391087" cy="542766"/>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dlt vers DuckDB</a:t>
            </a:r>
          </a:p>
        </p:txBody>
      </p:sp>
      <p:sp>
        <p:nvSpPr>
          <p:cNvPr id="10" name="Rectangle 9">
            <a:extLst>
              <a:ext uri="{FF2B5EF4-FFF2-40B4-BE49-F238E27FC236}">
                <a16:creationId xmlns:a16="http://schemas.microsoft.com/office/drawing/2014/main" id="{E1295E69-2AA9-4E79-955A-E90A068E743D}"/>
              </a:ext>
            </a:extLst>
          </p:cNvPr>
          <p:cNvSpPr>
            <a:spLocks noGrp="1"/>
          </p:cNvSpPr>
          <p:nvPr/>
        </p:nvSpPr>
        <p:spPr>
          <a:xfrm>
            <a:off x="3666880" y="1762125"/>
            <a:ext cx="1764812" cy="1252538"/>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EEE17BD9-3050-4DBE-93A5-90285218B438}"/>
              </a:ext>
            </a:extLst>
          </p:cNvPr>
          <p:cNvSpPr>
            <a:spLocks noGrp="1"/>
          </p:cNvSpPr>
          <p:nvPr/>
        </p:nvSpPr>
        <p:spPr>
          <a:xfrm>
            <a:off x="3666880" y="1762125"/>
            <a:ext cx="1764812" cy="52189"/>
          </a:xfrm>
          <a:prstGeom prst="rect">
            <a:avLst/>
          </a:prstGeom>
          <a:solidFill>
            <a:srgbClr val="287B83"/>
          </a:solidFill>
          <a:ln w="0">
            <a:noFill/>
          </a:ln>
        </p:spPr>
      </p:sp>
      <p:sp>
        <p:nvSpPr>
          <p:cNvPr id="12" name="Rectangle 11">
            <a:extLst>
              <a:ext uri="{FF2B5EF4-FFF2-40B4-BE49-F238E27FC236}">
                <a16:creationId xmlns:a16="http://schemas.microsoft.com/office/drawing/2014/main" id="{BBEB51ED-905A-4708-9973-B77404A19445}"/>
              </a:ext>
            </a:extLst>
          </p:cNvPr>
          <p:cNvSpPr>
            <a:spLocks noGrp="1"/>
          </p:cNvSpPr>
          <p:nvPr/>
        </p:nvSpPr>
        <p:spPr>
          <a:xfrm>
            <a:off x="3869155" y="1924050"/>
            <a:ext cx="1391087" cy="354886"/>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dbt run</a:t>
            </a:r>
          </a:p>
        </p:txBody>
      </p:sp>
      <p:sp>
        <p:nvSpPr>
          <p:cNvPr id="13" name="Rectangle 12">
            <a:extLst>
              <a:ext uri="{FF2B5EF4-FFF2-40B4-BE49-F238E27FC236}">
                <a16:creationId xmlns:a16="http://schemas.microsoft.com/office/drawing/2014/main" id="{38F30E65-F320-497D-92A8-81102432CB98}"/>
              </a:ext>
            </a:extLst>
          </p:cNvPr>
          <p:cNvSpPr>
            <a:spLocks noGrp="1"/>
          </p:cNvSpPr>
          <p:nvPr/>
        </p:nvSpPr>
        <p:spPr>
          <a:xfrm>
            <a:off x="3869155" y="2295525"/>
            <a:ext cx="1391087" cy="542766"/>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3 modèles SQL</a:t>
            </a:r>
          </a:p>
        </p:txBody>
      </p:sp>
      <p:sp>
        <p:nvSpPr>
          <p:cNvPr id="14" name="Rectangle 13">
            <a:extLst>
              <a:ext uri="{FF2B5EF4-FFF2-40B4-BE49-F238E27FC236}">
                <a16:creationId xmlns:a16="http://schemas.microsoft.com/office/drawing/2014/main" id="{8490BF5C-23A0-4E3B-BF5D-480E7864FFED}"/>
              </a:ext>
            </a:extLst>
          </p:cNvPr>
          <p:cNvSpPr>
            <a:spLocks noGrp="1"/>
          </p:cNvSpPr>
          <p:nvPr/>
        </p:nvSpPr>
        <p:spPr>
          <a:xfrm>
            <a:off x="6415235" y="1747837"/>
            <a:ext cx="1764812" cy="1252538"/>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917D173E-F7ED-4528-AA28-CEA14345CA1C}"/>
              </a:ext>
            </a:extLst>
          </p:cNvPr>
          <p:cNvSpPr>
            <a:spLocks noGrp="1"/>
          </p:cNvSpPr>
          <p:nvPr/>
        </p:nvSpPr>
        <p:spPr>
          <a:xfrm>
            <a:off x="6415235" y="1747837"/>
            <a:ext cx="1764812" cy="52189"/>
          </a:xfrm>
          <a:prstGeom prst="rect">
            <a:avLst/>
          </a:prstGeom>
          <a:solidFill>
            <a:srgbClr val="287B83"/>
          </a:solidFill>
          <a:ln w="0">
            <a:noFill/>
          </a:ln>
        </p:spPr>
      </p:sp>
      <p:sp>
        <p:nvSpPr>
          <p:cNvPr id="16" name="Rectangle 15">
            <a:extLst>
              <a:ext uri="{FF2B5EF4-FFF2-40B4-BE49-F238E27FC236}">
                <a16:creationId xmlns:a16="http://schemas.microsoft.com/office/drawing/2014/main" id="{EF292654-58A5-4C3A-A03D-2F16F2373C7B}"/>
              </a:ext>
            </a:extLst>
          </p:cNvPr>
          <p:cNvSpPr>
            <a:spLocks noGrp="1"/>
          </p:cNvSpPr>
          <p:nvPr/>
        </p:nvSpPr>
        <p:spPr>
          <a:xfrm>
            <a:off x="6617510" y="1909762"/>
            <a:ext cx="1391087" cy="354886"/>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dbt test</a:t>
            </a:r>
          </a:p>
        </p:txBody>
      </p:sp>
      <p:sp>
        <p:nvSpPr>
          <p:cNvPr id="17" name="Rectangle 16">
            <a:extLst>
              <a:ext uri="{FF2B5EF4-FFF2-40B4-BE49-F238E27FC236}">
                <a16:creationId xmlns:a16="http://schemas.microsoft.com/office/drawing/2014/main" id="{3A985873-1E12-4B62-AC93-49B0CFEDCD9C}"/>
              </a:ext>
            </a:extLst>
          </p:cNvPr>
          <p:cNvSpPr>
            <a:spLocks noGrp="1"/>
          </p:cNvSpPr>
          <p:nvPr/>
        </p:nvSpPr>
        <p:spPr>
          <a:xfrm>
            <a:off x="6617510" y="2281237"/>
            <a:ext cx="1391087" cy="542766"/>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lang="fr-FR" sz="1125" dirty="0">
                <a:solidFill>
                  <a:srgbClr val="66727C"/>
                </a:solidFill>
                <a:latin typeface="Avenir Next"/>
                <a:ea typeface="Avenir Next"/>
                <a:cs typeface="Avenir Next"/>
              </a:rPr>
              <a:t>11 </a:t>
            </a:r>
            <a:r>
              <a:rPr sz="1125" b="0" dirty="0">
                <a:solidFill>
                  <a:srgbClr val="66727C"/>
                </a:solidFill>
                <a:latin typeface="Avenir Next"/>
                <a:ea typeface="Avenir Next"/>
                <a:cs typeface="Avenir Next"/>
              </a:rPr>
              <a:t>tests</a:t>
            </a:r>
          </a:p>
        </p:txBody>
      </p:sp>
      <p:sp>
        <p:nvSpPr>
          <p:cNvPr id="18" name="Rectangle 17">
            <a:extLst>
              <a:ext uri="{FF2B5EF4-FFF2-40B4-BE49-F238E27FC236}">
                <a16:creationId xmlns:a16="http://schemas.microsoft.com/office/drawing/2014/main" id="{2956C957-ED49-420B-94D7-98D038CC66EE}"/>
              </a:ext>
            </a:extLst>
          </p:cNvPr>
          <p:cNvSpPr>
            <a:spLocks noGrp="1"/>
          </p:cNvSpPr>
          <p:nvPr/>
        </p:nvSpPr>
        <p:spPr>
          <a:xfrm>
            <a:off x="9396561" y="1764506"/>
            <a:ext cx="1764812" cy="1252538"/>
          </a:xfrm>
          <a:prstGeom prst="rect">
            <a:avLst/>
          </a:prstGeom>
          <a:solidFill>
            <a:srgbClr val="FFFCF5"/>
          </a:solidFill>
          <a:ln w="10478">
            <a:solidFill>
              <a:srgbClr val="D7D1C5"/>
            </a:solidFill>
            <a:prstDash val="solid"/>
          </a:ln>
        </p:spPr>
        <p:txBody>
          <a:bodyPr/>
          <a:lstStyle/>
          <a:p>
            <a:endParaRPr lang="fr-FR" dirty="0"/>
          </a:p>
        </p:txBody>
      </p:sp>
      <p:sp>
        <p:nvSpPr>
          <p:cNvPr id="19" name="Rectangle 18">
            <a:extLst>
              <a:ext uri="{FF2B5EF4-FFF2-40B4-BE49-F238E27FC236}">
                <a16:creationId xmlns:a16="http://schemas.microsoft.com/office/drawing/2014/main" id="{FAF35B48-8D7A-4CBF-9035-892352EE2C39}"/>
              </a:ext>
            </a:extLst>
          </p:cNvPr>
          <p:cNvSpPr>
            <a:spLocks noGrp="1"/>
          </p:cNvSpPr>
          <p:nvPr/>
        </p:nvSpPr>
        <p:spPr>
          <a:xfrm>
            <a:off x="9396561" y="1764506"/>
            <a:ext cx="1764812" cy="52189"/>
          </a:xfrm>
          <a:prstGeom prst="rect">
            <a:avLst/>
          </a:prstGeom>
          <a:solidFill>
            <a:srgbClr val="287B83"/>
          </a:solidFill>
          <a:ln w="0">
            <a:noFill/>
          </a:ln>
        </p:spPr>
      </p:sp>
      <p:sp>
        <p:nvSpPr>
          <p:cNvPr id="20" name="Rectangle 19">
            <a:extLst>
              <a:ext uri="{FF2B5EF4-FFF2-40B4-BE49-F238E27FC236}">
                <a16:creationId xmlns:a16="http://schemas.microsoft.com/office/drawing/2014/main" id="{CEF663AA-1A98-42EE-BA87-80972633123F}"/>
              </a:ext>
            </a:extLst>
          </p:cNvPr>
          <p:cNvSpPr>
            <a:spLocks noGrp="1"/>
          </p:cNvSpPr>
          <p:nvPr/>
        </p:nvSpPr>
        <p:spPr>
          <a:xfrm>
            <a:off x="9598836" y="1926431"/>
            <a:ext cx="1391087" cy="354886"/>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Features</a:t>
            </a:r>
          </a:p>
        </p:txBody>
      </p:sp>
      <p:sp>
        <p:nvSpPr>
          <p:cNvPr id="21" name="Rectangle 20">
            <a:extLst>
              <a:ext uri="{FF2B5EF4-FFF2-40B4-BE49-F238E27FC236}">
                <a16:creationId xmlns:a16="http://schemas.microsoft.com/office/drawing/2014/main" id="{849429E5-F262-42B2-8179-B54E8DE1448B}"/>
              </a:ext>
            </a:extLst>
          </p:cNvPr>
          <p:cNvSpPr>
            <a:spLocks noGrp="1"/>
          </p:cNvSpPr>
          <p:nvPr/>
        </p:nvSpPr>
        <p:spPr>
          <a:xfrm>
            <a:off x="9598836" y="2297906"/>
            <a:ext cx="1391087" cy="542766"/>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dirty="0">
                <a:solidFill>
                  <a:srgbClr val="66727C"/>
                </a:solidFill>
                <a:latin typeface="Avenir Next"/>
                <a:ea typeface="Avenir Next"/>
                <a:cs typeface="Avenir Next"/>
              </a:rPr>
              <a:t>mart de </a:t>
            </a:r>
            <a:r>
              <a:rPr lang="fr-FR" sz="1125" dirty="0">
                <a:solidFill>
                  <a:srgbClr val="66727C"/>
                </a:solidFill>
                <a:latin typeface="Avenir Next"/>
                <a:ea typeface="Avenir Next"/>
                <a:cs typeface="Avenir Next"/>
              </a:rPr>
              <a:t>47</a:t>
            </a:r>
            <a:r>
              <a:rPr sz="1125" b="0" dirty="0">
                <a:solidFill>
                  <a:srgbClr val="66727C"/>
                </a:solidFill>
                <a:latin typeface="Avenir Next"/>
                <a:ea typeface="Avenir Next"/>
                <a:cs typeface="Avenir Next"/>
              </a:rPr>
              <a:t> variables</a:t>
            </a:r>
          </a:p>
        </p:txBody>
      </p:sp>
      <p:cxnSp>
        <p:nvCxnSpPr>
          <p:cNvPr id="75" name="Connecteur droit avec flèche 74"/>
          <p:cNvCxnSpPr>
            <a:stCxn id="6" idx="3"/>
            <a:endCxn id="10" idx="1"/>
          </p:cNvCxnSpPr>
          <p:nvPr/>
        </p:nvCxnSpPr>
        <p:spPr>
          <a:xfrm flipV="1">
            <a:off x="2683337" y="2388394"/>
            <a:ext cx="983543" cy="6960"/>
          </a:xfrm>
          <a:prstGeom prst="straightConnector1">
            <a:avLst/>
          </a:prstGeom>
          <a:ln w="19050">
            <a:solidFill>
              <a:srgbClr val="287B83"/>
            </a:solidFill>
            <a:prstDash val="solid"/>
            <a:tailEnd type="triangle" w="sm" len="sm"/>
          </a:ln>
        </p:spPr>
      </p:cxnSp>
      <p:cxnSp>
        <p:nvCxnSpPr>
          <p:cNvPr id="76" name="Connecteur droit avec flèche 75"/>
          <p:cNvCxnSpPr>
            <a:stCxn id="10" idx="3"/>
            <a:endCxn id="14" idx="1"/>
          </p:cNvCxnSpPr>
          <p:nvPr/>
        </p:nvCxnSpPr>
        <p:spPr>
          <a:xfrm flipV="1">
            <a:off x="5431692" y="2374106"/>
            <a:ext cx="983543" cy="14288"/>
          </a:xfrm>
          <a:prstGeom prst="straightConnector1">
            <a:avLst/>
          </a:prstGeom>
          <a:ln w="19050">
            <a:solidFill>
              <a:srgbClr val="287B83"/>
            </a:solidFill>
            <a:prstDash val="solid"/>
            <a:tailEnd type="triangle" w="sm" len="sm"/>
          </a:ln>
        </p:spPr>
      </p:cxnSp>
      <p:cxnSp>
        <p:nvCxnSpPr>
          <p:cNvPr id="77" name="Connecteur droit avec flèche 76"/>
          <p:cNvCxnSpPr>
            <a:stCxn id="14" idx="3"/>
            <a:endCxn id="18" idx="1"/>
          </p:cNvCxnSpPr>
          <p:nvPr/>
        </p:nvCxnSpPr>
        <p:spPr>
          <a:xfrm>
            <a:off x="8180047" y="2374106"/>
            <a:ext cx="1216514" cy="16669"/>
          </a:xfrm>
          <a:prstGeom prst="straightConnector1">
            <a:avLst/>
          </a:prstGeom>
          <a:ln w="19050">
            <a:solidFill>
              <a:srgbClr val="287B83"/>
            </a:solidFill>
            <a:prstDash val="solid"/>
            <a:tailEnd type="triangle" w="sm" len="sm"/>
          </a:ln>
        </p:spPr>
      </p:cxnSp>
      <p:sp>
        <p:nvSpPr>
          <p:cNvPr id="35" name="Rectangle 34">
            <a:extLst>
              <a:ext uri="{FF2B5EF4-FFF2-40B4-BE49-F238E27FC236}">
                <a16:creationId xmlns:a16="http://schemas.microsoft.com/office/drawing/2014/main" id="{2C8284F5-6A31-45EE-9EB4-3616DD749727}"/>
              </a:ext>
            </a:extLst>
          </p:cNvPr>
          <p:cNvSpPr>
            <a:spLocks noGrp="1"/>
          </p:cNvSpPr>
          <p:nvPr/>
        </p:nvSpPr>
        <p:spPr>
          <a:xfrm>
            <a:off x="809625" y="3905250"/>
            <a:ext cx="4762500" cy="1333500"/>
          </a:xfrm>
          <a:prstGeom prst="rect">
            <a:avLst/>
          </a:prstGeom>
          <a:solidFill>
            <a:srgbClr val="FFFCF5"/>
          </a:solidFill>
          <a:ln w="10478">
            <a:solidFill>
              <a:srgbClr val="D7D1C5"/>
            </a:solidFill>
            <a:prstDash val="solid"/>
          </a:ln>
        </p:spPr>
      </p:sp>
      <p:sp>
        <p:nvSpPr>
          <p:cNvPr id="36" name="Rectangle 35">
            <a:extLst>
              <a:ext uri="{FF2B5EF4-FFF2-40B4-BE49-F238E27FC236}">
                <a16:creationId xmlns:a16="http://schemas.microsoft.com/office/drawing/2014/main" id="{4F206673-542C-4E75-A603-EEC9D845D124}"/>
              </a:ext>
            </a:extLst>
          </p:cNvPr>
          <p:cNvSpPr>
            <a:spLocks noGrp="1"/>
          </p:cNvSpPr>
          <p:nvPr/>
        </p:nvSpPr>
        <p:spPr>
          <a:xfrm>
            <a:off x="809625" y="3905250"/>
            <a:ext cx="4762500" cy="47625"/>
          </a:xfrm>
          <a:prstGeom prst="rect">
            <a:avLst/>
          </a:prstGeom>
          <a:solidFill>
            <a:srgbClr val="173B5D"/>
          </a:solidFill>
          <a:ln w="0">
            <a:noFill/>
          </a:ln>
        </p:spPr>
      </p:sp>
      <p:sp>
        <p:nvSpPr>
          <p:cNvPr id="37" name="Rectangle 36">
            <a:extLst>
              <a:ext uri="{FF2B5EF4-FFF2-40B4-BE49-F238E27FC236}">
                <a16:creationId xmlns:a16="http://schemas.microsoft.com/office/drawing/2014/main" id="{6A8D5D67-570A-44E5-B1E3-34BB2E2814C9}"/>
              </a:ext>
            </a:extLst>
          </p:cNvPr>
          <p:cNvSpPr>
            <a:spLocks noGrp="1"/>
          </p:cNvSpPr>
          <p:nvPr/>
        </p:nvSpPr>
        <p:spPr>
          <a:xfrm>
            <a:off x="981075" y="4067175"/>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DuckDB</a:t>
            </a:r>
          </a:p>
        </p:txBody>
      </p:sp>
      <p:sp>
        <p:nvSpPr>
          <p:cNvPr id="38" name="Rectangle 37">
            <a:extLst>
              <a:ext uri="{FF2B5EF4-FFF2-40B4-BE49-F238E27FC236}">
                <a16:creationId xmlns:a16="http://schemas.microsoft.com/office/drawing/2014/main" id="{0ED23ACB-BD80-4E7C-B5E0-8030801BB069}"/>
              </a:ext>
            </a:extLst>
          </p:cNvPr>
          <p:cNvSpPr>
            <a:spLocks noGrp="1"/>
          </p:cNvSpPr>
          <p:nvPr/>
        </p:nvSpPr>
        <p:spPr>
          <a:xfrm>
            <a:off x="981075" y="4438650"/>
            <a:ext cx="4419600" cy="6858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Un fichier analytique local, sans serveur de base de données à administrer</a:t>
            </a:r>
          </a:p>
        </p:txBody>
      </p:sp>
      <p:sp>
        <p:nvSpPr>
          <p:cNvPr id="39" name="Rectangle 38">
            <a:extLst>
              <a:ext uri="{FF2B5EF4-FFF2-40B4-BE49-F238E27FC236}">
                <a16:creationId xmlns:a16="http://schemas.microsoft.com/office/drawing/2014/main" id="{90E7B851-DEC1-40BC-9D34-14CA0916942E}"/>
              </a:ext>
            </a:extLst>
          </p:cNvPr>
          <p:cNvSpPr>
            <a:spLocks noGrp="1"/>
          </p:cNvSpPr>
          <p:nvPr/>
        </p:nvSpPr>
        <p:spPr>
          <a:xfrm>
            <a:off x="6619875" y="3905250"/>
            <a:ext cx="4762500" cy="1333500"/>
          </a:xfrm>
          <a:prstGeom prst="rect">
            <a:avLst/>
          </a:prstGeom>
          <a:solidFill>
            <a:srgbClr val="FFFCF5"/>
          </a:solidFill>
          <a:ln w="10478">
            <a:solidFill>
              <a:srgbClr val="D7D1C5"/>
            </a:solidFill>
            <a:prstDash val="solid"/>
          </a:ln>
        </p:spPr>
      </p:sp>
      <p:sp>
        <p:nvSpPr>
          <p:cNvPr id="40" name="Rectangle 39">
            <a:extLst>
              <a:ext uri="{FF2B5EF4-FFF2-40B4-BE49-F238E27FC236}">
                <a16:creationId xmlns:a16="http://schemas.microsoft.com/office/drawing/2014/main" id="{99B62380-7A78-428F-93C5-89A6AB4B4003}"/>
              </a:ext>
            </a:extLst>
          </p:cNvPr>
          <p:cNvSpPr>
            <a:spLocks noGrp="1"/>
          </p:cNvSpPr>
          <p:nvPr/>
        </p:nvSpPr>
        <p:spPr>
          <a:xfrm>
            <a:off x="6619875" y="3905250"/>
            <a:ext cx="4762500" cy="47625"/>
          </a:xfrm>
          <a:prstGeom prst="rect">
            <a:avLst/>
          </a:prstGeom>
          <a:solidFill>
            <a:srgbClr val="C45A31"/>
          </a:solidFill>
          <a:ln w="0">
            <a:noFill/>
          </a:ln>
        </p:spPr>
      </p:sp>
      <p:sp>
        <p:nvSpPr>
          <p:cNvPr id="41" name="Rectangle 40">
            <a:extLst>
              <a:ext uri="{FF2B5EF4-FFF2-40B4-BE49-F238E27FC236}">
                <a16:creationId xmlns:a16="http://schemas.microsoft.com/office/drawing/2014/main" id="{CF3DE82C-7EE0-433F-851A-E1EA368DF652}"/>
              </a:ext>
            </a:extLst>
          </p:cNvPr>
          <p:cNvSpPr>
            <a:spLocks noGrp="1"/>
          </p:cNvSpPr>
          <p:nvPr/>
        </p:nvSpPr>
        <p:spPr>
          <a:xfrm>
            <a:off x="6791325" y="4067175"/>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lang="fr-FR" dirty="0" err="1"/>
              <a:t>Dagster</a:t>
            </a:r>
            <a:r>
              <a:rPr lang="fr-FR" dirty="0"/>
              <a:t> — Planification</a:t>
            </a:r>
            <a:endParaRPr lang="fr-FR" sz="1500" b="1" dirty="0">
              <a:solidFill>
                <a:srgbClr val="173B5D"/>
              </a:solidFill>
              <a:latin typeface="Avenir Next"/>
              <a:ea typeface="Avenir Next"/>
              <a:cs typeface="Avenir Next"/>
            </a:endParaRPr>
          </a:p>
        </p:txBody>
      </p:sp>
      <p:sp>
        <p:nvSpPr>
          <p:cNvPr id="42" name="Rectangle 41">
            <a:extLst>
              <a:ext uri="{FF2B5EF4-FFF2-40B4-BE49-F238E27FC236}">
                <a16:creationId xmlns:a16="http://schemas.microsoft.com/office/drawing/2014/main" id="{7516D24F-7EE1-498E-84D0-2234BD5D7DF0}"/>
              </a:ext>
            </a:extLst>
          </p:cNvPr>
          <p:cNvSpPr>
            <a:spLocks noGrp="1"/>
          </p:cNvSpPr>
          <p:nvPr/>
        </p:nvSpPr>
        <p:spPr>
          <a:xfrm>
            <a:off x="6791325" y="4438650"/>
            <a:ext cx="4419600" cy="6858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dirty="0" err="1">
                <a:solidFill>
                  <a:srgbClr val="66727C"/>
                </a:solidFill>
                <a:latin typeface="Avenir Next"/>
                <a:ea typeface="Avenir Next"/>
                <a:cs typeface="Avenir Next"/>
              </a:rPr>
              <a:t>Chaque</a:t>
            </a:r>
            <a:r>
              <a:rPr sz="1125" b="0" dirty="0">
                <a:solidFill>
                  <a:srgbClr val="66727C"/>
                </a:solidFill>
                <a:latin typeface="Avenir Next"/>
                <a:ea typeface="Avenir Next"/>
                <a:cs typeface="Avenir Next"/>
              </a:rPr>
              <a:t> jour à 06:00, </a:t>
            </a:r>
            <a:r>
              <a:rPr sz="1125" b="0" dirty="0" err="1">
                <a:solidFill>
                  <a:srgbClr val="66727C"/>
                </a:solidFill>
                <a:latin typeface="Avenir Next"/>
                <a:ea typeface="Avenir Next"/>
                <a:cs typeface="Avenir Next"/>
              </a:rPr>
              <a:t>heure</a:t>
            </a:r>
            <a:r>
              <a:rPr sz="1125" b="0" dirty="0">
                <a:solidFill>
                  <a:srgbClr val="66727C"/>
                </a:solidFill>
                <a:latin typeface="Avenir Next"/>
                <a:ea typeface="Avenir Next"/>
                <a:cs typeface="Avenir Next"/>
              </a:rPr>
              <a:t> de Casablanca</a:t>
            </a:r>
          </a:p>
          <a:p>
            <a:pPr algn="l">
              <a:lnSpc>
                <a:spcPct val="105000"/>
              </a:lnSpc>
              <a:buNone/>
              <a:defRPr sz="1125" b="0">
                <a:solidFill>
                  <a:srgbClr val="66727C"/>
                </a:solidFill>
                <a:latin typeface="Avenir Next"/>
                <a:ea typeface="Avenir Next"/>
                <a:cs typeface="Avenir Next"/>
              </a:defRPr>
            </a:pPr>
            <a:r>
              <a:rPr sz="1125" b="0" dirty="0">
                <a:solidFill>
                  <a:srgbClr val="66727C"/>
                </a:solidFill>
                <a:latin typeface="Avenir Next"/>
                <a:ea typeface="Avenir Next"/>
                <a:cs typeface="Avenir Next"/>
              </a:rPr>
              <a:t>Le drift </a:t>
            </a:r>
            <a:r>
              <a:rPr sz="1125" b="0" dirty="0" err="1">
                <a:solidFill>
                  <a:srgbClr val="66727C"/>
                </a:solidFill>
                <a:latin typeface="Avenir Next"/>
                <a:ea typeface="Avenir Next"/>
                <a:cs typeface="Avenir Next"/>
              </a:rPr>
              <a:t>est</a:t>
            </a:r>
            <a:r>
              <a:rPr sz="1125" b="0" dirty="0">
                <a:solidFill>
                  <a:srgbClr val="66727C"/>
                </a:solidFill>
                <a:latin typeface="Avenir Next"/>
                <a:ea typeface="Avenir Next"/>
                <a:cs typeface="Avenir Next"/>
              </a:rPr>
              <a:t> </a:t>
            </a:r>
            <a:r>
              <a:rPr sz="1125" b="0" dirty="0" err="1">
                <a:solidFill>
                  <a:srgbClr val="66727C"/>
                </a:solidFill>
                <a:latin typeface="Avenir Next"/>
                <a:ea typeface="Avenir Next"/>
                <a:cs typeface="Avenir Next"/>
              </a:rPr>
              <a:t>produit</a:t>
            </a:r>
            <a:r>
              <a:rPr sz="1125" b="0" dirty="0">
                <a:solidFill>
                  <a:srgbClr val="66727C"/>
                </a:solidFill>
                <a:latin typeface="Avenir Next"/>
                <a:ea typeface="Avenir Next"/>
                <a:cs typeface="Avenir Next"/>
              </a:rPr>
              <a:t> après le training et ne </a:t>
            </a:r>
            <a:r>
              <a:rPr sz="1125" b="0" dirty="0" err="1">
                <a:solidFill>
                  <a:srgbClr val="66727C"/>
                </a:solidFill>
                <a:latin typeface="Avenir Next"/>
                <a:ea typeface="Avenir Next"/>
                <a:cs typeface="Avenir Next"/>
              </a:rPr>
              <a:t>déclenche</a:t>
            </a:r>
            <a:r>
              <a:rPr sz="1125" b="0" dirty="0">
                <a:solidFill>
                  <a:srgbClr val="66727C"/>
                </a:solidFill>
                <a:latin typeface="Avenir Next"/>
                <a:ea typeface="Avenir Next"/>
                <a:cs typeface="Avenir Next"/>
              </a:rPr>
              <a:t> pas le job</a:t>
            </a:r>
          </a:p>
        </p:txBody>
      </p:sp>
      <p:sp>
        <p:nvSpPr>
          <p:cNvPr id="43" name="Rectangle 42">
            <a:extLst>
              <a:ext uri="{FF2B5EF4-FFF2-40B4-BE49-F238E27FC236}">
                <a16:creationId xmlns:a16="http://schemas.microsoft.com/office/drawing/2014/main" id="{0BB61D25-D5E6-468B-9307-CC9326EAF4FE}"/>
              </a:ext>
            </a:extLst>
          </p:cNvPr>
          <p:cNvSpPr>
            <a:spLocks noGrp="1"/>
          </p:cNvSpPr>
          <p:nvPr/>
        </p:nvSpPr>
        <p:spPr>
          <a:xfrm>
            <a:off x="2476500" y="5762625"/>
            <a:ext cx="7239000" cy="323850"/>
          </a:xfrm>
          <a:prstGeom prst="rect">
            <a:avLst/>
          </a:prstGeom>
          <a:noFill/>
          <a:ln w="0">
            <a:noFill/>
          </a:ln>
        </p:spPr>
        <p:txBody>
          <a:bodyPr wrap="square" lIns="0" tIns="0" rIns="0" bIns="0" anchor="t">
            <a:noAutofit/>
          </a:bodyPr>
          <a:lstStyle/>
          <a:p>
            <a:pPr algn="ctr">
              <a:lnSpc>
                <a:spcPct val="103000"/>
              </a:lnSpc>
              <a:buNone/>
              <a:defRPr sz="1575" b="1">
                <a:solidFill>
                  <a:srgbClr val="173B5D"/>
                </a:solidFill>
                <a:latin typeface="Avenir Next"/>
                <a:ea typeface="Avenir Next"/>
                <a:cs typeface="Avenir Next"/>
              </a:defRPr>
            </a:pPr>
            <a:r>
              <a:rPr sz="1575" b="1" dirty="0" err="1">
                <a:solidFill>
                  <a:srgbClr val="173B5D"/>
                </a:solidFill>
                <a:latin typeface="Avenir Next"/>
                <a:ea typeface="Avenir Next"/>
                <a:cs typeface="Avenir Next"/>
              </a:rPr>
              <a:t>Même</a:t>
            </a:r>
            <a:r>
              <a:rPr sz="1575" b="1" dirty="0">
                <a:solidFill>
                  <a:srgbClr val="173B5D"/>
                </a:solidFill>
                <a:latin typeface="Avenir Next"/>
                <a:ea typeface="Avenir Next"/>
                <a:cs typeface="Avenir Next"/>
              </a:rPr>
              <a:t> point </a:t>
            </a:r>
            <a:r>
              <a:rPr sz="1575" b="1" dirty="0" err="1">
                <a:solidFill>
                  <a:srgbClr val="173B5D"/>
                </a:solidFill>
                <a:latin typeface="Avenir Next"/>
                <a:ea typeface="Avenir Next"/>
                <a:cs typeface="Avenir Next"/>
              </a:rPr>
              <a:t>d'entrée</a:t>
            </a:r>
            <a:r>
              <a:rPr sz="1575" b="1" dirty="0">
                <a:solidFill>
                  <a:srgbClr val="173B5D"/>
                </a:solidFill>
                <a:latin typeface="Avenir Next"/>
                <a:ea typeface="Avenir Next"/>
                <a:cs typeface="Avenir Next"/>
              </a:rPr>
              <a:t> </a:t>
            </a:r>
            <a:r>
              <a:rPr sz="1575" b="1" dirty="0" err="1">
                <a:solidFill>
                  <a:srgbClr val="173B5D"/>
                </a:solidFill>
                <a:latin typeface="Avenir Next"/>
                <a:ea typeface="Avenir Next"/>
                <a:cs typeface="Avenir Next"/>
              </a:rPr>
              <a:t>en</a:t>
            </a:r>
            <a:r>
              <a:rPr sz="1575" b="1" dirty="0">
                <a:solidFill>
                  <a:srgbClr val="173B5D"/>
                </a:solidFill>
                <a:latin typeface="Avenir Next"/>
                <a:ea typeface="Avenir Next"/>
                <a:cs typeface="Avenir Next"/>
              </a:rPr>
              <a:t> local, </a:t>
            </a:r>
            <a:r>
              <a:rPr sz="1575" b="1" dirty="0" err="1">
                <a:solidFill>
                  <a:srgbClr val="173B5D"/>
                </a:solidFill>
                <a:latin typeface="Avenir Next"/>
                <a:ea typeface="Avenir Next"/>
                <a:cs typeface="Avenir Next"/>
              </a:rPr>
              <a:t>en</a:t>
            </a:r>
            <a:r>
              <a:rPr sz="1575" b="1" dirty="0">
                <a:solidFill>
                  <a:srgbClr val="173B5D"/>
                </a:solidFill>
                <a:latin typeface="Avenir Next"/>
                <a:ea typeface="Avenir Next"/>
                <a:cs typeface="Avenir Next"/>
              </a:rPr>
              <a:t> CI et dans Docker</a:t>
            </a:r>
          </a:p>
        </p:txBody>
      </p:sp>
      <p:sp>
        <p:nvSpPr>
          <p:cNvPr id="44" name="Rectangle 43">
            <a:extLst>
              <a:ext uri="{FF2B5EF4-FFF2-40B4-BE49-F238E27FC236}">
                <a16:creationId xmlns:a16="http://schemas.microsoft.com/office/drawing/2014/main" id="{9A274895-CA2C-4724-AF46-3C10B8FB9295}"/>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Mohamed  Orchestration</a:t>
            </a:r>
          </a:p>
        </p:txBody>
      </p:sp>
      <p:sp>
        <p:nvSpPr>
          <p:cNvPr id="45" name="Rectangle 44">
            <a:extLst>
              <a:ext uri="{FF2B5EF4-FFF2-40B4-BE49-F238E27FC236}">
                <a16:creationId xmlns:a16="http://schemas.microsoft.com/office/drawing/2014/main" id="{27A540D1-DAE8-4EE0-ACA5-330B30D03063}"/>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05 / 18</a:t>
            </a:r>
          </a:p>
        </p:txBody>
      </p:sp>
    </p:spTree>
    <p:extLst>
      <p:ext uri="{BB962C8B-B14F-4D97-AF65-F5344CB8AC3E}">
        <p14:creationId xmlns:p14="http://schemas.microsoft.com/office/powerpoint/2010/main" val="176750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674C2E98-E965-4882-BD02-180A40E5CB0E}"/>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B1B54E00-2FD8-4A54-B91E-FE77A7244206}"/>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646ECE9C-41E8-43A7-B807-EB99BB03BEC2}"/>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Qualité et traçabilité</a:t>
            </a:r>
          </a:p>
        </p:txBody>
      </p:sp>
      <p:sp>
        <p:nvSpPr>
          <p:cNvPr id="4" name="Rectangle 3">
            <a:extLst>
              <a:ext uri="{FF2B5EF4-FFF2-40B4-BE49-F238E27FC236}">
                <a16:creationId xmlns:a16="http://schemas.microsoft.com/office/drawing/2014/main" id="{6D7B6C88-A55B-4A4C-8CF9-3073D637E33D}"/>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HAMZA</a:t>
            </a:r>
          </a:p>
        </p:txBody>
      </p:sp>
      <p:sp>
        <p:nvSpPr>
          <p:cNvPr id="5" name="Rectangle 4">
            <a:extLst>
              <a:ext uri="{FF2B5EF4-FFF2-40B4-BE49-F238E27FC236}">
                <a16:creationId xmlns:a16="http://schemas.microsoft.com/office/drawing/2014/main" id="{C6B4A03F-7178-4AB2-9A0C-5EE72E2C3C76}"/>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Une barrière bloquante avant l'entraînement</a:t>
            </a:r>
          </a:p>
        </p:txBody>
      </p:sp>
      <p:sp>
        <p:nvSpPr>
          <p:cNvPr id="6" name="Rectangle 5">
            <a:extLst>
              <a:ext uri="{FF2B5EF4-FFF2-40B4-BE49-F238E27FC236}">
                <a16:creationId xmlns:a16="http://schemas.microsoft.com/office/drawing/2014/main" id="{69AB3A49-0F34-4168-B2A5-97881B74F559}"/>
              </a:ext>
            </a:extLst>
          </p:cNvPr>
          <p:cNvSpPr>
            <a:spLocks noGrp="1"/>
          </p:cNvSpPr>
          <p:nvPr/>
        </p:nvSpPr>
        <p:spPr>
          <a:xfrm>
            <a:off x="523875" y="1666875"/>
            <a:ext cx="2428875" cy="1143000"/>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BACE1F03-E704-4AD3-A5FB-476C7712F693}"/>
              </a:ext>
            </a:extLst>
          </p:cNvPr>
          <p:cNvSpPr>
            <a:spLocks noGrp="1"/>
          </p:cNvSpPr>
          <p:nvPr/>
        </p:nvSpPr>
        <p:spPr>
          <a:xfrm>
            <a:off x="523875" y="1666875"/>
            <a:ext cx="2428875" cy="47625"/>
          </a:xfrm>
          <a:prstGeom prst="rect">
            <a:avLst/>
          </a:prstGeom>
          <a:solidFill>
            <a:srgbClr val="287B83"/>
          </a:solidFill>
          <a:ln w="0">
            <a:noFill/>
          </a:ln>
        </p:spPr>
      </p:sp>
      <p:sp>
        <p:nvSpPr>
          <p:cNvPr id="8" name="Rectangle 7">
            <a:extLst>
              <a:ext uri="{FF2B5EF4-FFF2-40B4-BE49-F238E27FC236}">
                <a16:creationId xmlns:a16="http://schemas.microsoft.com/office/drawing/2014/main" id="{20BAC6B9-0D0C-4005-ADA6-3F040B1DB096}"/>
              </a:ext>
            </a:extLst>
          </p:cNvPr>
          <p:cNvSpPr>
            <a:spLocks noGrp="1"/>
          </p:cNvSpPr>
          <p:nvPr/>
        </p:nvSpPr>
        <p:spPr>
          <a:xfrm>
            <a:off x="695325" y="1828800"/>
            <a:ext cx="2085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Schéma</a:t>
            </a:r>
          </a:p>
        </p:txBody>
      </p:sp>
      <p:sp>
        <p:nvSpPr>
          <p:cNvPr id="9" name="Rectangle 8">
            <a:extLst>
              <a:ext uri="{FF2B5EF4-FFF2-40B4-BE49-F238E27FC236}">
                <a16:creationId xmlns:a16="http://schemas.microsoft.com/office/drawing/2014/main" id="{7DAF4EDB-4228-4D48-A730-1EF44C9D2EC3}"/>
              </a:ext>
            </a:extLst>
          </p:cNvPr>
          <p:cNvSpPr>
            <a:spLocks noGrp="1"/>
          </p:cNvSpPr>
          <p:nvPr/>
        </p:nvSpPr>
        <p:spPr>
          <a:xfrm>
            <a:off x="695325" y="2200275"/>
            <a:ext cx="2085975"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colonnes et types</a:t>
            </a:r>
          </a:p>
        </p:txBody>
      </p:sp>
      <p:sp>
        <p:nvSpPr>
          <p:cNvPr id="10" name="Rectangle 9">
            <a:extLst>
              <a:ext uri="{FF2B5EF4-FFF2-40B4-BE49-F238E27FC236}">
                <a16:creationId xmlns:a16="http://schemas.microsoft.com/office/drawing/2014/main" id="{EA0C10AB-F846-4398-80F6-F1E58E512CBA}"/>
              </a:ext>
            </a:extLst>
          </p:cNvPr>
          <p:cNvSpPr>
            <a:spLocks noGrp="1"/>
          </p:cNvSpPr>
          <p:nvPr/>
        </p:nvSpPr>
        <p:spPr>
          <a:xfrm>
            <a:off x="3381375" y="1666875"/>
            <a:ext cx="2428875" cy="1143000"/>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170C158B-7D60-4472-A38B-EF12841E580D}"/>
              </a:ext>
            </a:extLst>
          </p:cNvPr>
          <p:cNvSpPr>
            <a:spLocks noGrp="1"/>
          </p:cNvSpPr>
          <p:nvPr/>
        </p:nvSpPr>
        <p:spPr>
          <a:xfrm>
            <a:off x="3381375" y="1666875"/>
            <a:ext cx="2428875"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F6EAAA9B-00E5-4364-976D-274079C3D665}"/>
              </a:ext>
            </a:extLst>
          </p:cNvPr>
          <p:cNvSpPr>
            <a:spLocks noGrp="1"/>
          </p:cNvSpPr>
          <p:nvPr/>
        </p:nvSpPr>
        <p:spPr>
          <a:xfrm>
            <a:off x="3552825" y="1828800"/>
            <a:ext cx="2085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Validité</a:t>
            </a:r>
          </a:p>
        </p:txBody>
      </p:sp>
      <p:sp>
        <p:nvSpPr>
          <p:cNvPr id="13" name="Rectangle 12">
            <a:extLst>
              <a:ext uri="{FF2B5EF4-FFF2-40B4-BE49-F238E27FC236}">
                <a16:creationId xmlns:a16="http://schemas.microsoft.com/office/drawing/2014/main" id="{98DA88E1-6616-4980-BA8C-85B87137191F}"/>
              </a:ext>
            </a:extLst>
          </p:cNvPr>
          <p:cNvSpPr>
            <a:spLocks noGrp="1"/>
          </p:cNvSpPr>
          <p:nvPr/>
        </p:nvSpPr>
        <p:spPr>
          <a:xfrm>
            <a:off x="3552825" y="2200275"/>
            <a:ext cx="2085975"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nulls et domaines</a:t>
            </a:r>
          </a:p>
        </p:txBody>
      </p:sp>
      <p:sp>
        <p:nvSpPr>
          <p:cNvPr id="14" name="Rectangle 13">
            <a:extLst>
              <a:ext uri="{FF2B5EF4-FFF2-40B4-BE49-F238E27FC236}">
                <a16:creationId xmlns:a16="http://schemas.microsoft.com/office/drawing/2014/main" id="{D49485E8-E7DF-498E-A84D-3380F15AF6F3}"/>
              </a:ext>
            </a:extLst>
          </p:cNvPr>
          <p:cNvSpPr>
            <a:spLocks noGrp="1"/>
          </p:cNvSpPr>
          <p:nvPr/>
        </p:nvSpPr>
        <p:spPr>
          <a:xfrm>
            <a:off x="6238875" y="1666875"/>
            <a:ext cx="2428875" cy="1143000"/>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753D6EFD-E586-4491-9C50-FAFD80848E75}"/>
              </a:ext>
            </a:extLst>
          </p:cNvPr>
          <p:cNvSpPr>
            <a:spLocks noGrp="1"/>
          </p:cNvSpPr>
          <p:nvPr/>
        </p:nvSpPr>
        <p:spPr>
          <a:xfrm>
            <a:off x="6238875" y="1666875"/>
            <a:ext cx="2428875" cy="47625"/>
          </a:xfrm>
          <a:prstGeom prst="rect">
            <a:avLst/>
          </a:prstGeom>
          <a:solidFill>
            <a:srgbClr val="287B83"/>
          </a:solidFill>
          <a:ln w="0">
            <a:noFill/>
          </a:ln>
        </p:spPr>
      </p:sp>
      <p:sp>
        <p:nvSpPr>
          <p:cNvPr id="16" name="Rectangle 15">
            <a:extLst>
              <a:ext uri="{FF2B5EF4-FFF2-40B4-BE49-F238E27FC236}">
                <a16:creationId xmlns:a16="http://schemas.microsoft.com/office/drawing/2014/main" id="{56E0CB8A-C4E8-4588-A60C-A6B11CBE3560}"/>
              </a:ext>
            </a:extLst>
          </p:cNvPr>
          <p:cNvSpPr>
            <a:spLocks noGrp="1"/>
          </p:cNvSpPr>
          <p:nvPr/>
        </p:nvSpPr>
        <p:spPr>
          <a:xfrm>
            <a:off x="6410325" y="1828800"/>
            <a:ext cx="2085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Unicité</a:t>
            </a:r>
          </a:p>
        </p:txBody>
      </p:sp>
      <p:sp>
        <p:nvSpPr>
          <p:cNvPr id="17" name="Rectangle 16">
            <a:extLst>
              <a:ext uri="{FF2B5EF4-FFF2-40B4-BE49-F238E27FC236}">
                <a16:creationId xmlns:a16="http://schemas.microsoft.com/office/drawing/2014/main" id="{A0512070-EEAF-44D0-897F-B4A646CDD67D}"/>
              </a:ext>
            </a:extLst>
          </p:cNvPr>
          <p:cNvSpPr>
            <a:spLocks noGrp="1"/>
          </p:cNvSpPr>
          <p:nvPr/>
        </p:nvSpPr>
        <p:spPr>
          <a:xfrm>
            <a:off x="6410325" y="2200275"/>
            <a:ext cx="2085975"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moteur et cycle</a:t>
            </a:r>
          </a:p>
        </p:txBody>
      </p:sp>
      <p:sp>
        <p:nvSpPr>
          <p:cNvPr id="18" name="Rectangle 17">
            <a:extLst>
              <a:ext uri="{FF2B5EF4-FFF2-40B4-BE49-F238E27FC236}">
                <a16:creationId xmlns:a16="http://schemas.microsoft.com/office/drawing/2014/main" id="{14C28ACC-45F1-4143-853E-0DDB6BDD14F6}"/>
              </a:ext>
            </a:extLst>
          </p:cNvPr>
          <p:cNvSpPr>
            <a:spLocks noGrp="1"/>
          </p:cNvSpPr>
          <p:nvPr/>
        </p:nvSpPr>
        <p:spPr>
          <a:xfrm>
            <a:off x="9096375" y="1666875"/>
            <a:ext cx="2428875" cy="1143000"/>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D78AB7AE-F7EE-43D4-B7BF-2CD5F94AECE4}"/>
              </a:ext>
            </a:extLst>
          </p:cNvPr>
          <p:cNvSpPr>
            <a:spLocks noGrp="1"/>
          </p:cNvSpPr>
          <p:nvPr/>
        </p:nvSpPr>
        <p:spPr>
          <a:xfrm>
            <a:off x="9096375" y="1666875"/>
            <a:ext cx="2428875" cy="47625"/>
          </a:xfrm>
          <a:prstGeom prst="rect">
            <a:avLst/>
          </a:prstGeom>
          <a:solidFill>
            <a:srgbClr val="C45A31"/>
          </a:solidFill>
          <a:ln w="0">
            <a:noFill/>
          </a:ln>
        </p:spPr>
      </p:sp>
      <p:sp>
        <p:nvSpPr>
          <p:cNvPr id="20" name="Rectangle 19">
            <a:extLst>
              <a:ext uri="{FF2B5EF4-FFF2-40B4-BE49-F238E27FC236}">
                <a16:creationId xmlns:a16="http://schemas.microsoft.com/office/drawing/2014/main" id="{EE20EC1E-1852-4853-8A01-FE7848CA9668}"/>
              </a:ext>
            </a:extLst>
          </p:cNvPr>
          <p:cNvSpPr>
            <a:spLocks noGrp="1"/>
          </p:cNvSpPr>
          <p:nvPr/>
        </p:nvSpPr>
        <p:spPr>
          <a:xfrm>
            <a:off x="9267825" y="1828800"/>
            <a:ext cx="2085975"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Cohérence</a:t>
            </a:r>
          </a:p>
        </p:txBody>
      </p:sp>
      <p:sp>
        <p:nvSpPr>
          <p:cNvPr id="21" name="Rectangle 20">
            <a:extLst>
              <a:ext uri="{FF2B5EF4-FFF2-40B4-BE49-F238E27FC236}">
                <a16:creationId xmlns:a16="http://schemas.microsoft.com/office/drawing/2014/main" id="{D4BE56C5-870A-4885-91B5-F7C77FA69F5D}"/>
              </a:ext>
            </a:extLst>
          </p:cNvPr>
          <p:cNvSpPr>
            <a:spLocks noGrp="1"/>
          </p:cNvSpPr>
          <p:nvPr/>
        </p:nvSpPr>
        <p:spPr>
          <a:xfrm>
            <a:off x="9267825" y="2200275"/>
            <a:ext cx="2085975"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RUL et volumes</a:t>
            </a:r>
          </a:p>
        </p:txBody>
      </p:sp>
      <p:sp>
        <p:nvSpPr>
          <p:cNvPr id="22" name="Rectangle 21">
            <a:extLst>
              <a:ext uri="{FF2B5EF4-FFF2-40B4-BE49-F238E27FC236}">
                <a16:creationId xmlns:a16="http://schemas.microsoft.com/office/drawing/2014/main" id="{9E7F73D1-C0AE-4DCC-838E-6D140D62009E}"/>
              </a:ext>
            </a:extLst>
          </p:cNvPr>
          <p:cNvSpPr>
            <a:spLocks noGrp="1"/>
          </p:cNvSpPr>
          <p:nvPr/>
        </p:nvSpPr>
        <p:spPr>
          <a:xfrm>
            <a:off x="762000" y="3857625"/>
            <a:ext cx="1905000" cy="1000125"/>
          </a:xfrm>
          <a:prstGeom prst="rect">
            <a:avLst/>
          </a:prstGeom>
          <a:solidFill>
            <a:srgbClr val="FFFCF5"/>
          </a:solidFill>
          <a:ln w="10478">
            <a:solidFill>
              <a:srgbClr val="D7D1C5"/>
            </a:solidFill>
            <a:prstDash val="solid"/>
          </a:ln>
        </p:spPr>
      </p:sp>
      <p:sp>
        <p:nvSpPr>
          <p:cNvPr id="23" name="Rectangle 22">
            <a:extLst>
              <a:ext uri="{FF2B5EF4-FFF2-40B4-BE49-F238E27FC236}">
                <a16:creationId xmlns:a16="http://schemas.microsoft.com/office/drawing/2014/main" id="{54BBA9F2-FDB8-4B98-A7B0-F3A07A2DA04B}"/>
              </a:ext>
            </a:extLst>
          </p:cNvPr>
          <p:cNvSpPr>
            <a:spLocks noGrp="1"/>
          </p:cNvSpPr>
          <p:nvPr/>
        </p:nvSpPr>
        <p:spPr>
          <a:xfrm>
            <a:off x="762000" y="3857625"/>
            <a:ext cx="1905000" cy="47625"/>
          </a:xfrm>
          <a:prstGeom prst="rect">
            <a:avLst/>
          </a:prstGeom>
          <a:solidFill>
            <a:srgbClr val="287B83"/>
          </a:solidFill>
          <a:ln w="0">
            <a:noFill/>
          </a:ln>
        </p:spPr>
      </p:sp>
      <p:sp>
        <p:nvSpPr>
          <p:cNvPr id="24" name="Rectangle 23">
            <a:extLst>
              <a:ext uri="{FF2B5EF4-FFF2-40B4-BE49-F238E27FC236}">
                <a16:creationId xmlns:a16="http://schemas.microsoft.com/office/drawing/2014/main" id="{4DA05D38-72E2-46E3-8E02-6DEA9F0E2EDA}"/>
              </a:ext>
            </a:extLst>
          </p:cNvPr>
          <p:cNvSpPr>
            <a:spLocks noGrp="1"/>
          </p:cNvSpPr>
          <p:nvPr/>
        </p:nvSpPr>
        <p:spPr>
          <a:xfrm>
            <a:off x="933450" y="4019550"/>
            <a:ext cx="1562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Fichiers NASA</a:t>
            </a:r>
          </a:p>
        </p:txBody>
      </p:sp>
      <p:sp>
        <p:nvSpPr>
          <p:cNvPr id="25" name="Rectangle 24">
            <a:extLst>
              <a:ext uri="{FF2B5EF4-FFF2-40B4-BE49-F238E27FC236}">
                <a16:creationId xmlns:a16="http://schemas.microsoft.com/office/drawing/2014/main" id="{B3744152-5A1B-4DF0-A3D5-D7B7CF26D775}"/>
              </a:ext>
            </a:extLst>
          </p:cNvPr>
          <p:cNvSpPr>
            <a:spLocks noGrp="1"/>
          </p:cNvSpPr>
          <p:nvPr/>
        </p:nvSpPr>
        <p:spPr>
          <a:xfrm>
            <a:off x="933450" y="4391025"/>
            <a:ext cx="1562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source contrôlée</a:t>
            </a:r>
          </a:p>
        </p:txBody>
      </p:sp>
      <p:sp>
        <p:nvSpPr>
          <p:cNvPr id="26" name="Rectangle 25">
            <a:extLst>
              <a:ext uri="{FF2B5EF4-FFF2-40B4-BE49-F238E27FC236}">
                <a16:creationId xmlns:a16="http://schemas.microsoft.com/office/drawing/2014/main" id="{67A0C7E8-6308-4763-927A-F7CCD542D945}"/>
              </a:ext>
            </a:extLst>
          </p:cNvPr>
          <p:cNvSpPr>
            <a:spLocks noGrp="1"/>
          </p:cNvSpPr>
          <p:nvPr/>
        </p:nvSpPr>
        <p:spPr>
          <a:xfrm>
            <a:off x="3333750" y="3857625"/>
            <a:ext cx="1905000" cy="1000125"/>
          </a:xfrm>
          <a:prstGeom prst="rect">
            <a:avLst/>
          </a:prstGeom>
          <a:solidFill>
            <a:srgbClr val="FFFCF5"/>
          </a:solidFill>
          <a:ln w="10478">
            <a:solidFill>
              <a:srgbClr val="D7D1C5"/>
            </a:solidFill>
            <a:prstDash val="solid"/>
          </a:ln>
        </p:spPr>
      </p:sp>
      <p:sp>
        <p:nvSpPr>
          <p:cNvPr id="27" name="Rectangle 26">
            <a:extLst>
              <a:ext uri="{FF2B5EF4-FFF2-40B4-BE49-F238E27FC236}">
                <a16:creationId xmlns:a16="http://schemas.microsoft.com/office/drawing/2014/main" id="{FC07AE4E-8AA6-4648-AA0A-99A8DAEF3608}"/>
              </a:ext>
            </a:extLst>
          </p:cNvPr>
          <p:cNvSpPr>
            <a:spLocks noGrp="1"/>
          </p:cNvSpPr>
          <p:nvPr/>
        </p:nvSpPr>
        <p:spPr>
          <a:xfrm>
            <a:off x="3333750" y="3857625"/>
            <a:ext cx="1905000" cy="47625"/>
          </a:xfrm>
          <a:prstGeom prst="rect">
            <a:avLst/>
          </a:prstGeom>
          <a:solidFill>
            <a:srgbClr val="287B83"/>
          </a:solidFill>
          <a:ln w="0">
            <a:noFill/>
          </a:ln>
        </p:spPr>
      </p:sp>
      <p:sp>
        <p:nvSpPr>
          <p:cNvPr id="28" name="Rectangle 27">
            <a:extLst>
              <a:ext uri="{FF2B5EF4-FFF2-40B4-BE49-F238E27FC236}">
                <a16:creationId xmlns:a16="http://schemas.microsoft.com/office/drawing/2014/main" id="{BD3707E6-8300-4ED9-AFB7-D2325058CC54}"/>
              </a:ext>
            </a:extLst>
          </p:cNvPr>
          <p:cNvSpPr>
            <a:spLocks noGrp="1"/>
          </p:cNvSpPr>
          <p:nvPr/>
        </p:nvSpPr>
        <p:spPr>
          <a:xfrm>
            <a:off x="3505200" y="4019550"/>
            <a:ext cx="1562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raw</a:t>
            </a:r>
          </a:p>
        </p:txBody>
      </p:sp>
      <p:sp>
        <p:nvSpPr>
          <p:cNvPr id="29" name="Rectangle 28">
            <a:extLst>
              <a:ext uri="{FF2B5EF4-FFF2-40B4-BE49-F238E27FC236}">
                <a16:creationId xmlns:a16="http://schemas.microsoft.com/office/drawing/2014/main" id="{135E8A54-0C26-47EF-AD0F-C8C639A176C7}"/>
              </a:ext>
            </a:extLst>
          </p:cNvPr>
          <p:cNvSpPr>
            <a:spLocks noGrp="1"/>
          </p:cNvSpPr>
          <p:nvPr/>
        </p:nvSpPr>
        <p:spPr>
          <a:xfrm>
            <a:off x="3505200" y="4391025"/>
            <a:ext cx="1562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tables dlt</a:t>
            </a:r>
          </a:p>
        </p:txBody>
      </p:sp>
      <p:sp>
        <p:nvSpPr>
          <p:cNvPr id="30" name="Rectangle 29">
            <a:extLst>
              <a:ext uri="{FF2B5EF4-FFF2-40B4-BE49-F238E27FC236}">
                <a16:creationId xmlns:a16="http://schemas.microsoft.com/office/drawing/2014/main" id="{A2110215-EA37-48BD-A3E2-5804EBE2E9B9}"/>
              </a:ext>
            </a:extLst>
          </p:cNvPr>
          <p:cNvSpPr>
            <a:spLocks noGrp="1"/>
          </p:cNvSpPr>
          <p:nvPr/>
        </p:nvSpPr>
        <p:spPr>
          <a:xfrm>
            <a:off x="5905500" y="3857625"/>
            <a:ext cx="1905000" cy="1000125"/>
          </a:xfrm>
          <a:prstGeom prst="rect">
            <a:avLst/>
          </a:prstGeom>
          <a:solidFill>
            <a:srgbClr val="FFFCF5"/>
          </a:solidFill>
          <a:ln w="10478">
            <a:solidFill>
              <a:srgbClr val="D7D1C5"/>
            </a:solidFill>
            <a:prstDash val="solid"/>
          </a:ln>
        </p:spPr>
      </p:sp>
      <p:sp>
        <p:nvSpPr>
          <p:cNvPr id="31" name="Rectangle 30">
            <a:extLst>
              <a:ext uri="{FF2B5EF4-FFF2-40B4-BE49-F238E27FC236}">
                <a16:creationId xmlns:a16="http://schemas.microsoft.com/office/drawing/2014/main" id="{F6546DAC-78D5-4DF3-A9A5-B098929BCC84}"/>
              </a:ext>
            </a:extLst>
          </p:cNvPr>
          <p:cNvSpPr>
            <a:spLocks noGrp="1"/>
          </p:cNvSpPr>
          <p:nvPr/>
        </p:nvSpPr>
        <p:spPr>
          <a:xfrm>
            <a:off x="5905500" y="3857625"/>
            <a:ext cx="1905000" cy="47625"/>
          </a:xfrm>
          <a:prstGeom prst="rect">
            <a:avLst/>
          </a:prstGeom>
          <a:solidFill>
            <a:srgbClr val="287B83"/>
          </a:solidFill>
          <a:ln w="0">
            <a:noFill/>
          </a:ln>
        </p:spPr>
      </p:sp>
      <p:sp>
        <p:nvSpPr>
          <p:cNvPr id="32" name="Rectangle 31">
            <a:extLst>
              <a:ext uri="{FF2B5EF4-FFF2-40B4-BE49-F238E27FC236}">
                <a16:creationId xmlns:a16="http://schemas.microsoft.com/office/drawing/2014/main" id="{B10C9034-7231-4410-BB99-141404A55D26}"/>
              </a:ext>
            </a:extLst>
          </p:cNvPr>
          <p:cNvSpPr>
            <a:spLocks noGrp="1"/>
          </p:cNvSpPr>
          <p:nvPr/>
        </p:nvSpPr>
        <p:spPr>
          <a:xfrm>
            <a:off x="6076950" y="4019550"/>
            <a:ext cx="1562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marts</a:t>
            </a:r>
          </a:p>
        </p:txBody>
      </p:sp>
      <p:sp>
        <p:nvSpPr>
          <p:cNvPr id="33" name="Rectangle 32">
            <a:extLst>
              <a:ext uri="{FF2B5EF4-FFF2-40B4-BE49-F238E27FC236}">
                <a16:creationId xmlns:a16="http://schemas.microsoft.com/office/drawing/2014/main" id="{B956B873-E018-402A-904E-FEE4789675D7}"/>
              </a:ext>
            </a:extLst>
          </p:cNvPr>
          <p:cNvSpPr>
            <a:spLocks noGrp="1"/>
          </p:cNvSpPr>
          <p:nvPr/>
        </p:nvSpPr>
        <p:spPr>
          <a:xfrm>
            <a:off x="6076950" y="4391025"/>
            <a:ext cx="1562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features dbt</a:t>
            </a:r>
          </a:p>
        </p:txBody>
      </p:sp>
      <p:sp>
        <p:nvSpPr>
          <p:cNvPr id="34" name="Rectangle 33">
            <a:extLst>
              <a:ext uri="{FF2B5EF4-FFF2-40B4-BE49-F238E27FC236}">
                <a16:creationId xmlns:a16="http://schemas.microsoft.com/office/drawing/2014/main" id="{B965258C-60FF-44CA-9538-F94657C1433A}"/>
              </a:ext>
            </a:extLst>
          </p:cNvPr>
          <p:cNvSpPr>
            <a:spLocks noGrp="1"/>
          </p:cNvSpPr>
          <p:nvPr/>
        </p:nvSpPr>
        <p:spPr>
          <a:xfrm>
            <a:off x="8477250" y="3857625"/>
            <a:ext cx="1905000" cy="1000125"/>
          </a:xfrm>
          <a:prstGeom prst="rect">
            <a:avLst/>
          </a:prstGeom>
          <a:solidFill>
            <a:srgbClr val="FFFCF5"/>
          </a:solidFill>
          <a:ln w="10478">
            <a:solidFill>
              <a:srgbClr val="D7D1C5"/>
            </a:solidFill>
            <a:prstDash val="solid"/>
          </a:ln>
        </p:spPr>
      </p:sp>
      <p:sp>
        <p:nvSpPr>
          <p:cNvPr id="35" name="Rectangle 34">
            <a:extLst>
              <a:ext uri="{FF2B5EF4-FFF2-40B4-BE49-F238E27FC236}">
                <a16:creationId xmlns:a16="http://schemas.microsoft.com/office/drawing/2014/main" id="{BD136E26-A9E3-4B32-9131-259ED18869F4}"/>
              </a:ext>
            </a:extLst>
          </p:cNvPr>
          <p:cNvSpPr>
            <a:spLocks noGrp="1"/>
          </p:cNvSpPr>
          <p:nvPr/>
        </p:nvSpPr>
        <p:spPr>
          <a:xfrm>
            <a:off x="8477250" y="3857625"/>
            <a:ext cx="1905000" cy="47625"/>
          </a:xfrm>
          <a:prstGeom prst="rect">
            <a:avLst/>
          </a:prstGeom>
          <a:solidFill>
            <a:srgbClr val="C45A31"/>
          </a:solidFill>
          <a:ln w="0">
            <a:noFill/>
          </a:ln>
        </p:spPr>
      </p:sp>
      <p:sp>
        <p:nvSpPr>
          <p:cNvPr id="36" name="Rectangle 35">
            <a:extLst>
              <a:ext uri="{FF2B5EF4-FFF2-40B4-BE49-F238E27FC236}">
                <a16:creationId xmlns:a16="http://schemas.microsoft.com/office/drawing/2014/main" id="{3388EE97-8E3E-4ED3-B2B1-B784248DD1E9}"/>
              </a:ext>
            </a:extLst>
          </p:cNvPr>
          <p:cNvSpPr>
            <a:spLocks noGrp="1"/>
          </p:cNvSpPr>
          <p:nvPr/>
        </p:nvSpPr>
        <p:spPr>
          <a:xfrm>
            <a:off x="8648700" y="4019550"/>
            <a:ext cx="1562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MLflow</a:t>
            </a:r>
          </a:p>
        </p:txBody>
      </p:sp>
      <p:sp>
        <p:nvSpPr>
          <p:cNvPr id="37" name="Rectangle 36">
            <a:extLst>
              <a:ext uri="{FF2B5EF4-FFF2-40B4-BE49-F238E27FC236}">
                <a16:creationId xmlns:a16="http://schemas.microsoft.com/office/drawing/2014/main" id="{73035C26-47F6-4790-B6FD-6748A2BB0667}"/>
              </a:ext>
            </a:extLst>
          </p:cNvPr>
          <p:cNvSpPr>
            <a:spLocks noGrp="1"/>
          </p:cNvSpPr>
          <p:nvPr/>
        </p:nvSpPr>
        <p:spPr>
          <a:xfrm>
            <a:off x="8648700" y="4391025"/>
            <a:ext cx="1562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modèle versionné</a:t>
            </a:r>
          </a:p>
        </p:txBody>
      </p:sp>
      <p:cxnSp>
        <p:nvCxnSpPr>
          <p:cNvPr id="81" name="Connecteur droit avec flèche 80"/>
          <p:cNvCxnSpPr>
            <a:stCxn id="22" idx="3"/>
            <a:endCxn id="26" idx="1"/>
          </p:cNvCxnSpPr>
          <p:nvPr/>
        </p:nvCxnSpPr>
        <p:spPr>
          <a:xfrm>
            <a:off x="2667000" y="4357688"/>
            <a:ext cx="666750" cy="0"/>
          </a:xfrm>
          <a:prstGeom prst="straightConnector1">
            <a:avLst/>
          </a:prstGeom>
          <a:ln w="19050">
            <a:solidFill>
              <a:srgbClr val="287B83"/>
            </a:solidFill>
            <a:prstDash val="solid"/>
            <a:tailEnd type="triangle" w="sm" len="sm"/>
          </a:ln>
        </p:spPr>
      </p:cxnSp>
      <p:cxnSp>
        <p:nvCxnSpPr>
          <p:cNvPr id="82" name="Connecteur droit avec flèche 81"/>
          <p:cNvCxnSpPr>
            <a:stCxn id="26" idx="3"/>
            <a:endCxn id="30" idx="1"/>
          </p:cNvCxnSpPr>
          <p:nvPr/>
        </p:nvCxnSpPr>
        <p:spPr>
          <a:xfrm>
            <a:off x="5238750" y="4357688"/>
            <a:ext cx="666750" cy="0"/>
          </a:xfrm>
          <a:prstGeom prst="straightConnector1">
            <a:avLst/>
          </a:prstGeom>
          <a:ln w="19050">
            <a:solidFill>
              <a:srgbClr val="287B83"/>
            </a:solidFill>
            <a:prstDash val="solid"/>
            <a:tailEnd type="triangle" w="sm" len="sm"/>
          </a:ln>
        </p:spPr>
      </p:cxnSp>
      <p:cxnSp>
        <p:nvCxnSpPr>
          <p:cNvPr id="83" name="Connecteur droit avec flèche 82"/>
          <p:cNvCxnSpPr>
            <a:stCxn id="30" idx="3"/>
            <a:endCxn id="34" idx="1"/>
          </p:cNvCxnSpPr>
          <p:nvPr/>
        </p:nvCxnSpPr>
        <p:spPr>
          <a:xfrm>
            <a:off x="7810500" y="4357688"/>
            <a:ext cx="666750" cy="0"/>
          </a:xfrm>
          <a:prstGeom prst="straightConnector1">
            <a:avLst/>
          </a:prstGeom>
          <a:ln w="19050">
            <a:solidFill>
              <a:srgbClr val="287B83"/>
            </a:solidFill>
            <a:prstDash val="solid"/>
            <a:tailEnd type="triangle" w="sm" len="sm"/>
          </a:ln>
        </p:spPr>
      </p:cxnSp>
      <p:sp>
        <p:nvSpPr>
          <p:cNvPr id="41" name="Rectangle 40">
            <a:extLst>
              <a:ext uri="{FF2B5EF4-FFF2-40B4-BE49-F238E27FC236}">
                <a16:creationId xmlns:a16="http://schemas.microsoft.com/office/drawing/2014/main" id="{D58CF48C-0C06-4EEC-888C-D075C4F949C1}"/>
              </a:ext>
            </a:extLst>
          </p:cNvPr>
          <p:cNvSpPr>
            <a:spLocks noGrp="1"/>
          </p:cNvSpPr>
          <p:nvPr/>
        </p:nvSpPr>
        <p:spPr>
          <a:xfrm>
            <a:off x="1476375" y="5572125"/>
            <a:ext cx="9239250" cy="419100"/>
          </a:xfrm>
          <a:prstGeom prst="rect">
            <a:avLst/>
          </a:prstGeom>
          <a:noFill/>
          <a:ln w="0">
            <a:noFill/>
          </a:ln>
        </p:spPr>
        <p:txBody>
          <a:bodyPr wrap="square" lIns="0" tIns="0" rIns="0" bIns="0" anchor="t">
            <a:noAutofit/>
          </a:bodyPr>
          <a:lstStyle/>
          <a:p>
            <a:pPr algn="ctr">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Une erreur dbt bloque la suite ; chaque prédiction reste rattachable à sa source</a:t>
            </a:r>
          </a:p>
        </p:txBody>
      </p:sp>
      <p:sp>
        <p:nvSpPr>
          <p:cNvPr id="42" name="Rectangle 41">
            <a:extLst>
              <a:ext uri="{FF2B5EF4-FFF2-40B4-BE49-F238E27FC236}">
                <a16:creationId xmlns:a16="http://schemas.microsoft.com/office/drawing/2014/main" id="{54802C3F-CD49-4DAB-982E-A9B8B7CECA2E}"/>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Hamza  Qualité des données</a:t>
            </a:r>
          </a:p>
        </p:txBody>
      </p:sp>
      <p:sp>
        <p:nvSpPr>
          <p:cNvPr id="43" name="Rectangle 42">
            <a:extLst>
              <a:ext uri="{FF2B5EF4-FFF2-40B4-BE49-F238E27FC236}">
                <a16:creationId xmlns:a16="http://schemas.microsoft.com/office/drawing/2014/main" id="{C531B85A-D713-4462-96A4-418E50EADAD8}"/>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06 / 18</a:t>
            </a:r>
          </a:p>
        </p:txBody>
      </p:sp>
    </p:spTree>
    <p:extLst>
      <p:ext uri="{BB962C8B-B14F-4D97-AF65-F5344CB8AC3E}">
        <p14:creationId xmlns:p14="http://schemas.microsoft.com/office/powerpoint/2010/main" val="436081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D96A667-C7B2-4894-9907-B6E760FBB8C5}"/>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0D888E31-F47B-44A7-91A7-8DC90AC20974}"/>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A3286045-5304-4725-AC94-743581429C6C}"/>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Tests et intégration continue</a:t>
            </a:r>
          </a:p>
        </p:txBody>
      </p:sp>
      <p:sp>
        <p:nvSpPr>
          <p:cNvPr id="4" name="Rectangle 3">
            <a:extLst>
              <a:ext uri="{FF2B5EF4-FFF2-40B4-BE49-F238E27FC236}">
                <a16:creationId xmlns:a16="http://schemas.microsoft.com/office/drawing/2014/main" id="{67D599B1-5AF6-4390-BE8A-80D81DA36414}"/>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HAMZA</a:t>
            </a:r>
          </a:p>
        </p:txBody>
      </p:sp>
      <p:sp>
        <p:nvSpPr>
          <p:cNvPr id="5" name="Rectangle 4">
            <a:extLst>
              <a:ext uri="{FF2B5EF4-FFF2-40B4-BE49-F238E27FC236}">
                <a16:creationId xmlns:a16="http://schemas.microsoft.com/office/drawing/2014/main" id="{42ECD00F-2143-4036-B633-C2FC384810A7}"/>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GitHub Actions valide le pipeline avant toute livraison</a:t>
            </a:r>
          </a:p>
        </p:txBody>
      </p:sp>
      <p:sp>
        <p:nvSpPr>
          <p:cNvPr id="6" name="Rectangle 5">
            <a:extLst>
              <a:ext uri="{FF2B5EF4-FFF2-40B4-BE49-F238E27FC236}">
                <a16:creationId xmlns:a16="http://schemas.microsoft.com/office/drawing/2014/main" id="{2AB4DE86-BD90-47F6-83F6-F358682EBE16}"/>
              </a:ext>
            </a:extLst>
          </p:cNvPr>
          <p:cNvSpPr>
            <a:spLocks noGrp="1"/>
          </p:cNvSpPr>
          <p:nvPr/>
        </p:nvSpPr>
        <p:spPr>
          <a:xfrm>
            <a:off x="952500" y="1571625"/>
            <a:ext cx="523875" cy="400050"/>
          </a:xfrm>
          <a:prstGeom prst="rect">
            <a:avLst/>
          </a:prstGeom>
          <a:noFill/>
          <a:ln w="0">
            <a:noFill/>
          </a:ln>
        </p:spPr>
        <p:txBody>
          <a:bodyPr wrap="square" lIns="0" tIns="0" rIns="0" bIns="0" anchor="ctr">
            <a:noAutofit/>
          </a:bodyPr>
          <a:lstStyle/>
          <a:p>
            <a:pPr algn="ctr">
              <a:lnSpc>
                <a:spcPct val="103000"/>
              </a:lnSpc>
              <a:buNone/>
              <a:defRPr sz="1800" b="1">
                <a:solidFill>
                  <a:srgbClr val="287B83"/>
                </a:solidFill>
                <a:latin typeface="Avenir Next"/>
                <a:ea typeface="Avenir Next"/>
                <a:cs typeface="Avenir Next"/>
              </a:defRPr>
            </a:pPr>
            <a:r>
              <a:rPr sz="1800" b="1">
                <a:solidFill>
                  <a:srgbClr val="287B83"/>
                </a:solidFill>
                <a:latin typeface="Avenir Next"/>
                <a:ea typeface="Avenir Next"/>
                <a:cs typeface="Avenir Next"/>
              </a:rPr>
              <a:t>1</a:t>
            </a:r>
          </a:p>
        </p:txBody>
      </p:sp>
      <p:sp>
        <p:nvSpPr>
          <p:cNvPr id="7" name="Rectangle 6">
            <a:extLst>
              <a:ext uri="{FF2B5EF4-FFF2-40B4-BE49-F238E27FC236}">
                <a16:creationId xmlns:a16="http://schemas.microsoft.com/office/drawing/2014/main" id="{20D2CB5E-FE89-45FA-944E-577D201A7797}"/>
              </a:ext>
            </a:extLst>
          </p:cNvPr>
          <p:cNvSpPr>
            <a:spLocks noGrp="1"/>
          </p:cNvSpPr>
          <p:nvPr/>
        </p:nvSpPr>
        <p:spPr>
          <a:xfrm>
            <a:off x="1809750" y="1590675"/>
            <a:ext cx="2095500" cy="323850"/>
          </a:xfrm>
          <a:prstGeom prst="rect">
            <a:avLst/>
          </a:prstGeom>
          <a:noFill/>
          <a:ln w="0">
            <a:noFill/>
          </a:ln>
        </p:spPr>
        <p:txBody>
          <a:bodyPr wrap="square" lIns="0" tIns="0" rIns="0" bIns="0" anchor="t">
            <a:noAutofit/>
          </a:bodyPr>
          <a:lstStyle/>
          <a:p>
            <a:pPr algn="l">
              <a:lnSpc>
                <a:spcPct val="103000"/>
              </a:lnSpc>
              <a:buNone/>
              <a:defRPr sz="1725" b="1">
                <a:solidFill>
                  <a:srgbClr val="173B5D"/>
                </a:solidFill>
                <a:latin typeface="Avenir Next"/>
                <a:ea typeface="Avenir Next"/>
                <a:cs typeface="Avenir Next"/>
              </a:defRPr>
            </a:pPr>
            <a:r>
              <a:rPr sz="1725" b="1">
                <a:solidFill>
                  <a:srgbClr val="173B5D"/>
                </a:solidFill>
                <a:latin typeface="Avenir Next"/>
                <a:ea typeface="Avenir Next"/>
                <a:cs typeface="Avenir Next"/>
              </a:rPr>
              <a:t>Données</a:t>
            </a:r>
          </a:p>
        </p:txBody>
      </p:sp>
      <p:sp>
        <p:nvSpPr>
          <p:cNvPr id="8" name="Rectangle 7">
            <a:extLst>
              <a:ext uri="{FF2B5EF4-FFF2-40B4-BE49-F238E27FC236}">
                <a16:creationId xmlns:a16="http://schemas.microsoft.com/office/drawing/2014/main" id="{23299050-C478-457D-B705-ECC0964E50E1}"/>
              </a:ext>
            </a:extLst>
          </p:cNvPr>
          <p:cNvSpPr>
            <a:spLocks noGrp="1"/>
          </p:cNvSpPr>
          <p:nvPr/>
        </p:nvSpPr>
        <p:spPr>
          <a:xfrm>
            <a:off x="4238625" y="1609725"/>
            <a:ext cx="6191250" cy="32385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téléchargement, dlt, dbt</a:t>
            </a:r>
          </a:p>
        </p:txBody>
      </p:sp>
      <p:sp>
        <p:nvSpPr>
          <p:cNvPr id="9" name="Connecteur droit 8">
            <a:extLst>
              <a:ext uri="{FF2B5EF4-FFF2-40B4-BE49-F238E27FC236}">
                <a16:creationId xmlns:a16="http://schemas.microsoft.com/office/drawing/2014/main" id="{EBAC89FC-6680-457A-BD17-4B6DE626FB94}"/>
              </a:ext>
            </a:extLst>
          </p:cNvPr>
          <p:cNvSpPr>
            <a:spLocks noGrp="1"/>
          </p:cNvSpPr>
          <p:nvPr/>
        </p:nvSpPr>
        <p:spPr>
          <a:xfrm>
            <a:off x="1809750" y="2095500"/>
            <a:ext cx="8572500" cy="0"/>
          </a:xfrm>
          <a:prstGeom prst="line">
            <a:avLst/>
          </a:prstGeom>
          <a:noFill/>
          <a:ln w="9525">
            <a:solidFill>
              <a:srgbClr val="D7D1C5"/>
            </a:solidFill>
            <a:prstDash val="solid"/>
          </a:ln>
        </p:spPr>
      </p:sp>
      <p:sp>
        <p:nvSpPr>
          <p:cNvPr id="10" name="Rectangle 9">
            <a:extLst>
              <a:ext uri="{FF2B5EF4-FFF2-40B4-BE49-F238E27FC236}">
                <a16:creationId xmlns:a16="http://schemas.microsoft.com/office/drawing/2014/main" id="{000B6A61-8CC2-460A-AAB6-B921DE041E6B}"/>
              </a:ext>
            </a:extLst>
          </p:cNvPr>
          <p:cNvSpPr>
            <a:spLocks noGrp="1"/>
          </p:cNvSpPr>
          <p:nvPr/>
        </p:nvSpPr>
        <p:spPr>
          <a:xfrm>
            <a:off x="952500" y="2447925"/>
            <a:ext cx="523875" cy="400050"/>
          </a:xfrm>
          <a:prstGeom prst="rect">
            <a:avLst/>
          </a:prstGeom>
          <a:noFill/>
          <a:ln w="0">
            <a:noFill/>
          </a:ln>
        </p:spPr>
        <p:txBody>
          <a:bodyPr wrap="square" lIns="0" tIns="0" rIns="0" bIns="0" anchor="ctr">
            <a:noAutofit/>
          </a:bodyPr>
          <a:lstStyle/>
          <a:p>
            <a:pPr algn="ctr">
              <a:lnSpc>
                <a:spcPct val="103000"/>
              </a:lnSpc>
              <a:buNone/>
              <a:defRPr sz="1800" b="1">
                <a:solidFill>
                  <a:srgbClr val="287B83"/>
                </a:solidFill>
                <a:latin typeface="Avenir Next"/>
                <a:ea typeface="Avenir Next"/>
                <a:cs typeface="Avenir Next"/>
              </a:defRPr>
            </a:pPr>
            <a:r>
              <a:rPr sz="1800" b="1">
                <a:solidFill>
                  <a:srgbClr val="287B83"/>
                </a:solidFill>
                <a:latin typeface="Avenir Next"/>
                <a:ea typeface="Avenir Next"/>
                <a:cs typeface="Avenir Next"/>
              </a:rPr>
              <a:t>2</a:t>
            </a:r>
          </a:p>
        </p:txBody>
      </p:sp>
      <p:sp>
        <p:nvSpPr>
          <p:cNvPr id="11" name="Rectangle 10">
            <a:extLst>
              <a:ext uri="{FF2B5EF4-FFF2-40B4-BE49-F238E27FC236}">
                <a16:creationId xmlns:a16="http://schemas.microsoft.com/office/drawing/2014/main" id="{B83B555C-9483-410A-97AC-BB123A51D927}"/>
              </a:ext>
            </a:extLst>
          </p:cNvPr>
          <p:cNvSpPr>
            <a:spLocks noGrp="1"/>
          </p:cNvSpPr>
          <p:nvPr/>
        </p:nvSpPr>
        <p:spPr>
          <a:xfrm>
            <a:off x="1809750" y="2466975"/>
            <a:ext cx="2095500" cy="323850"/>
          </a:xfrm>
          <a:prstGeom prst="rect">
            <a:avLst/>
          </a:prstGeom>
          <a:noFill/>
          <a:ln w="0">
            <a:noFill/>
          </a:ln>
        </p:spPr>
        <p:txBody>
          <a:bodyPr wrap="square" lIns="0" tIns="0" rIns="0" bIns="0" anchor="t">
            <a:noAutofit/>
          </a:bodyPr>
          <a:lstStyle/>
          <a:p>
            <a:pPr algn="l">
              <a:lnSpc>
                <a:spcPct val="103000"/>
              </a:lnSpc>
              <a:buNone/>
              <a:defRPr sz="1725" b="1">
                <a:solidFill>
                  <a:srgbClr val="173B5D"/>
                </a:solidFill>
                <a:latin typeface="Avenir Next"/>
                <a:ea typeface="Avenir Next"/>
                <a:cs typeface="Avenir Next"/>
              </a:defRPr>
            </a:pPr>
            <a:r>
              <a:rPr sz="1725" b="1">
                <a:solidFill>
                  <a:srgbClr val="173B5D"/>
                </a:solidFill>
                <a:latin typeface="Avenir Next"/>
                <a:ea typeface="Avenir Next"/>
                <a:cs typeface="Avenir Next"/>
              </a:rPr>
              <a:t>Tests</a:t>
            </a:r>
          </a:p>
        </p:txBody>
      </p:sp>
      <p:sp>
        <p:nvSpPr>
          <p:cNvPr id="12" name="Rectangle 11">
            <a:extLst>
              <a:ext uri="{FF2B5EF4-FFF2-40B4-BE49-F238E27FC236}">
                <a16:creationId xmlns:a16="http://schemas.microsoft.com/office/drawing/2014/main" id="{5CF62876-2DFA-4B64-B975-2107FCBF525D}"/>
              </a:ext>
            </a:extLst>
          </p:cNvPr>
          <p:cNvSpPr>
            <a:spLocks noGrp="1"/>
          </p:cNvSpPr>
          <p:nvPr/>
        </p:nvSpPr>
        <p:spPr>
          <a:xfrm>
            <a:off x="4238625" y="2486025"/>
            <a:ext cx="6191250" cy="32385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Python et contrats</a:t>
            </a:r>
          </a:p>
        </p:txBody>
      </p:sp>
      <p:sp>
        <p:nvSpPr>
          <p:cNvPr id="13" name="Connecteur droit 12">
            <a:extLst>
              <a:ext uri="{FF2B5EF4-FFF2-40B4-BE49-F238E27FC236}">
                <a16:creationId xmlns:a16="http://schemas.microsoft.com/office/drawing/2014/main" id="{80850781-BCB0-4F06-B24F-9B7CCDF14BE2}"/>
              </a:ext>
            </a:extLst>
          </p:cNvPr>
          <p:cNvSpPr>
            <a:spLocks noGrp="1"/>
          </p:cNvSpPr>
          <p:nvPr/>
        </p:nvSpPr>
        <p:spPr>
          <a:xfrm>
            <a:off x="1809750" y="2971800"/>
            <a:ext cx="8572500" cy="0"/>
          </a:xfrm>
          <a:prstGeom prst="line">
            <a:avLst/>
          </a:prstGeom>
          <a:noFill/>
          <a:ln w="9525">
            <a:solidFill>
              <a:srgbClr val="D7D1C5"/>
            </a:solidFill>
            <a:prstDash val="solid"/>
          </a:ln>
        </p:spPr>
      </p:sp>
      <p:sp>
        <p:nvSpPr>
          <p:cNvPr id="14" name="Rectangle 13">
            <a:extLst>
              <a:ext uri="{FF2B5EF4-FFF2-40B4-BE49-F238E27FC236}">
                <a16:creationId xmlns:a16="http://schemas.microsoft.com/office/drawing/2014/main" id="{56962E01-8E84-4719-9711-FF8045035E6C}"/>
              </a:ext>
            </a:extLst>
          </p:cNvPr>
          <p:cNvSpPr>
            <a:spLocks noGrp="1"/>
          </p:cNvSpPr>
          <p:nvPr/>
        </p:nvSpPr>
        <p:spPr>
          <a:xfrm>
            <a:off x="952500" y="3324225"/>
            <a:ext cx="523875" cy="400050"/>
          </a:xfrm>
          <a:prstGeom prst="rect">
            <a:avLst/>
          </a:prstGeom>
          <a:noFill/>
          <a:ln w="0">
            <a:noFill/>
          </a:ln>
        </p:spPr>
        <p:txBody>
          <a:bodyPr wrap="square" lIns="0" tIns="0" rIns="0" bIns="0" anchor="ctr">
            <a:noAutofit/>
          </a:bodyPr>
          <a:lstStyle/>
          <a:p>
            <a:pPr algn="ctr">
              <a:lnSpc>
                <a:spcPct val="103000"/>
              </a:lnSpc>
              <a:buNone/>
              <a:defRPr sz="1800" b="1">
                <a:solidFill>
                  <a:srgbClr val="287B83"/>
                </a:solidFill>
                <a:latin typeface="Avenir Next"/>
                <a:ea typeface="Avenir Next"/>
                <a:cs typeface="Avenir Next"/>
              </a:defRPr>
            </a:pPr>
            <a:r>
              <a:rPr sz="1800" b="1">
                <a:solidFill>
                  <a:srgbClr val="287B83"/>
                </a:solidFill>
                <a:latin typeface="Avenir Next"/>
                <a:ea typeface="Avenir Next"/>
                <a:cs typeface="Avenir Next"/>
              </a:rPr>
              <a:t>3</a:t>
            </a:r>
          </a:p>
        </p:txBody>
      </p:sp>
      <p:sp>
        <p:nvSpPr>
          <p:cNvPr id="15" name="Rectangle 14">
            <a:extLst>
              <a:ext uri="{FF2B5EF4-FFF2-40B4-BE49-F238E27FC236}">
                <a16:creationId xmlns:a16="http://schemas.microsoft.com/office/drawing/2014/main" id="{AD544F63-B345-43F4-97A8-8476D7AC1429}"/>
              </a:ext>
            </a:extLst>
          </p:cNvPr>
          <p:cNvSpPr>
            <a:spLocks noGrp="1"/>
          </p:cNvSpPr>
          <p:nvPr/>
        </p:nvSpPr>
        <p:spPr>
          <a:xfrm>
            <a:off x="1809750" y="3343275"/>
            <a:ext cx="2095500" cy="323850"/>
          </a:xfrm>
          <a:prstGeom prst="rect">
            <a:avLst/>
          </a:prstGeom>
          <a:noFill/>
          <a:ln w="0">
            <a:noFill/>
          </a:ln>
        </p:spPr>
        <p:txBody>
          <a:bodyPr wrap="square" lIns="0" tIns="0" rIns="0" bIns="0" anchor="t">
            <a:noAutofit/>
          </a:bodyPr>
          <a:lstStyle/>
          <a:p>
            <a:pPr algn="l">
              <a:lnSpc>
                <a:spcPct val="103000"/>
              </a:lnSpc>
              <a:buNone/>
              <a:defRPr sz="1725" b="1">
                <a:solidFill>
                  <a:srgbClr val="173B5D"/>
                </a:solidFill>
                <a:latin typeface="Avenir Next"/>
                <a:ea typeface="Avenir Next"/>
                <a:cs typeface="Avenir Next"/>
              </a:defRPr>
            </a:pPr>
            <a:r>
              <a:rPr sz="1725" b="1">
                <a:solidFill>
                  <a:srgbClr val="173B5D"/>
                </a:solidFill>
                <a:latin typeface="Avenir Next"/>
                <a:ea typeface="Avenir Next"/>
                <a:cs typeface="Avenir Next"/>
              </a:rPr>
              <a:t>Code</a:t>
            </a:r>
          </a:p>
        </p:txBody>
      </p:sp>
      <p:sp>
        <p:nvSpPr>
          <p:cNvPr id="16" name="Rectangle 15">
            <a:extLst>
              <a:ext uri="{FF2B5EF4-FFF2-40B4-BE49-F238E27FC236}">
                <a16:creationId xmlns:a16="http://schemas.microsoft.com/office/drawing/2014/main" id="{AD09AB17-EB1D-4579-B5A7-A9D046D8BD9C}"/>
              </a:ext>
            </a:extLst>
          </p:cNvPr>
          <p:cNvSpPr>
            <a:spLocks noGrp="1"/>
          </p:cNvSpPr>
          <p:nvPr/>
        </p:nvSpPr>
        <p:spPr>
          <a:xfrm>
            <a:off x="4238625" y="3362325"/>
            <a:ext cx="6191250" cy="32385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compilation et ruff</a:t>
            </a:r>
          </a:p>
        </p:txBody>
      </p:sp>
      <p:sp>
        <p:nvSpPr>
          <p:cNvPr id="17" name="Connecteur droit 16">
            <a:extLst>
              <a:ext uri="{FF2B5EF4-FFF2-40B4-BE49-F238E27FC236}">
                <a16:creationId xmlns:a16="http://schemas.microsoft.com/office/drawing/2014/main" id="{8C4BBA09-8AB3-4E0F-A0A8-EAC1C93BFB05}"/>
              </a:ext>
            </a:extLst>
          </p:cNvPr>
          <p:cNvSpPr>
            <a:spLocks noGrp="1"/>
          </p:cNvSpPr>
          <p:nvPr/>
        </p:nvSpPr>
        <p:spPr>
          <a:xfrm>
            <a:off x="1809750" y="3848100"/>
            <a:ext cx="8572500" cy="0"/>
          </a:xfrm>
          <a:prstGeom prst="line">
            <a:avLst/>
          </a:prstGeom>
          <a:noFill/>
          <a:ln w="9525">
            <a:solidFill>
              <a:srgbClr val="D7D1C5"/>
            </a:solidFill>
            <a:prstDash val="solid"/>
          </a:ln>
        </p:spPr>
      </p:sp>
      <p:sp>
        <p:nvSpPr>
          <p:cNvPr id="18" name="Rectangle 17">
            <a:extLst>
              <a:ext uri="{FF2B5EF4-FFF2-40B4-BE49-F238E27FC236}">
                <a16:creationId xmlns:a16="http://schemas.microsoft.com/office/drawing/2014/main" id="{81F92AEC-0A62-4E54-8239-FB1F6C74DC00}"/>
              </a:ext>
            </a:extLst>
          </p:cNvPr>
          <p:cNvSpPr>
            <a:spLocks noGrp="1"/>
          </p:cNvSpPr>
          <p:nvPr/>
        </p:nvSpPr>
        <p:spPr>
          <a:xfrm>
            <a:off x="952500" y="4200525"/>
            <a:ext cx="523875" cy="400050"/>
          </a:xfrm>
          <a:prstGeom prst="rect">
            <a:avLst/>
          </a:prstGeom>
          <a:noFill/>
          <a:ln w="0">
            <a:noFill/>
          </a:ln>
        </p:spPr>
        <p:txBody>
          <a:bodyPr wrap="square" lIns="0" tIns="0" rIns="0" bIns="0" anchor="ctr">
            <a:noAutofit/>
          </a:bodyPr>
          <a:lstStyle/>
          <a:p>
            <a:pPr algn="ctr">
              <a:lnSpc>
                <a:spcPct val="103000"/>
              </a:lnSpc>
              <a:buNone/>
              <a:defRPr sz="1800" b="1">
                <a:solidFill>
                  <a:srgbClr val="287B83"/>
                </a:solidFill>
                <a:latin typeface="Avenir Next"/>
                <a:ea typeface="Avenir Next"/>
                <a:cs typeface="Avenir Next"/>
              </a:defRPr>
            </a:pPr>
            <a:r>
              <a:rPr sz="1800" b="1">
                <a:solidFill>
                  <a:srgbClr val="287B83"/>
                </a:solidFill>
                <a:latin typeface="Avenir Next"/>
                <a:ea typeface="Avenir Next"/>
                <a:cs typeface="Avenir Next"/>
              </a:rPr>
              <a:t>4</a:t>
            </a:r>
          </a:p>
        </p:txBody>
      </p:sp>
      <p:sp>
        <p:nvSpPr>
          <p:cNvPr id="19" name="Rectangle 18">
            <a:extLst>
              <a:ext uri="{FF2B5EF4-FFF2-40B4-BE49-F238E27FC236}">
                <a16:creationId xmlns:a16="http://schemas.microsoft.com/office/drawing/2014/main" id="{DAA4BEF3-CDCB-4A2C-898B-1C4DABB5D4AB}"/>
              </a:ext>
            </a:extLst>
          </p:cNvPr>
          <p:cNvSpPr>
            <a:spLocks noGrp="1"/>
          </p:cNvSpPr>
          <p:nvPr/>
        </p:nvSpPr>
        <p:spPr>
          <a:xfrm>
            <a:off x="1809750" y="4219575"/>
            <a:ext cx="2095500" cy="323850"/>
          </a:xfrm>
          <a:prstGeom prst="rect">
            <a:avLst/>
          </a:prstGeom>
          <a:noFill/>
          <a:ln w="0">
            <a:noFill/>
          </a:ln>
        </p:spPr>
        <p:txBody>
          <a:bodyPr wrap="square" lIns="0" tIns="0" rIns="0" bIns="0" anchor="t">
            <a:noAutofit/>
          </a:bodyPr>
          <a:lstStyle/>
          <a:p>
            <a:pPr algn="l">
              <a:lnSpc>
                <a:spcPct val="103000"/>
              </a:lnSpc>
              <a:buNone/>
              <a:defRPr sz="1725" b="1">
                <a:solidFill>
                  <a:srgbClr val="173B5D"/>
                </a:solidFill>
                <a:latin typeface="Avenir Next"/>
                <a:ea typeface="Avenir Next"/>
                <a:cs typeface="Avenir Next"/>
              </a:defRPr>
            </a:pPr>
            <a:r>
              <a:rPr sz="1725" b="1">
                <a:solidFill>
                  <a:srgbClr val="173B5D"/>
                </a:solidFill>
                <a:latin typeface="Avenir Next"/>
                <a:ea typeface="Avenir Next"/>
                <a:cs typeface="Avenir Next"/>
              </a:rPr>
              <a:t>Docker</a:t>
            </a:r>
          </a:p>
        </p:txBody>
      </p:sp>
      <p:sp>
        <p:nvSpPr>
          <p:cNvPr id="20" name="Rectangle 19">
            <a:extLst>
              <a:ext uri="{FF2B5EF4-FFF2-40B4-BE49-F238E27FC236}">
                <a16:creationId xmlns:a16="http://schemas.microsoft.com/office/drawing/2014/main" id="{3CB60D0B-C4CB-4469-B785-FA4E5E862AEE}"/>
              </a:ext>
            </a:extLst>
          </p:cNvPr>
          <p:cNvSpPr>
            <a:spLocks noGrp="1"/>
          </p:cNvSpPr>
          <p:nvPr/>
        </p:nvSpPr>
        <p:spPr>
          <a:xfrm>
            <a:off x="4238625" y="4238625"/>
            <a:ext cx="6191250" cy="32385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construction de l'image</a:t>
            </a:r>
          </a:p>
        </p:txBody>
      </p:sp>
      <p:sp>
        <p:nvSpPr>
          <p:cNvPr id="21" name="Connecteur droit 20">
            <a:extLst>
              <a:ext uri="{FF2B5EF4-FFF2-40B4-BE49-F238E27FC236}">
                <a16:creationId xmlns:a16="http://schemas.microsoft.com/office/drawing/2014/main" id="{DDB63B40-00B7-40B9-89FF-B82BCCF3A1FB}"/>
              </a:ext>
            </a:extLst>
          </p:cNvPr>
          <p:cNvSpPr>
            <a:spLocks noGrp="1"/>
          </p:cNvSpPr>
          <p:nvPr/>
        </p:nvSpPr>
        <p:spPr>
          <a:xfrm>
            <a:off x="1809750" y="4724400"/>
            <a:ext cx="8572500" cy="0"/>
          </a:xfrm>
          <a:prstGeom prst="line">
            <a:avLst/>
          </a:prstGeom>
          <a:noFill/>
          <a:ln w="9525">
            <a:solidFill>
              <a:srgbClr val="D7D1C5"/>
            </a:solidFill>
            <a:prstDash val="solid"/>
          </a:ln>
        </p:spPr>
      </p:sp>
      <p:sp>
        <p:nvSpPr>
          <p:cNvPr id="22" name="Rectangle 21">
            <a:extLst>
              <a:ext uri="{FF2B5EF4-FFF2-40B4-BE49-F238E27FC236}">
                <a16:creationId xmlns:a16="http://schemas.microsoft.com/office/drawing/2014/main" id="{326B6565-A01E-4924-A805-695F206357EB}"/>
              </a:ext>
            </a:extLst>
          </p:cNvPr>
          <p:cNvSpPr>
            <a:spLocks noGrp="1"/>
          </p:cNvSpPr>
          <p:nvPr/>
        </p:nvSpPr>
        <p:spPr>
          <a:xfrm>
            <a:off x="952500" y="5076825"/>
            <a:ext cx="523875" cy="400050"/>
          </a:xfrm>
          <a:prstGeom prst="rect">
            <a:avLst/>
          </a:prstGeom>
          <a:noFill/>
          <a:ln w="0">
            <a:noFill/>
          </a:ln>
        </p:spPr>
        <p:txBody>
          <a:bodyPr wrap="square" lIns="0" tIns="0" rIns="0" bIns="0" anchor="ctr">
            <a:noAutofit/>
          </a:bodyPr>
          <a:lstStyle/>
          <a:p>
            <a:pPr algn="ctr">
              <a:lnSpc>
                <a:spcPct val="103000"/>
              </a:lnSpc>
              <a:buNone/>
              <a:defRPr sz="1800" b="1">
                <a:solidFill>
                  <a:srgbClr val="287B83"/>
                </a:solidFill>
                <a:latin typeface="Avenir Next"/>
                <a:ea typeface="Avenir Next"/>
                <a:cs typeface="Avenir Next"/>
              </a:defRPr>
            </a:pPr>
            <a:r>
              <a:rPr sz="1800" b="1">
                <a:solidFill>
                  <a:srgbClr val="287B83"/>
                </a:solidFill>
                <a:latin typeface="Avenir Next"/>
                <a:ea typeface="Avenir Next"/>
                <a:cs typeface="Avenir Next"/>
              </a:rPr>
              <a:t>5</a:t>
            </a:r>
          </a:p>
        </p:txBody>
      </p:sp>
      <p:sp>
        <p:nvSpPr>
          <p:cNvPr id="23" name="Rectangle 22">
            <a:extLst>
              <a:ext uri="{FF2B5EF4-FFF2-40B4-BE49-F238E27FC236}">
                <a16:creationId xmlns:a16="http://schemas.microsoft.com/office/drawing/2014/main" id="{7C42F08E-4FE6-4C1D-AD1C-2A2D9F79378E}"/>
              </a:ext>
            </a:extLst>
          </p:cNvPr>
          <p:cNvSpPr>
            <a:spLocks noGrp="1"/>
          </p:cNvSpPr>
          <p:nvPr/>
        </p:nvSpPr>
        <p:spPr>
          <a:xfrm>
            <a:off x="1809750" y="5095875"/>
            <a:ext cx="2095500" cy="323850"/>
          </a:xfrm>
          <a:prstGeom prst="rect">
            <a:avLst/>
          </a:prstGeom>
          <a:noFill/>
          <a:ln w="0">
            <a:noFill/>
          </a:ln>
        </p:spPr>
        <p:txBody>
          <a:bodyPr wrap="square" lIns="0" tIns="0" rIns="0" bIns="0" anchor="t">
            <a:noAutofit/>
          </a:bodyPr>
          <a:lstStyle/>
          <a:p>
            <a:pPr algn="l">
              <a:lnSpc>
                <a:spcPct val="103000"/>
              </a:lnSpc>
              <a:buNone/>
              <a:defRPr sz="1725" b="1">
                <a:solidFill>
                  <a:srgbClr val="173B5D"/>
                </a:solidFill>
                <a:latin typeface="Avenir Next"/>
                <a:ea typeface="Avenir Next"/>
                <a:cs typeface="Avenir Next"/>
              </a:defRPr>
            </a:pPr>
            <a:r>
              <a:rPr sz="1725" b="1">
                <a:solidFill>
                  <a:srgbClr val="173B5D"/>
                </a:solidFill>
                <a:latin typeface="Avenir Next"/>
                <a:ea typeface="Avenir Next"/>
                <a:cs typeface="Avenir Next"/>
              </a:rPr>
              <a:t>Smoke</a:t>
            </a:r>
          </a:p>
        </p:txBody>
      </p:sp>
      <p:sp>
        <p:nvSpPr>
          <p:cNvPr id="24" name="Rectangle 23">
            <a:extLst>
              <a:ext uri="{FF2B5EF4-FFF2-40B4-BE49-F238E27FC236}">
                <a16:creationId xmlns:a16="http://schemas.microsoft.com/office/drawing/2014/main" id="{C7189209-584B-41FB-AC0A-620893DD0D53}"/>
              </a:ext>
            </a:extLst>
          </p:cNvPr>
          <p:cNvSpPr>
            <a:spLocks noGrp="1"/>
          </p:cNvSpPr>
          <p:nvPr/>
        </p:nvSpPr>
        <p:spPr>
          <a:xfrm>
            <a:off x="4238625" y="5114925"/>
            <a:ext cx="6191250" cy="32385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santé et prédiction</a:t>
            </a:r>
          </a:p>
        </p:txBody>
      </p:sp>
      <p:sp>
        <p:nvSpPr>
          <p:cNvPr id="25" name="Connecteur droit 24">
            <a:extLst>
              <a:ext uri="{FF2B5EF4-FFF2-40B4-BE49-F238E27FC236}">
                <a16:creationId xmlns:a16="http://schemas.microsoft.com/office/drawing/2014/main" id="{1129E9AE-D589-49E6-B898-825628118B2D}"/>
              </a:ext>
            </a:extLst>
          </p:cNvPr>
          <p:cNvSpPr>
            <a:spLocks noGrp="1"/>
          </p:cNvSpPr>
          <p:nvPr/>
        </p:nvSpPr>
        <p:spPr>
          <a:xfrm>
            <a:off x="1809750" y="5600700"/>
            <a:ext cx="8572500" cy="0"/>
          </a:xfrm>
          <a:prstGeom prst="line">
            <a:avLst/>
          </a:prstGeom>
          <a:noFill/>
          <a:ln w="9525">
            <a:solidFill>
              <a:srgbClr val="D7D1C5"/>
            </a:solidFill>
            <a:prstDash val="solid"/>
          </a:ln>
        </p:spPr>
      </p:sp>
      <p:sp>
        <p:nvSpPr>
          <p:cNvPr id="26" name="Rectangle 25">
            <a:extLst>
              <a:ext uri="{FF2B5EF4-FFF2-40B4-BE49-F238E27FC236}">
                <a16:creationId xmlns:a16="http://schemas.microsoft.com/office/drawing/2014/main" id="{3D580325-7297-400A-83CC-225BB26EB244}"/>
              </a:ext>
            </a:extLst>
          </p:cNvPr>
          <p:cNvSpPr>
            <a:spLocks noGrp="1"/>
          </p:cNvSpPr>
          <p:nvPr/>
        </p:nvSpPr>
        <p:spPr>
          <a:xfrm>
            <a:off x="3238500" y="5953125"/>
            <a:ext cx="5715000" cy="266700"/>
          </a:xfrm>
          <a:prstGeom prst="rect">
            <a:avLst/>
          </a:prstGeom>
          <a:noFill/>
          <a:ln w="0">
            <a:noFill/>
          </a:ln>
        </p:spPr>
        <p:txBody>
          <a:bodyPr wrap="square" lIns="0" tIns="0" rIns="0" bIns="0" anchor="t">
            <a:noAutofit/>
          </a:bodyPr>
          <a:lstStyle/>
          <a:p>
            <a:pPr algn="ctr">
              <a:lnSpc>
                <a:spcPct val="103000"/>
              </a:lnSpc>
              <a:buNone/>
              <a:defRPr sz="1200" b="1">
                <a:solidFill>
                  <a:srgbClr val="C45A31"/>
                </a:solidFill>
                <a:latin typeface="Avenir Next"/>
                <a:ea typeface="Avenir Next"/>
                <a:cs typeface="Avenir Next"/>
              </a:defRPr>
            </a:pPr>
            <a:r>
              <a:rPr sz="1200" b="1">
                <a:solidFill>
                  <a:srgbClr val="C45A31"/>
                </a:solidFill>
                <a:latin typeface="Avenir Next"/>
                <a:ea typeface="Avenir Next"/>
                <a:cs typeface="Avenir Next"/>
              </a:rPr>
              <a:t>Dernière exécution validée : GitHub Actions #35261575924</a:t>
            </a:r>
          </a:p>
        </p:txBody>
      </p:sp>
      <p:sp>
        <p:nvSpPr>
          <p:cNvPr id="27" name="Rectangle 26">
            <a:extLst>
              <a:ext uri="{FF2B5EF4-FFF2-40B4-BE49-F238E27FC236}">
                <a16:creationId xmlns:a16="http://schemas.microsoft.com/office/drawing/2014/main" id="{416D86A0-99AC-4483-8484-9B75CCB5EBBE}"/>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Hamza  CI et documentation QA</a:t>
            </a:r>
          </a:p>
        </p:txBody>
      </p:sp>
      <p:sp>
        <p:nvSpPr>
          <p:cNvPr id="28" name="Rectangle 27">
            <a:extLst>
              <a:ext uri="{FF2B5EF4-FFF2-40B4-BE49-F238E27FC236}">
                <a16:creationId xmlns:a16="http://schemas.microsoft.com/office/drawing/2014/main" id="{BE3EC491-C00F-4D9F-8250-31C540DC7EA7}"/>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07 / 18</a:t>
            </a:r>
          </a:p>
        </p:txBody>
      </p:sp>
    </p:spTree>
    <p:extLst>
      <p:ext uri="{BB962C8B-B14F-4D97-AF65-F5344CB8AC3E}">
        <p14:creationId xmlns:p14="http://schemas.microsoft.com/office/powerpoint/2010/main" val="1374683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355221-76F3-444A-AF0C-827F750ABDF0}"/>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CDC2C65D-1DF0-4EAB-B956-27C9A8678986}"/>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0189AF5C-752B-48E5-BA52-79F773E3C7BD}"/>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Feature engineering et modèles</a:t>
            </a:r>
          </a:p>
        </p:txBody>
      </p:sp>
      <p:sp>
        <p:nvSpPr>
          <p:cNvPr id="4" name="Rectangle 3">
            <a:extLst>
              <a:ext uri="{FF2B5EF4-FFF2-40B4-BE49-F238E27FC236}">
                <a16:creationId xmlns:a16="http://schemas.microsoft.com/office/drawing/2014/main" id="{8B9E4E3F-2861-416B-9FA7-B534D1E9E07C}"/>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MOUHCINE</a:t>
            </a:r>
          </a:p>
        </p:txBody>
      </p:sp>
      <p:sp>
        <p:nvSpPr>
          <p:cNvPr id="5" name="Rectangle 4">
            <a:extLst>
              <a:ext uri="{FF2B5EF4-FFF2-40B4-BE49-F238E27FC236}">
                <a16:creationId xmlns:a16="http://schemas.microsoft.com/office/drawing/2014/main" id="{54538DF5-4378-4670-B711-85CC6B011EE3}"/>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Les tendances récentes complètent les mesures brutes</a:t>
            </a:r>
          </a:p>
        </p:txBody>
      </p:sp>
      <p:sp>
        <p:nvSpPr>
          <p:cNvPr id="6" name="Rectangle 5">
            <a:extLst>
              <a:ext uri="{FF2B5EF4-FFF2-40B4-BE49-F238E27FC236}">
                <a16:creationId xmlns:a16="http://schemas.microsoft.com/office/drawing/2014/main" id="{0FF9A40A-1AC2-42BD-A222-353D7C3948F7}"/>
              </a:ext>
            </a:extLst>
          </p:cNvPr>
          <p:cNvSpPr>
            <a:spLocks noGrp="1"/>
          </p:cNvSpPr>
          <p:nvPr/>
        </p:nvSpPr>
        <p:spPr>
          <a:xfrm>
            <a:off x="857250" y="1666875"/>
            <a:ext cx="2190750" cy="552450"/>
          </a:xfrm>
          <a:prstGeom prst="rect">
            <a:avLst/>
          </a:prstGeom>
          <a:noFill/>
          <a:ln w="0">
            <a:noFill/>
          </a:ln>
        </p:spPr>
        <p:txBody>
          <a:bodyPr wrap="square" lIns="0" tIns="0" rIns="0" bIns="0" anchor="t">
            <a:noAutofit/>
          </a:bodyPr>
          <a:lstStyle/>
          <a:p>
            <a:pPr algn="l">
              <a:lnSpc>
                <a:spcPct val="103000"/>
              </a:lnSpc>
              <a:buNone/>
              <a:defRPr sz="3000" b="1">
                <a:solidFill>
                  <a:srgbClr val="287B83"/>
                </a:solidFill>
                <a:latin typeface="Avenir Next"/>
                <a:ea typeface="Avenir Next"/>
                <a:cs typeface="Avenir Next"/>
              </a:defRPr>
            </a:pPr>
            <a:r>
              <a:rPr sz="3000" b="1">
                <a:solidFill>
                  <a:srgbClr val="287B83"/>
                </a:solidFill>
                <a:latin typeface="Avenir Next"/>
                <a:ea typeface="Avenir Next"/>
                <a:cs typeface="Avenir Next"/>
              </a:rPr>
              <a:t>89</a:t>
            </a:r>
          </a:p>
        </p:txBody>
      </p:sp>
      <p:sp>
        <p:nvSpPr>
          <p:cNvPr id="7" name="Rectangle 6">
            <a:extLst>
              <a:ext uri="{FF2B5EF4-FFF2-40B4-BE49-F238E27FC236}">
                <a16:creationId xmlns:a16="http://schemas.microsoft.com/office/drawing/2014/main" id="{6CEBBD0E-64BE-466E-A864-13AB02E7EBDD}"/>
              </a:ext>
            </a:extLst>
          </p:cNvPr>
          <p:cNvSpPr>
            <a:spLocks noGrp="1"/>
          </p:cNvSpPr>
          <p:nvPr/>
        </p:nvSpPr>
        <p:spPr>
          <a:xfrm>
            <a:off x="857250" y="2200275"/>
            <a:ext cx="219075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variables du modèle</a:t>
            </a:r>
          </a:p>
        </p:txBody>
      </p:sp>
      <p:sp>
        <p:nvSpPr>
          <p:cNvPr id="8" name="Rectangle 7">
            <a:extLst>
              <a:ext uri="{FF2B5EF4-FFF2-40B4-BE49-F238E27FC236}">
                <a16:creationId xmlns:a16="http://schemas.microsoft.com/office/drawing/2014/main" id="{D01431B7-32F8-4810-9C30-E4B6F2A75743}"/>
              </a:ext>
            </a:extLst>
          </p:cNvPr>
          <p:cNvSpPr>
            <a:spLocks noGrp="1"/>
          </p:cNvSpPr>
          <p:nvPr/>
        </p:nvSpPr>
        <p:spPr>
          <a:xfrm>
            <a:off x="3619500" y="1666875"/>
            <a:ext cx="2095500" cy="552450"/>
          </a:xfrm>
          <a:prstGeom prst="rect">
            <a:avLst/>
          </a:prstGeom>
          <a:noFill/>
          <a:ln w="0">
            <a:noFill/>
          </a:ln>
        </p:spPr>
        <p:txBody>
          <a:bodyPr wrap="square" lIns="0" tIns="0" rIns="0" bIns="0" anchor="t">
            <a:noAutofit/>
          </a:bodyPr>
          <a:lstStyle/>
          <a:p>
            <a:pPr algn="l">
              <a:lnSpc>
                <a:spcPct val="103000"/>
              </a:lnSpc>
              <a:buNone/>
              <a:defRPr sz="3000" b="1">
                <a:solidFill>
                  <a:srgbClr val="173B5D"/>
                </a:solidFill>
                <a:latin typeface="Avenir Next"/>
                <a:ea typeface="Avenir Next"/>
                <a:cs typeface="Avenir Next"/>
              </a:defRPr>
            </a:pPr>
            <a:r>
              <a:rPr sz="3000" b="1">
                <a:solidFill>
                  <a:srgbClr val="173B5D"/>
                </a:solidFill>
                <a:latin typeface="Avenir Next"/>
                <a:ea typeface="Avenir Next"/>
                <a:cs typeface="Avenir Next"/>
              </a:rPr>
              <a:t>5</a:t>
            </a:r>
          </a:p>
        </p:txBody>
      </p:sp>
      <p:sp>
        <p:nvSpPr>
          <p:cNvPr id="9" name="Rectangle 8">
            <a:extLst>
              <a:ext uri="{FF2B5EF4-FFF2-40B4-BE49-F238E27FC236}">
                <a16:creationId xmlns:a16="http://schemas.microsoft.com/office/drawing/2014/main" id="{44FFD180-3B97-4EE0-91D2-E47A83E8962F}"/>
              </a:ext>
            </a:extLst>
          </p:cNvPr>
          <p:cNvSpPr>
            <a:spLocks noGrp="1"/>
          </p:cNvSpPr>
          <p:nvPr/>
        </p:nvSpPr>
        <p:spPr>
          <a:xfrm>
            <a:off x="3619500" y="2200275"/>
            <a:ext cx="209550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cycles par fenêtre</a:t>
            </a:r>
          </a:p>
        </p:txBody>
      </p:sp>
      <p:sp>
        <p:nvSpPr>
          <p:cNvPr id="10" name="Rectangle 9">
            <a:extLst>
              <a:ext uri="{FF2B5EF4-FFF2-40B4-BE49-F238E27FC236}">
                <a16:creationId xmlns:a16="http://schemas.microsoft.com/office/drawing/2014/main" id="{0B766E7D-EEE8-45D6-8ED0-1B31EDACA88E}"/>
              </a:ext>
            </a:extLst>
          </p:cNvPr>
          <p:cNvSpPr>
            <a:spLocks noGrp="1"/>
          </p:cNvSpPr>
          <p:nvPr/>
        </p:nvSpPr>
        <p:spPr>
          <a:xfrm>
            <a:off x="762000" y="3381375"/>
            <a:ext cx="2857500" cy="1238250"/>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42799A49-FF4B-460A-BE48-0E48BC9DBB46}"/>
              </a:ext>
            </a:extLst>
          </p:cNvPr>
          <p:cNvSpPr>
            <a:spLocks noGrp="1"/>
          </p:cNvSpPr>
          <p:nvPr/>
        </p:nvSpPr>
        <p:spPr>
          <a:xfrm>
            <a:off x="762000" y="3381375"/>
            <a:ext cx="2857500"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F92591A6-23F7-4C9E-A5A3-B010738E47FB}"/>
              </a:ext>
            </a:extLst>
          </p:cNvPr>
          <p:cNvSpPr>
            <a:spLocks noGrp="1"/>
          </p:cNvSpPr>
          <p:nvPr/>
        </p:nvSpPr>
        <p:spPr>
          <a:xfrm>
            <a:off x="933450" y="3543300"/>
            <a:ext cx="2514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Mesures brutes</a:t>
            </a:r>
          </a:p>
        </p:txBody>
      </p:sp>
      <p:sp>
        <p:nvSpPr>
          <p:cNvPr id="13" name="Rectangle 12">
            <a:extLst>
              <a:ext uri="{FF2B5EF4-FFF2-40B4-BE49-F238E27FC236}">
                <a16:creationId xmlns:a16="http://schemas.microsoft.com/office/drawing/2014/main" id="{FA777248-05D5-45A6-BC63-9848ECC99D8B}"/>
              </a:ext>
            </a:extLst>
          </p:cNvPr>
          <p:cNvSpPr>
            <a:spLocks noGrp="1"/>
          </p:cNvSpPr>
          <p:nvPr/>
        </p:nvSpPr>
        <p:spPr>
          <a:xfrm>
            <a:off x="933450" y="3914775"/>
            <a:ext cx="2514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cycle, réglages, 21 capteurs</a:t>
            </a:r>
          </a:p>
        </p:txBody>
      </p:sp>
      <p:sp>
        <p:nvSpPr>
          <p:cNvPr id="14" name="Rectangle 13">
            <a:extLst>
              <a:ext uri="{FF2B5EF4-FFF2-40B4-BE49-F238E27FC236}">
                <a16:creationId xmlns:a16="http://schemas.microsoft.com/office/drawing/2014/main" id="{5817049F-D55E-4438-914D-C6C7E344B713}"/>
              </a:ext>
            </a:extLst>
          </p:cNvPr>
          <p:cNvSpPr>
            <a:spLocks noGrp="1"/>
          </p:cNvSpPr>
          <p:nvPr/>
        </p:nvSpPr>
        <p:spPr>
          <a:xfrm>
            <a:off x="4667250" y="3381375"/>
            <a:ext cx="2857500" cy="1238250"/>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DCBBB81C-221C-47DC-ADB6-3CF26D5551C5}"/>
              </a:ext>
            </a:extLst>
          </p:cNvPr>
          <p:cNvSpPr>
            <a:spLocks noGrp="1"/>
          </p:cNvSpPr>
          <p:nvPr/>
        </p:nvSpPr>
        <p:spPr>
          <a:xfrm>
            <a:off x="4667250" y="3381375"/>
            <a:ext cx="2857500" cy="47625"/>
          </a:xfrm>
          <a:prstGeom prst="rect">
            <a:avLst/>
          </a:prstGeom>
          <a:solidFill>
            <a:srgbClr val="287B83"/>
          </a:solidFill>
          <a:ln w="0">
            <a:noFill/>
          </a:ln>
        </p:spPr>
      </p:sp>
      <p:sp>
        <p:nvSpPr>
          <p:cNvPr id="16" name="Rectangle 15">
            <a:extLst>
              <a:ext uri="{FF2B5EF4-FFF2-40B4-BE49-F238E27FC236}">
                <a16:creationId xmlns:a16="http://schemas.microsoft.com/office/drawing/2014/main" id="{37E992A5-C3DF-41FA-8B0D-5B1D6EC88024}"/>
              </a:ext>
            </a:extLst>
          </p:cNvPr>
          <p:cNvSpPr>
            <a:spLocks noGrp="1"/>
          </p:cNvSpPr>
          <p:nvPr/>
        </p:nvSpPr>
        <p:spPr>
          <a:xfrm>
            <a:off x="4838700" y="3543300"/>
            <a:ext cx="2514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Fenêtres</a:t>
            </a:r>
          </a:p>
        </p:txBody>
      </p:sp>
      <p:sp>
        <p:nvSpPr>
          <p:cNvPr id="17" name="Rectangle 16">
            <a:extLst>
              <a:ext uri="{FF2B5EF4-FFF2-40B4-BE49-F238E27FC236}">
                <a16:creationId xmlns:a16="http://schemas.microsoft.com/office/drawing/2014/main" id="{29C8CC91-F5DB-4009-A156-082F106013AC}"/>
              </a:ext>
            </a:extLst>
          </p:cNvPr>
          <p:cNvSpPr>
            <a:spLocks noGrp="1"/>
          </p:cNvSpPr>
          <p:nvPr/>
        </p:nvSpPr>
        <p:spPr>
          <a:xfrm>
            <a:off x="4838700" y="3914775"/>
            <a:ext cx="2514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moyenne, écart type, pente</a:t>
            </a:r>
          </a:p>
        </p:txBody>
      </p:sp>
      <p:sp>
        <p:nvSpPr>
          <p:cNvPr id="18" name="Rectangle 17">
            <a:extLst>
              <a:ext uri="{FF2B5EF4-FFF2-40B4-BE49-F238E27FC236}">
                <a16:creationId xmlns:a16="http://schemas.microsoft.com/office/drawing/2014/main" id="{D1A432CB-C8D4-436D-950D-A37A3B069D64}"/>
              </a:ext>
            </a:extLst>
          </p:cNvPr>
          <p:cNvSpPr>
            <a:spLocks noGrp="1"/>
          </p:cNvSpPr>
          <p:nvPr/>
        </p:nvSpPr>
        <p:spPr>
          <a:xfrm>
            <a:off x="8572500" y="3381375"/>
            <a:ext cx="2857500" cy="1238250"/>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5D7BEACE-A15A-4C59-898E-E2A9E5462A30}"/>
              </a:ext>
            </a:extLst>
          </p:cNvPr>
          <p:cNvSpPr>
            <a:spLocks noGrp="1"/>
          </p:cNvSpPr>
          <p:nvPr/>
        </p:nvSpPr>
        <p:spPr>
          <a:xfrm>
            <a:off x="8572500" y="3381375"/>
            <a:ext cx="2857500" cy="47625"/>
          </a:xfrm>
          <a:prstGeom prst="rect">
            <a:avLst/>
          </a:prstGeom>
          <a:solidFill>
            <a:srgbClr val="287B83"/>
          </a:solidFill>
          <a:ln w="0">
            <a:noFill/>
          </a:ln>
        </p:spPr>
      </p:sp>
      <p:sp>
        <p:nvSpPr>
          <p:cNvPr id="20" name="Rectangle 19">
            <a:extLst>
              <a:ext uri="{FF2B5EF4-FFF2-40B4-BE49-F238E27FC236}">
                <a16:creationId xmlns:a16="http://schemas.microsoft.com/office/drawing/2014/main" id="{B14D2587-97E3-4DED-92B1-425570B6DD55}"/>
              </a:ext>
            </a:extLst>
          </p:cNvPr>
          <p:cNvSpPr>
            <a:spLocks noGrp="1"/>
          </p:cNvSpPr>
          <p:nvPr/>
        </p:nvSpPr>
        <p:spPr>
          <a:xfrm>
            <a:off x="8743950" y="3543300"/>
            <a:ext cx="2514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Candidats</a:t>
            </a:r>
          </a:p>
        </p:txBody>
      </p:sp>
      <p:sp>
        <p:nvSpPr>
          <p:cNvPr id="21" name="Rectangle 20">
            <a:extLst>
              <a:ext uri="{FF2B5EF4-FFF2-40B4-BE49-F238E27FC236}">
                <a16:creationId xmlns:a16="http://schemas.microsoft.com/office/drawing/2014/main" id="{1AAAE2EC-4F4B-464F-BE74-C989157462FB}"/>
              </a:ext>
            </a:extLst>
          </p:cNvPr>
          <p:cNvSpPr>
            <a:spLocks noGrp="1"/>
          </p:cNvSpPr>
          <p:nvPr/>
        </p:nvSpPr>
        <p:spPr>
          <a:xfrm>
            <a:off x="8743950" y="3914775"/>
            <a:ext cx="2514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baseline, Ridge, forêt, gradient boosting</a:t>
            </a:r>
          </a:p>
        </p:txBody>
      </p:sp>
      <p:cxnSp>
        <p:nvCxnSpPr>
          <p:cNvPr id="48" name="Connecteur droit avec flèche 47"/>
          <p:cNvCxnSpPr>
            <a:stCxn id="10" idx="3"/>
            <a:endCxn id="14" idx="1"/>
          </p:cNvCxnSpPr>
          <p:nvPr/>
        </p:nvCxnSpPr>
        <p:spPr>
          <a:xfrm>
            <a:off x="3619500" y="4000500"/>
            <a:ext cx="1047750" cy="0"/>
          </a:xfrm>
          <a:prstGeom prst="straightConnector1">
            <a:avLst/>
          </a:prstGeom>
          <a:ln w="19050">
            <a:solidFill>
              <a:srgbClr val="287B83"/>
            </a:solidFill>
            <a:prstDash val="solid"/>
            <a:tailEnd type="triangle" w="sm" len="sm"/>
          </a:ln>
        </p:spPr>
      </p:cxnSp>
      <p:cxnSp>
        <p:nvCxnSpPr>
          <p:cNvPr id="49" name="Connecteur droit avec flèche 48"/>
          <p:cNvCxnSpPr>
            <a:stCxn id="14" idx="3"/>
            <a:endCxn id="18" idx="1"/>
          </p:cNvCxnSpPr>
          <p:nvPr/>
        </p:nvCxnSpPr>
        <p:spPr>
          <a:xfrm>
            <a:off x="7524750" y="4000500"/>
            <a:ext cx="1047750" cy="0"/>
          </a:xfrm>
          <a:prstGeom prst="straightConnector1">
            <a:avLst/>
          </a:prstGeom>
          <a:ln w="19050">
            <a:solidFill>
              <a:srgbClr val="287B83"/>
            </a:solidFill>
            <a:prstDash val="solid"/>
            <a:tailEnd type="triangle" w="sm" len="sm"/>
          </a:ln>
        </p:spPr>
      </p:cxnSp>
      <p:sp>
        <p:nvSpPr>
          <p:cNvPr id="24" name="Rectangle 23">
            <a:extLst>
              <a:ext uri="{FF2B5EF4-FFF2-40B4-BE49-F238E27FC236}">
                <a16:creationId xmlns:a16="http://schemas.microsoft.com/office/drawing/2014/main" id="{1CAFB1E7-5B44-4F4E-9993-0FDBF706C2AA}"/>
              </a:ext>
            </a:extLst>
          </p:cNvPr>
          <p:cNvSpPr>
            <a:spLocks noGrp="1"/>
          </p:cNvSpPr>
          <p:nvPr/>
        </p:nvSpPr>
        <p:spPr>
          <a:xfrm>
            <a:off x="1619250" y="5334000"/>
            <a:ext cx="8953500" cy="428625"/>
          </a:xfrm>
          <a:prstGeom prst="rect">
            <a:avLst/>
          </a:prstGeom>
          <a:noFill/>
          <a:ln w="0">
            <a:noFill/>
          </a:ln>
        </p:spPr>
        <p:txBody>
          <a:bodyPr wrap="square" lIns="0" tIns="0" rIns="0" bIns="0" anchor="t">
            <a:noAutofit/>
          </a:bodyPr>
          <a:lstStyle/>
          <a:p>
            <a:pPr algn="ctr">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Cinq familles comparées dans le même protocole ; séparation par moteur contre les fuites</a:t>
            </a:r>
          </a:p>
        </p:txBody>
      </p:sp>
      <p:sp>
        <p:nvSpPr>
          <p:cNvPr id="25" name="Rectangle 24">
            <a:extLst>
              <a:ext uri="{FF2B5EF4-FFF2-40B4-BE49-F238E27FC236}">
                <a16:creationId xmlns:a16="http://schemas.microsoft.com/office/drawing/2014/main" id="{7F5770AD-A91F-4BF8-AA37-D12AAC5474D9}"/>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Mouhcine  Modélisation</a:t>
            </a:r>
          </a:p>
        </p:txBody>
      </p:sp>
      <p:sp>
        <p:nvSpPr>
          <p:cNvPr id="26" name="Rectangle 25">
            <a:extLst>
              <a:ext uri="{FF2B5EF4-FFF2-40B4-BE49-F238E27FC236}">
                <a16:creationId xmlns:a16="http://schemas.microsoft.com/office/drawing/2014/main" id="{732AED7A-8F6B-4117-87D0-590C320A33FA}"/>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08 / 18</a:t>
            </a:r>
          </a:p>
        </p:txBody>
      </p:sp>
    </p:spTree>
    <p:extLst>
      <p:ext uri="{BB962C8B-B14F-4D97-AF65-F5344CB8AC3E}">
        <p14:creationId xmlns:p14="http://schemas.microsoft.com/office/powerpoint/2010/main" val="883438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FC2BF29-DA34-455A-ABA4-6DF0DB40CA1D}"/>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06F65BC8-ADC0-483E-A0CF-6F12C3994DB7}"/>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5DE50132-1B11-4E72-99D3-6D6FDC992FD2}"/>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Évaluation finale : MAE, RMSE et score NASA</a:t>
            </a:r>
          </a:p>
        </p:txBody>
      </p:sp>
      <p:sp>
        <p:nvSpPr>
          <p:cNvPr id="4" name="Rectangle 3">
            <a:extLst>
              <a:ext uri="{FF2B5EF4-FFF2-40B4-BE49-F238E27FC236}">
                <a16:creationId xmlns:a16="http://schemas.microsoft.com/office/drawing/2014/main" id="{10A7BD71-BEEA-4CB0-83FB-89E2449F224A}"/>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MOUHCINE</a:t>
            </a:r>
          </a:p>
        </p:txBody>
      </p:sp>
      <p:sp>
        <p:nvSpPr>
          <p:cNvPr id="5" name="Rectangle 4">
            <a:extLst>
              <a:ext uri="{FF2B5EF4-FFF2-40B4-BE49-F238E27FC236}">
                <a16:creationId xmlns:a16="http://schemas.microsoft.com/office/drawing/2014/main" id="{453B5AAD-F94E-4CD6-95CF-95B29A9F534E}"/>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Protocole standard au dernier cycle de 707 moteurs de test</a:t>
            </a:r>
          </a:p>
        </p:txBody>
      </p:sp>
      <p:graphicFrame>
        <p:nvGraphicFramePr>
          <p:cNvPr id="28" name="Chart"/>
          <p:cNvGraphicFramePr/>
          <p:nvPr/>
        </p:nvGraphicFramePr>
        <p:xfrm>
          <a:off x="523875" y="1666875"/>
          <a:ext cx="6381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772A3BF7-E736-4362-98C1-1761B0AC7B72}"/>
              </a:ext>
            </a:extLst>
          </p:cNvPr>
          <p:cNvSpPr>
            <a:spLocks noGrp="1"/>
          </p:cNvSpPr>
          <p:nvPr/>
        </p:nvSpPr>
        <p:spPr>
          <a:xfrm>
            <a:off x="7429500" y="1619250"/>
            <a:ext cx="3333750" cy="266700"/>
          </a:xfrm>
          <a:prstGeom prst="rect">
            <a:avLst/>
          </a:prstGeom>
          <a:noFill/>
          <a:ln w="0">
            <a:noFill/>
          </a:ln>
        </p:spPr>
        <p:txBody>
          <a:bodyPr wrap="square" lIns="0" tIns="0" rIns="0" bIns="0" anchor="t">
            <a:noAutofit/>
          </a:bodyPr>
          <a:lstStyle/>
          <a:p>
            <a:pPr algn="l">
              <a:lnSpc>
                <a:spcPct val="103000"/>
              </a:lnSpc>
              <a:buNone/>
              <a:defRPr sz="1200" b="1">
                <a:solidFill>
                  <a:srgbClr val="C45A31"/>
                </a:solidFill>
                <a:latin typeface="Avenir Next"/>
                <a:ea typeface="Avenir Next"/>
                <a:cs typeface="Avenir Next"/>
              </a:defRPr>
            </a:pPr>
            <a:r>
              <a:rPr sz="1200" b="1">
                <a:solidFill>
                  <a:srgbClr val="C45A31"/>
                </a:solidFill>
                <a:latin typeface="Avenir Next"/>
                <a:ea typeface="Avenir Next"/>
                <a:cs typeface="Avenir Next"/>
              </a:rPr>
              <a:t>Modèle retenu</a:t>
            </a:r>
          </a:p>
        </p:txBody>
      </p:sp>
      <p:sp>
        <p:nvSpPr>
          <p:cNvPr id="8" name="Rectangle 7">
            <a:extLst>
              <a:ext uri="{FF2B5EF4-FFF2-40B4-BE49-F238E27FC236}">
                <a16:creationId xmlns:a16="http://schemas.microsoft.com/office/drawing/2014/main" id="{683A9B9B-454E-414D-B168-0A6CE60FE7C6}"/>
              </a:ext>
            </a:extLst>
          </p:cNvPr>
          <p:cNvSpPr>
            <a:spLocks noGrp="1"/>
          </p:cNvSpPr>
          <p:nvPr/>
        </p:nvSpPr>
        <p:spPr>
          <a:xfrm>
            <a:off x="7429500" y="1952625"/>
            <a:ext cx="4000500" cy="666750"/>
          </a:xfrm>
          <a:prstGeom prst="rect">
            <a:avLst/>
          </a:prstGeom>
          <a:noFill/>
          <a:ln w="0">
            <a:noFill/>
          </a:ln>
        </p:spPr>
        <p:txBody>
          <a:bodyPr wrap="square" lIns="0" tIns="0" rIns="0" bIns="0" anchor="t">
            <a:noAutofit/>
          </a:bodyPr>
          <a:lstStyle/>
          <a:p>
            <a:pPr algn="l">
              <a:lnSpc>
                <a:spcPct val="95000"/>
              </a:lnSpc>
              <a:buNone/>
              <a:defRPr sz="2025" b="1">
                <a:solidFill>
                  <a:srgbClr val="173B5D"/>
                </a:solidFill>
                <a:latin typeface="Avenir Next"/>
                <a:ea typeface="Avenir Next"/>
                <a:cs typeface="Avenir Next"/>
              </a:defRPr>
            </a:pPr>
            <a:r>
              <a:rPr sz="2025" b="1">
                <a:solidFill>
                  <a:srgbClr val="173B5D"/>
                </a:solidFill>
                <a:latin typeface="Avenir Next"/>
                <a:ea typeface="Avenir Next"/>
                <a:cs typeface="Avenir Next"/>
              </a:rPr>
              <a:t>HistGradientBoosting</a:t>
            </a:r>
          </a:p>
          <a:p>
            <a:pPr algn="l">
              <a:lnSpc>
                <a:spcPct val="95000"/>
              </a:lnSpc>
              <a:buNone/>
              <a:defRPr sz="2025" b="1">
                <a:solidFill>
                  <a:srgbClr val="173B5D"/>
                </a:solidFill>
                <a:latin typeface="Avenir Next"/>
                <a:ea typeface="Avenir Next"/>
                <a:cs typeface="Avenir Next"/>
              </a:defRPr>
            </a:pPr>
            <a:r>
              <a:rPr sz="2025" b="1">
                <a:solidFill>
                  <a:srgbClr val="173B5D"/>
                </a:solidFill>
                <a:latin typeface="Avenir Next"/>
                <a:ea typeface="Avenir Next"/>
                <a:cs typeface="Avenir Next"/>
              </a:rPr>
              <a:t>Regressor</a:t>
            </a:r>
          </a:p>
        </p:txBody>
      </p:sp>
      <p:sp>
        <p:nvSpPr>
          <p:cNvPr id="9" name="Rectangle 8">
            <a:extLst>
              <a:ext uri="{FF2B5EF4-FFF2-40B4-BE49-F238E27FC236}">
                <a16:creationId xmlns:a16="http://schemas.microsoft.com/office/drawing/2014/main" id="{DF058D7D-58B1-4BA9-A482-83C2CB2B32C6}"/>
              </a:ext>
            </a:extLst>
          </p:cNvPr>
          <p:cNvSpPr>
            <a:spLocks noGrp="1"/>
          </p:cNvSpPr>
          <p:nvPr/>
        </p:nvSpPr>
        <p:spPr>
          <a:xfrm>
            <a:off x="7429500" y="2905125"/>
            <a:ext cx="3714750" cy="857250"/>
          </a:xfrm>
          <a:prstGeom prst="rect">
            <a:avLst/>
          </a:prstGeom>
          <a:solidFill>
            <a:srgbClr val="FFFCF5"/>
          </a:solidFill>
          <a:ln w="10478">
            <a:solidFill>
              <a:srgbClr val="D7D1C5"/>
            </a:solidFill>
            <a:prstDash val="solid"/>
          </a:ln>
        </p:spPr>
      </p:sp>
      <p:sp>
        <p:nvSpPr>
          <p:cNvPr id="10" name="Rectangle 9">
            <a:extLst>
              <a:ext uri="{FF2B5EF4-FFF2-40B4-BE49-F238E27FC236}">
                <a16:creationId xmlns:a16="http://schemas.microsoft.com/office/drawing/2014/main" id="{637F7676-4BC4-4BD5-A3A8-75B9D0FE017F}"/>
              </a:ext>
            </a:extLst>
          </p:cNvPr>
          <p:cNvSpPr>
            <a:spLocks noGrp="1"/>
          </p:cNvSpPr>
          <p:nvPr/>
        </p:nvSpPr>
        <p:spPr>
          <a:xfrm>
            <a:off x="7429500" y="2905125"/>
            <a:ext cx="3714750" cy="47625"/>
          </a:xfrm>
          <a:prstGeom prst="rect">
            <a:avLst/>
          </a:prstGeom>
          <a:solidFill>
            <a:srgbClr val="287B83"/>
          </a:solidFill>
          <a:ln w="0">
            <a:noFill/>
          </a:ln>
        </p:spPr>
      </p:sp>
      <p:sp>
        <p:nvSpPr>
          <p:cNvPr id="11" name="Rectangle 10">
            <a:extLst>
              <a:ext uri="{FF2B5EF4-FFF2-40B4-BE49-F238E27FC236}">
                <a16:creationId xmlns:a16="http://schemas.microsoft.com/office/drawing/2014/main" id="{9B130EA1-92C7-401F-857D-DC2486B73002}"/>
              </a:ext>
            </a:extLst>
          </p:cNvPr>
          <p:cNvSpPr>
            <a:spLocks noGrp="1"/>
          </p:cNvSpPr>
          <p:nvPr/>
        </p:nvSpPr>
        <p:spPr>
          <a:xfrm>
            <a:off x="7600950" y="3067050"/>
            <a:ext cx="3371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MAE  12,56</a:t>
            </a:r>
          </a:p>
        </p:txBody>
      </p:sp>
      <p:sp>
        <p:nvSpPr>
          <p:cNvPr id="12" name="Rectangle 11">
            <a:extLst>
              <a:ext uri="{FF2B5EF4-FFF2-40B4-BE49-F238E27FC236}">
                <a16:creationId xmlns:a16="http://schemas.microsoft.com/office/drawing/2014/main" id="{DEB6E49A-D4C3-46A2-8BDC-61C9FB98F2D2}"/>
              </a:ext>
            </a:extLst>
          </p:cNvPr>
          <p:cNvSpPr>
            <a:spLocks noGrp="1"/>
          </p:cNvSpPr>
          <p:nvPr/>
        </p:nvSpPr>
        <p:spPr>
          <a:xfrm>
            <a:off x="7600950" y="3438525"/>
            <a:ext cx="3371850" cy="209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Erreur absolue moyenne : lecture directe en cycles</a:t>
            </a:r>
          </a:p>
        </p:txBody>
      </p:sp>
      <p:sp>
        <p:nvSpPr>
          <p:cNvPr id="13" name="Rectangle 12">
            <a:extLst>
              <a:ext uri="{FF2B5EF4-FFF2-40B4-BE49-F238E27FC236}">
                <a16:creationId xmlns:a16="http://schemas.microsoft.com/office/drawing/2014/main" id="{71D3794C-ABB4-4C9F-8FBB-A5976F8499E0}"/>
              </a:ext>
            </a:extLst>
          </p:cNvPr>
          <p:cNvSpPr>
            <a:spLocks noGrp="1"/>
          </p:cNvSpPr>
          <p:nvPr/>
        </p:nvSpPr>
        <p:spPr>
          <a:xfrm>
            <a:off x="7429500" y="3952875"/>
            <a:ext cx="3714750" cy="857250"/>
          </a:xfrm>
          <a:prstGeom prst="rect">
            <a:avLst/>
          </a:prstGeom>
          <a:solidFill>
            <a:srgbClr val="FFFCF5"/>
          </a:solidFill>
          <a:ln w="10478">
            <a:solidFill>
              <a:srgbClr val="D7D1C5"/>
            </a:solidFill>
            <a:prstDash val="solid"/>
          </a:ln>
        </p:spPr>
      </p:sp>
      <p:sp>
        <p:nvSpPr>
          <p:cNvPr id="14" name="Rectangle 13">
            <a:extLst>
              <a:ext uri="{FF2B5EF4-FFF2-40B4-BE49-F238E27FC236}">
                <a16:creationId xmlns:a16="http://schemas.microsoft.com/office/drawing/2014/main" id="{AAF4565F-AEDB-4EF3-924E-376ED3C34665}"/>
              </a:ext>
            </a:extLst>
          </p:cNvPr>
          <p:cNvSpPr>
            <a:spLocks noGrp="1"/>
          </p:cNvSpPr>
          <p:nvPr/>
        </p:nvSpPr>
        <p:spPr>
          <a:xfrm>
            <a:off x="7429500" y="3952875"/>
            <a:ext cx="3714750" cy="47625"/>
          </a:xfrm>
          <a:prstGeom prst="rect">
            <a:avLst/>
          </a:prstGeom>
          <a:solidFill>
            <a:srgbClr val="C45A31"/>
          </a:solidFill>
          <a:ln w="0">
            <a:noFill/>
          </a:ln>
        </p:spPr>
      </p:sp>
      <p:sp>
        <p:nvSpPr>
          <p:cNvPr id="15" name="Rectangle 14">
            <a:extLst>
              <a:ext uri="{FF2B5EF4-FFF2-40B4-BE49-F238E27FC236}">
                <a16:creationId xmlns:a16="http://schemas.microsoft.com/office/drawing/2014/main" id="{CCD576EA-1B63-4292-B6E6-F71F19840306}"/>
              </a:ext>
            </a:extLst>
          </p:cNvPr>
          <p:cNvSpPr>
            <a:spLocks noGrp="1"/>
          </p:cNvSpPr>
          <p:nvPr/>
        </p:nvSpPr>
        <p:spPr>
          <a:xfrm>
            <a:off x="7600950" y="4114800"/>
            <a:ext cx="3371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RMSE  16,93</a:t>
            </a:r>
          </a:p>
        </p:txBody>
      </p:sp>
      <p:sp>
        <p:nvSpPr>
          <p:cNvPr id="16" name="Rectangle 15">
            <a:extLst>
              <a:ext uri="{FF2B5EF4-FFF2-40B4-BE49-F238E27FC236}">
                <a16:creationId xmlns:a16="http://schemas.microsoft.com/office/drawing/2014/main" id="{A19C46A2-5123-4EFE-81A6-F50DC1C75BE9}"/>
              </a:ext>
            </a:extLst>
          </p:cNvPr>
          <p:cNvSpPr>
            <a:spLocks noGrp="1"/>
          </p:cNvSpPr>
          <p:nvPr/>
        </p:nvSpPr>
        <p:spPr>
          <a:xfrm>
            <a:off x="7600950" y="4486275"/>
            <a:ext cx="3371850" cy="209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Pénalise davantage les grandes erreurs</a:t>
            </a:r>
          </a:p>
        </p:txBody>
      </p:sp>
      <p:sp>
        <p:nvSpPr>
          <p:cNvPr id="17" name="Rectangle 16">
            <a:extLst>
              <a:ext uri="{FF2B5EF4-FFF2-40B4-BE49-F238E27FC236}">
                <a16:creationId xmlns:a16="http://schemas.microsoft.com/office/drawing/2014/main" id="{746AAAAC-F965-451F-BB9C-A6332AA6D5CC}"/>
              </a:ext>
            </a:extLst>
          </p:cNvPr>
          <p:cNvSpPr>
            <a:spLocks noGrp="1"/>
          </p:cNvSpPr>
          <p:nvPr/>
        </p:nvSpPr>
        <p:spPr>
          <a:xfrm>
            <a:off x="7429500" y="5000625"/>
            <a:ext cx="3714750" cy="857250"/>
          </a:xfrm>
          <a:prstGeom prst="rect">
            <a:avLst/>
          </a:prstGeom>
          <a:solidFill>
            <a:srgbClr val="FFFCF5"/>
          </a:solidFill>
          <a:ln w="10478">
            <a:solidFill>
              <a:srgbClr val="D7D1C5"/>
            </a:solidFill>
            <a:prstDash val="solid"/>
          </a:ln>
        </p:spPr>
      </p:sp>
      <p:sp>
        <p:nvSpPr>
          <p:cNvPr id="18" name="Rectangle 17">
            <a:extLst>
              <a:ext uri="{FF2B5EF4-FFF2-40B4-BE49-F238E27FC236}">
                <a16:creationId xmlns:a16="http://schemas.microsoft.com/office/drawing/2014/main" id="{50FA57CB-03AD-4EA6-A60F-394FD9C2B87B}"/>
              </a:ext>
            </a:extLst>
          </p:cNvPr>
          <p:cNvSpPr>
            <a:spLocks noGrp="1"/>
          </p:cNvSpPr>
          <p:nvPr/>
        </p:nvSpPr>
        <p:spPr>
          <a:xfrm>
            <a:off x="7429500" y="5000625"/>
            <a:ext cx="3714750" cy="47625"/>
          </a:xfrm>
          <a:prstGeom prst="rect">
            <a:avLst/>
          </a:prstGeom>
          <a:solidFill>
            <a:srgbClr val="A74A42"/>
          </a:solidFill>
          <a:ln w="0">
            <a:noFill/>
          </a:ln>
        </p:spPr>
      </p:sp>
      <p:sp>
        <p:nvSpPr>
          <p:cNvPr id="19" name="Rectangle 18">
            <a:extLst>
              <a:ext uri="{FF2B5EF4-FFF2-40B4-BE49-F238E27FC236}">
                <a16:creationId xmlns:a16="http://schemas.microsoft.com/office/drawing/2014/main" id="{C6163F54-A34C-4F30-9BFF-9B58F82A19D9}"/>
              </a:ext>
            </a:extLst>
          </p:cNvPr>
          <p:cNvSpPr>
            <a:spLocks noGrp="1"/>
          </p:cNvSpPr>
          <p:nvPr/>
        </p:nvSpPr>
        <p:spPr>
          <a:xfrm>
            <a:off x="7600950" y="5162550"/>
            <a:ext cx="3371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NASA  4 466</a:t>
            </a:r>
          </a:p>
        </p:txBody>
      </p:sp>
      <p:sp>
        <p:nvSpPr>
          <p:cNvPr id="20" name="Rectangle 19">
            <a:extLst>
              <a:ext uri="{FF2B5EF4-FFF2-40B4-BE49-F238E27FC236}">
                <a16:creationId xmlns:a16="http://schemas.microsoft.com/office/drawing/2014/main" id="{CFC812B7-8954-4CFE-BFF5-3C972EBE0702}"/>
              </a:ext>
            </a:extLst>
          </p:cNvPr>
          <p:cNvSpPr>
            <a:spLocks noGrp="1"/>
          </p:cNvSpPr>
          <p:nvPr/>
        </p:nvSpPr>
        <p:spPr>
          <a:xfrm>
            <a:off x="7600950" y="5534025"/>
            <a:ext cx="3371850" cy="209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Pénalise davantage une RUL surestimée</a:t>
            </a:r>
          </a:p>
        </p:txBody>
      </p:sp>
      <p:sp>
        <p:nvSpPr>
          <p:cNvPr id="21" name="Rectangle 20">
            <a:extLst>
              <a:ext uri="{FF2B5EF4-FFF2-40B4-BE49-F238E27FC236}">
                <a16:creationId xmlns:a16="http://schemas.microsoft.com/office/drawing/2014/main" id="{FEF9CDF4-D965-4CCB-82DA-4F4F745F9152}"/>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Mouhcine  Résultats du modèle</a:t>
            </a:r>
          </a:p>
        </p:txBody>
      </p:sp>
      <p:sp>
        <p:nvSpPr>
          <p:cNvPr id="22" name="Rectangle 21">
            <a:extLst>
              <a:ext uri="{FF2B5EF4-FFF2-40B4-BE49-F238E27FC236}">
                <a16:creationId xmlns:a16="http://schemas.microsoft.com/office/drawing/2014/main" id="{F1794A21-AB36-4781-A7D1-4244B89FF1B9}"/>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09 / 18</a:t>
            </a:r>
          </a:p>
        </p:txBody>
      </p:sp>
    </p:spTree>
    <p:extLst>
      <p:ext uri="{BB962C8B-B14F-4D97-AF65-F5344CB8AC3E}">
        <p14:creationId xmlns:p14="http://schemas.microsoft.com/office/powerpoint/2010/main" val="1229209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977F8C2-21C7-4538-885E-E94CF0421F98}"/>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44CB9514-E1B1-4C46-AE36-5F086D1963B9}"/>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3B645D6C-335A-43DC-8BCC-E37F25089D25}"/>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Suivi des expériences avec MLflow</a:t>
            </a:r>
          </a:p>
        </p:txBody>
      </p:sp>
      <p:sp>
        <p:nvSpPr>
          <p:cNvPr id="4" name="Rectangle 3">
            <a:extLst>
              <a:ext uri="{FF2B5EF4-FFF2-40B4-BE49-F238E27FC236}">
                <a16:creationId xmlns:a16="http://schemas.microsoft.com/office/drawing/2014/main" id="{A1384597-30E2-4D0F-A6FE-575EA3A313CD}"/>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OSSAMA</a:t>
            </a:r>
          </a:p>
        </p:txBody>
      </p:sp>
      <p:sp>
        <p:nvSpPr>
          <p:cNvPr id="5" name="Rectangle 4">
            <a:extLst>
              <a:ext uri="{FF2B5EF4-FFF2-40B4-BE49-F238E27FC236}">
                <a16:creationId xmlns:a16="http://schemas.microsoft.com/office/drawing/2014/main" id="{C2BB9751-BEC7-44EF-85FF-F1D83EABCBD2}"/>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Le registre relie une exécution, un modèle et la version servie</a:t>
            </a:r>
          </a:p>
        </p:txBody>
      </p:sp>
      <p:sp>
        <p:nvSpPr>
          <p:cNvPr id="6" name="Rectangle 5">
            <a:extLst>
              <a:ext uri="{FF2B5EF4-FFF2-40B4-BE49-F238E27FC236}">
                <a16:creationId xmlns:a16="http://schemas.microsoft.com/office/drawing/2014/main" id="{AB3276C6-054D-47A8-9F9F-3B121F1D0510}"/>
              </a:ext>
            </a:extLst>
          </p:cNvPr>
          <p:cNvSpPr>
            <a:spLocks noGrp="1"/>
          </p:cNvSpPr>
          <p:nvPr/>
        </p:nvSpPr>
        <p:spPr>
          <a:xfrm>
            <a:off x="952500" y="2143125"/>
            <a:ext cx="2571750" cy="1238250"/>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854D305E-B5BD-4615-80FA-C482DBDC3111}"/>
              </a:ext>
            </a:extLst>
          </p:cNvPr>
          <p:cNvSpPr>
            <a:spLocks noGrp="1"/>
          </p:cNvSpPr>
          <p:nvPr/>
        </p:nvSpPr>
        <p:spPr>
          <a:xfrm>
            <a:off x="952500" y="2143125"/>
            <a:ext cx="2571750" cy="47625"/>
          </a:xfrm>
          <a:prstGeom prst="rect">
            <a:avLst/>
          </a:prstGeom>
          <a:solidFill>
            <a:srgbClr val="287B83"/>
          </a:solidFill>
          <a:ln w="0">
            <a:noFill/>
          </a:ln>
        </p:spPr>
      </p:sp>
      <p:sp>
        <p:nvSpPr>
          <p:cNvPr id="8" name="Rectangle 7">
            <a:extLst>
              <a:ext uri="{FF2B5EF4-FFF2-40B4-BE49-F238E27FC236}">
                <a16:creationId xmlns:a16="http://schemas.microsoft.com/office/drawing/2014/main" id="{C31FC818-5C7A-49C2-88DC-EB9FAC77C615}"/>
              </a:ext>
            </a:extLst>
          </p:cNvPr>
          <p:cNvSpPr>
            <a:spLocks noGrp="1"/>
          </p:cNvSpPr>
          <p:nvPr/>
        </p:nvSpPr>
        <p:spPr>
          <a:xfrm>
            <a:off x="1123950" y="2305050"/>
            <a:ext cx="2228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Exécution</a:t>
            </a:r>
          </a:p>
        </p:txBody>
      </p:sp>
      <p:sp>
        <p:nvSpPr>
          <p:cNvPr id="9" name="Rectangle 8">
            <a:extLst>
              <a:ext uri="{FF2B5EF4-FFF2-40B4-BE49-F238E27FC236}">
                <a16:creationId xmlns:a16="http://schemas.microsoft.com/office/drawing/2014/main" id="{B06A1EE4-8AA4-4E16-BF33-1767FD24C389}"/>
              </a:ext>
            </a:extLst>
          </p:cNvPr>
          <p:cNvSpPr>
            <a:spLocks noGrp="1"/>
          </p:cNvSpPr>
          <p:nvPr/>
        </p:nvSpPr>
        <p:spPr>
          <a:xfrm>
            <a:off x="1123950" y="2676525"/>
            <a:ext cx="222885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paramètres, métriques, artefacts</a:t>
            </a:r>
          </a:p>
        </p:txBody>
      </p:sp>
      <p:sp>
        <p:nvSpPr>
          <p:cNvPr id="10" name="Rectangle 9">
            <a:extLst>
              <a:ext uri="{FF2B5EF4-FFF2-40B4-BE49-F238E27FC236}">
                <a16:creationId xmlns:a16="http://schemas.microsoft.com/office/drawing/2014/main" id="{1A53BB97-4C9D-4B20-B9DE-BF55B520B87D}"/>
              </a:ext>
            </a:extLst>
          </p:cNvPr>
          <p:cNvSpPr>
            <a:spLocks noGrp="1"/>
          </p:cNvSpPr>
          <p:nvPr/>
        </p:nvSpPr>
        <p:spPr>
          <a:xfrm>
            <a:off x="4810125" y="2143125"/>
            <a:ext cx="2571750" cy="1238250"/>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4E8EE803-D88E-4108-BCCF-401575BF5032}"/>
              </a:ext>
            </a:extLst>
          </p:cNvPr>
          <p:cNvSpPr>
            <a:spLocks noGrp="1"/>
          </p:cNvSpPr>
          <p:nvPr/>
        </p:nvSpPr>
        <p:spPr>
          <a:xfrm>
            <a:off x="4810125" y="2143125"/>
            <a:ext cx="2571750"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62696FD7-A3E3-45E2-92A3-111C3B971CDA}"/>
              </a:ext>
            </a:extLst>
          </p:cNvPr>
          <p:cNvSpPr>
            <a:spLocks noGrp="1"/>
          </p:cNvSpPr>
          <p:nvPr/>
        </p:nvSpPr>
        <p:spPr>
          <a:xfrm>
            <a:off x="4981575" y="2305050"/>
            <a:ext cx="2228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Candidat</a:t>
            </a:r>
          </a:p>
        </p:txBody>
      </p:sp>
      <p:sp>
        <p:nvSpPr>
          <p:cNvPr id="13" name="Rectangle 12">
            <a:extLst>
              <a:ext uri="{FF2B5EF4-FFF2-40B4-BE49-F238E27FC236}">
                <a16:creationId xmlns:a16="http://schemas.microsoft.com/office/drawing/2014/main" id="{710C4BAB-E1F9-406D-85A6-1D084007702F}"/>
              </a:ext>
            </a:extLst>
          </p:cNvPr>
          <p:cNvSpPr>
            <a:spLocks noGrp="1"/>
          </p:cNvSpPr>
          <p:nvPr/>
        </p:nvSpPr>
        <p:spPr>
          <a:xfrm>
            <a:off x="4981575" y="2676525"/>
            <a:ext cx="222885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version enregistrée</a:t>
            </a:r>
          </a:p>
        </p:txBody>
      </p:sp>
      <p:sp>
        <p:nvSpPr>
          <p:cNvPr id="14" name="Rectangle 13">
            <a:extLst>
              <a:ext uri="{FF2B5EF4-FFF2-40B4-BE49-F238E27FC236}">
                <a16:creationId xmlns:a16="http://schemas.microsoft.com/office/drawing/2014/main" id="{D22392E2-0355-47EE-AE48-B8A20E075094}"/>
              </a:ext>
            </a:extLst>
          </p:cNvPr>
          <p:cNvSpPr>
            <a:spLocks noGrp="1"/>
          </p:cNvSpPr>
          <p:nvPr/>
        </p:nvSpPr>
        <p:spPr>
          <a:xfrm>
            <a:off x="8667750" y="2143125"/>
            <a:ext cx="2571750" cy="1238250"/>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5C805BBC-9722-4ECF-8ACC-3A5DF48BEE56}"/>
              </a:ext>
            </a:extLst>
          </p:cNvPr>
          <p:cNvSpPr>
            <a:spLocks noGrp="1"/>
          </p:cNvSpPr>
          <p:nvPr/>
        </p:nvSpPr>
        <p:spPr>
          <a:xfrm>
            <a:off x="8667750" y="2143125"/>
            <a:ext cx="2571750" cy="47625"/>
          </a:xfrm>
          <a:prstGeom prst="rect">
            <a:avLst/>
          </a:prstGeom>
          <a:solidFill>
            <a:srgbClr val="287B83"/>
          </a:solidFill>
          <a:ln w="0">
            <a:noFill/>
          </a:ln>
        </p:spPr>
      </p:sp>
      <p:sp>
        <p:nvSpPr>
          <p:cNvPr id="16" name="Rectangle 15">
            <a:extLst>
              <a:ext uri="{FF2B5EF4-FFF2-40B4-BE49-F238E27FC236}">
                <a16:creationId xmlns:a16="http://schemas.microsoft.com/office/drawing/2014/main" id="{8AE6F964-6920-4D10-83B5-94544E2E4DE7}"/>
              </a:ext>
            </a:extLst>
          </p:cNvPr>
          <p:cNvSpPr>
            <a:spLocks noGrp="1"/>
          </p:cNvSpPr>
          <p:nvPr/>
        </p:nvSpPr>
        <p:spPr>
          <a:xfrm>
            <a:off x="8839200" y="2305050"/>
            <a:ext cx="2228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Champion</a:t>
            </a:r>
          </a:p>
        </p:txBody>
      </p:sp>
      <p:sp>
        <p:nvSpPr>
          <p:cNvPr id="17" name="Rectangle 16">
            <a:extLst>
              <a:ext uri="{FF2B5EF4-FFF2-40B4-BE49-F238E27FC236}">
                <a16:creationId xmlns:a16="http://schemas.microsoft.com/office/drawing/2014/main" id="{8F6C6164-854E-4FE6-BB44-276C05BF94C7}"/>
              </a:ext>
            </a:extLst>
          </p:cNvPr>
          <p:cNvSpPr>
            <a:spLocks noGrp="1"/>
          </p:cNvSpPr>
          <p:nvPr/>
        </p:nvSpPr>
        <p:spPr>
          <a:xfrm>
            <a:off x="8839200" y="2676525"/>
            <a:ext cx="222885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alias utilisé par l'API</a:t>
            </a:r>
          </a:p>
        </p:txBody>
      </p:sp>
      <p:cxnSp>
        <p:nvCxnSpPr>
          <p:cNvPr id="44" name="Connecteur droit avec flèche 43"/>
          <p:cNvCxnSpPr>
            <a:stCxn id="6" idx="3"/>
            <a:endCxn id="10" idx="1"/>
          </p:cNvCxnSpPr>
          <p:nvPr/>
        </p:nvCxnSpPr>
        <p:spPr>
          <a:xfrm>
            <a:off x="3524250" y="2762250"/>
            <a:ext cx="1285875" cy="0"/>
          </a:xfrm>
          <a:prstGeom prst="straightConnector1">
            <a:avLst/>
          </a:prstGeom>
          <a:ln w="19050">
            <a:solidFill>
              <a:srgbClr val="287B83"/>
            </a:solidFill>
            <a:prstDash val="solid"/>
            <a:tailEnd type="triangle" w="sm" len="sm"/>
          </a:ln>
        </p:spPr>
      </p:cxnSp>
      <p:cxnSp>
        <p:nvCxnSpPr>
          <p:cNvPr id="45" name="Connecteur droit avec flèche 44"/>
          <p:cNvCxnSpPr>
            <a:stCxn id="10" idx="3"/>
            <a:endCxn id="14" idx="1"/>
          </p:cNvCxnSpPr>
          <p:nvPr/>
        </p:nvCxnSpPr>
        <p:spPr>
          <a:xfrm>
            <a:off x="7381875" y="2762250"/>
            <a:ext cx="1285875" cy="0"/>
          </a:xfrm>
          <a:prstGeom prst="straightConnector1">
            <a:avLst/>
          </a:prstGeom>
          <a:ln w="19050">
            <a:solidFill>
              <a:srgbClr val="287B83"/>
            </a:solidFill>
            <a:prstDash val="solid"/>
            <a:tailEnd type="triangle" w="sm" len="sm"/>
          </a:ln>
        </p:spPr>
      </p:cxnSp>
      <p:sp>
        <p:nvSpPr>
          <p:cNvPr id="20" name="Rectangle 19">
            <a:extLst>
              <a:ext uri="{FF2B5EF4-FFF2-40B4-BE49-F238E27FC236}">
                <a16:creationId xmlns:a16="http://schemas.microsoft.com/office/drawing/2014/main" id="{403C8BFE-8414-4855-8E64-31D21FC1B688}"/>
              </a:ext>
            </a:extLst>
          </p:cNvPr>
          <p:cNvSpPr>
            <a:spLocks noGrp="1"/>
          </p:cNvSpPr>
          <p:nvPr/>
        </p:nvSpPr>
        <p:spPr>
          <a:xfrm>
            <a:off x="904875" y="4143375"/>
            <a:ext cx="4000500" cy="32385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Champion observé en production</a:t>
            </a:r>
          </a:p>
        </p:txBody>
      </p:sp>
      <p:sp>
        <p:nvSpPr>
          <p:cNvPr id="21" name="Rectangle 20">
            <a:extLst>
              <a:ext uri="{FF2B5EF4-FFF2-40B4-BE49-F238E27FC236}">
                <a16:creationId xmlns:a16="http://schemas.microsoft.com/office/drawing/2014/main" id="{2F4E2802-09DE-4593-96B3-2886AD5CF24C}"/>
              </a:ext>
            </a:extLst>
          </p:cNvPr>
          <p:cNvSpPr>
            <a:spLocks noGrp="1"/>
          </p:cNvSpPr>
          <p:nvPr/>
        </p:nvSpPr>
        <p:spPr>
          <a:xfrm>
            <a:off x="904875" y="4619625"/>
            <a:ext cx="2476500" cy="514350"/>
          </a:xfrm>
          <a:prstGeom prst="rect">
            <a:avLst/>
          </a:prstGeom>
          <a:noFill/>
          <a:ln w="0">
            <a:noFill/>
          </a:ln>
        </p:spPr>
        <p:txBody>
          <a:bodyPr wrap="square" lIns="0" tIns="0" rIns="0" bIns="0" anchor="t">
            <a:noAutofit/>
          </a:bodyPr>
          <a:lstStyle/>
          <a:p>
            <a:pPr algn="l">
              <a:lnSpc>
                <a:spcPct val="103000"/>
              </a:lnSpc>
              <a:buNone/>
              <a:defRPr sz="2850" b="1">
                <a:solidFill>
                  <a:srgbClr val="C45A31"/>
                </a:solidFill>
                <a:latin typeface="Avenir Next"/>
                <a:ea typeface="Avenir Next"/>
                <a:cs typeface="Avenir Next"/>
              </a:defRPr>
            </a:pPr>
            <a:r>
              <a:rPr sz="2850" b="1">
                <a:solidFill>
                  <a:srgbClr val="C45A31"/>
                </a:solidFill>
                <a:latin typeface="Avenir Next"/>
                <a:ea typeface="Avenir Next"/>
                <a:cs typeface="Avenir Next"/>
              </a:rPr>
              <a:t>version 2</a:t>
            </a:r>
          </a:p>
        </p:txBody>
      </p:sp>
      <p:sp>
        <p:nvSpPr>
          <p:cNvPr id="22" name="Rectangle 21">
            <a:extLst>
              <a:ext uri="{FF2B5EF4-FFF2-40B4-BE49-F238E27FC236}">
                <a16:creationId xmlns:a16="http://schemas.microsoft.com/office/drawing/2014/main" id="{0800AA14-39C9-431B-BAAB-904DEF0EBE61}"/>
              </a:ext>
            </a:extLst>
          </p:cNvPr>
          <p:cNvSpPr>
            <a:spLocks noGrp="1"/>
          </p:cNvSpPr>
          <p:nvPr/>
        </p:nvSpPr>
        <p:spPr>
          <a:xfrm>
            <a:off x="4476750" y="4143375"/>
            <a:ext cx="3429000" cy="32385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URI chargée par FastAPI</a:t>
            </a:r>
          </a:p>
        </p:txBody>
      </p:sp>
      <p:sp>
        <p:nvSpPr>
          <p:cNvPr id="23" name="Rectangle 22">
            <a:extLst>
              <a:ext uri="{FF2B5EF4-FFF2-40B4-BE49-F238E27FC236}">
                <a16:creationId xmlns:a16="http://schemas.microsoft.com/office/drawing/2014/main" id="{B2D00EB4-DD18-4FBC-B581-B907476BD716}"/>
              </a:ext>
            </a:extLst>
          </p:cNvPr>
          <p:cNvSpPr>
            <a:spLocks noGrp="1"/>
          </p:cNvSpPr>
          <p:nvPr/>
        </p:nvSpPr>
        <p:spPr>
          <a:xfrm>
            <a:off x="4476750" y="4667250"/>
            <a:ext cx="6191250" cy="428625"/>
          </a:xfrm>
          <a:prstGeom prst="rect">
            <a:avLst/>
          </a:prstGeom>
          <a:noFill/>
          <a:ln w="0">
            <a:noFill/>
          </a:ln>
        </p:spPr>
        <p:txBody>
          <a:bodyPr wrap="square" lIns="0" tIns="0" rIns="0" bIns="0" anchor="t">
            <a:noAutofit/>
          </a:bodyPr>
          <a:lstStyle/>
          <a:p>
            <a:pPr algn="l">
              <a:lnSpc>
                <a:spcPct val="103000"/>
              </a:lnSpc>
              <a:buNone/>
              <a:defRPr sz="1350" b="1">
                <a:solidFill>
                  <a:srgbClr val="287B83"/>
                </a:solidFill>
                <a:latin typeface="Avenir Next"/>
                <a:ea typeface="Avenir Next"/>
                <a:cs typeface="Avenir Next"/>
              </a:defRPr>
            </a:pPr>
            <a:r>
              <a:rPr sz="1350" b="1">
                <a:solidFill>
                  <a:srgbClr val="287B83"/>
                </a:solidFill>
                <a:latin typeface="Avenir Next"/>
                <a:ea typeface="Avenir Next"/>
                <a:cs typeface="Avenir Next"/>
              </a:rPr>
              <a:t>models:/industrial-equipment-health-model@champion</a:t>
            </a:r>
          </a:p>
        </p:txBody>
      </p:sp>
      <p:sp>
        <p:nvSpPr>
          <p:cNvPr id="24" name="Rectangle 23">
            <a:extLst>
              <a:ext uri="{FF2B5EF4-FFF2-40B4-BE49-F238E27FC236}">
                <a16:creationId xmlns:a16="http://schemas.microsoft.com/office/drawing/2014/main" id="{E50443E5-809D-4970-B3EC-CF3459203488}"/>
              </a:ext>
            </a:extLst>
          </p:cNvPr>
          <p:cNvSpPr>
            <a:spLocks noGrp="1"/>
          </p:cNvSpPr>
          <p:nvPr/>
        </p:nvSpPr>
        <p:spPr>
          <a:xfrm>
            <a:off x="4476750" y="5286375"/>
            <a:ext cx="6191250" cy="4762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Le run ID n'est présenté que depuis l'interface MLflow live afin d'éviter une valeur figée.</a:t>
            </a:r>
          </a:p>
        </p:txBody>
      </p:sp>
      <p:sp>
        <p:nvSpPr>
          <p:cNvPr id="25" name="Rectangle 24">
            <a:extLst>
              <a:ext uri="{FF2B5EF4-FFF2-40B4-BE49-F238E27FC236}">
                <a16:creationId xmlns:a16="http://schemas.microsoft.com/office/drawing/2014/main" id="{ABEF0FB1-E262-4B81-AB48-AF0020D0B87D}"/>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Ossama  MLflow</a:t>
            </a:r>
          </a:p>
        </p:txBody>
      </p:sp>
      <p:sp>
        <p:nvSpPr>
          <p:cNvPr id="26" name="Rectangle 25">
            <a:extLst>
              <a:ext uri="{FF2B5EF4-FFF2-40B4-BE49-F238E27FC236}">
                <a16:creationId xmlns:a16="http://schemas.microsoft.com/office/drawing/2014/main" id="{8E3F27E8-0117-4FFF-B2B7-2786809D1068}"/>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10 / 18</a:t>
            </a:r>
          </a:p>
        </p:txBody>
      </p:sp>
    </p:spTree>
    <p:extLst>
      <p:ext uri="{BB962C8B-B14F-4D97-AF65-F5344CB8AC3E}">
        <p14:creationId xmlns:p14="http://schemas.microsoft.com/office/powerpoint/2010/main" val="191265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E03F13F-11B5-4D15-B77C-EF2FF1BD289F}"/>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2DD433C9-71DA-4F47-BE0B-5B38B3B32D73}"/>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106768EB-5C3C-4439-8366-DA003C61A688}"/>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Réentraînement et promotion</a:t>
            </a:r>
          </a:p>
        </p:txBody>
      </p:sp>
      <p:sp>
        <p:nvSpPr>
          <p:cNvPr id="4" name="Rectangle 3">
            <a:extLst>
              <a:ext uri="{FF2B5EF4-FFF2-40B4-BE49-F238E27FC236}">
                <a16:creationId xmlns:a16="http://schemas.microsoft.com/office/drawing/2014/main" id="{5EA3C789-0AD0-4924-A2D6-998EFD516B3E}"/>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OSSAMA</a:t>
            </a:r>
          </a:p>
        </p:txBody>
      </p:sp>
      <p:sp>
        <p:nvSpPr>
          <p:cNvPr id="5" name="Rectangle 4">
            <a:extLst>
              <a:ext uri="{FF2B5EF4-FFF2-40B4-BE49-F238E27FC236}">
                <a16:creationId xmlns:a16="http://schemas.microsoft.com/office/drawing/2014/main" id="{0FC9181D-5C81-4C44-9790-36789A5E128A}"/>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Planification quotidienne et garde sur les métriques</a:t>
            </a:r>
          </a:p>
        </p:txBody>
      </p:sp>
      <p:sp>
        <p:nvSpPr>
          <p:cNvPr id="6" name="Rectangle 5">
            <a:extLst>
              <a:ext uri="{FF2B5EF4-FFF2-40B4-BE49-F238E27FC236}">
                <a16:creationId xmlns:a16="http://schemas.microsoft.com/office/drawing/2014/main" id="{9391101D-4305-4952-801D-4EA4E7AF2A8F}"/>
              </a:ext>
            </a:extLst>
          </p:cNvPr>
          <p:cNvSpPr>
            <a:spLocks noGrp="1"/>
          </p:cNvSpPr>
          <p:nvPr/>
        </p:nvSpPr>
        <p:spPr>
          <a:xfrm>
            <a:off x="666750" y="2238375"/>
            <a:ext cx="1905000" cy="1143000"/>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F0A5006D-D121-4CF6-A592-BB4FC5DA368D}"/>
              </a:ext>
            </a:extLst>
          </p:cNvPr>
          <p:cNvSpPr>
            <a:spLocks noGrp="1"/>
          </p:cNvSpPr>
          <p:nvPr/>
        </p:nvSpPr>
        <p:spPr>
          <a:xfrm>
            <a:off x="666750" y="2238375"/>
            <a:ext cx="1905000" cy="47625"/>
          </a:xfrm>
          <a:prstGeom prst="rect">
            <a:avLst/>
          </a:prstGeom>
          <a:solidFill>
            <a:srgbClr val="287B83"/>
          </a:solidFill>
          <a:ln w="0">
            <a:noFill/>
          </a:ln>
        </p:spPr>
      </p:sp>
      <p:sp>
        <p:nvSpPr>
          <p:cNvPr id="8" name="Rectangle 7">
            <a:extLst>
              <a:ext uri="{FF2B5EF4-FFF2-40B4-BE49-F238E27FC236}">
                <a16:creationId xmlns:a16="http://schemas.microsoft.com/office/drawing/2014/main" id="{FDF43860-F04D-4F17-AA3C-40802B33BAA9}"/>
              </a:ext>
            </a:extLst>
          </p:cNvPr>
          <p:cNvSpPr>
            <a:spLocks noGrp="1"/>
          </p:cNvSpPr>
          <p:nvPr/>
        </p:nvSpPr>
        <p:spPr>
          <a:xfrm>
            <a:off x="838200" y="2400300"/>
            <a:ext cx="1562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06:00</a:t>
            </a:r>
          </a:p>
        </p:txBody>
      </p:sp>
      <p:sp>
        <p:nvSpPr>
          <p:cNvPr id="9" name="Rectangle 8">
            <a:extLst>
              <a:ext uri="{FF2B5EF4-FFF2-40B4-BE49-F238E27FC236}">
                <a16:creationId xmlns:a16="http://schemas.microsoft.com/office/drawing/2014/main" id="{06FF5BB1-066B-40D6-9D2A-1480B40BC79C}"/>
              </a:ext>
            </a:extLst>
          </p:cNvPr>
          <p:cNvSpPr>
            <a:spLocks noGrp="1"/>
          </p:cNvSpPr>
          <p:nvPr/>
        </p:nvSpPr>
        <p:spPr>
          <a:xfrm>
            <a:off x="838200" y="2771775"/>
            <a:ext cx="156210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job Dagster quotidien</a:t>
            </a:r>
          </a:p>
        </p:txBody>
      </p:sp>
      <p:sp>
        <p:nvSpPr>
          <p:cNvPr id="10" name="Rectangle 9">
            <a:extLst>
              <a:ext uri="{FF2B5EF4-FFF2-40B4-BE49-F238E27FC236}">
                <a16:creationId xmlns:a16="http://schemas.microsoft.com/office/drawing/2014/main" id="{EE17E8AF-1269-4CDB-B6D0-F69EE37D46BD}"/>
              </a:ext>
            </a:extLst>
          </p:cNvPr>
          <p:cNvSpPr>
            <a:spLocks noGrp="1"/>
          </p:cNvSpPr>
          <p:nvPr/>
        </p:nvSpPr>
        <p:spPr>
          <a:xfrm>
            <a:off x="3190875" y="2238375"/>
            <a:ext cx="2095500" cy="1143000"/>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4DA3CAF9-3A0A-40B0-AAC5-F3CCE2967D8C}"/>
              </a:ext>
            </a:extLst>
          </p:cNvPr>
          <p:cNvSpPr>
            <a:spLocks noGrp="1"/>
          </p:cNvSpPr>
          <p:nvPr/>
        </p:nvSpPr>
        <p:spPr>
          <a:xfrm>
            <a:off x="3190875" y="2238375"/>
            <a:ext cx="2095500"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1E8E0DE1-9E7E-4752-BE65-98A64FE97998}"/>
              </a:ext>
            </a:extLst>
          </p:cNvPr>
          <p:cNvSpPr>
            <a:spLocks noGrp="1"/>
          </p:cNvSpPr>
          <p:nvPr/>
        </p:nvSpPr>
        <p:spPr>
          <a:xfrm>
            <a:off x="3362325" y="2400300"/>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Candidat</a:t>
            </a:r>
          </a:p>
        </p:txBody>
      </p:sp>
      <p:sp>
        <p:nvSpPr>
          <p:cNvPr id="13" name="Rectangle 12">
            <a:extLst>
              <a:ext uri="{FF2B5EF4-FFF2-40B4-BE49-F238E27FC236}">
                <a16:creationId xmlns:a16="http://schemas.microsoft.com/office/drawing/2014/main" id="{84489EB4-0F09-4C89-BCFC-25AB3E618DD7}"/>
              </a:ext>
            </a:extLst>
          </p:cNvPr>
          <p:cNvSpPr>
            <a:spLocks noGrp="1"/>
          </p:cNvSpPr>
          <p:nvPr/>
        </p:nvSpPr>
        <p:spPr>
          <a:xfrm>
            <a:off x="3362325" y="2771775"/>
            <a:ext cx="175260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entraînement et évaluation</a:t>
            </a:r>
          </a:p>
        </p:txBody>
      </p:sp>
      <p:sp>
        <p:nvSpPr>
          <p:cNvPr id="14" name="Rectangle 13">
            <a:extLst>
              <a:ext uri="{FF2B5EF4-FFF2-40B4-BE49-F238E27FC236}">
                <a16:creationId xmlns:a16="http://schemas.microsoft.com/office/drawing/2014/main" id="{1ECA7AE0-1E63-4DD6-AF43-9EEE51BFCF5F}"/>
              </a:ext>
            </a:extLst>
          </p:cNvPr>
          <p:cNvSpPr>
            <a:spLocks noGrp="1"/>
          </p:cNvSpPr>
          <p:nvPr/>
        </p:nvSpPr>
        <p:spPr>
          <a:xfrm>
            <a:off x="5905500" y="2238375"/>
            <a:ext cx="2095500" cy="1143000"/>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F49AA57E-4F9E-4017-9214-D211D071197B}"/>
              </a:ext>
            </a:extLst>
          </p:cNvPr>
          <p:cNvSpPr>
            <a:spLocks noGrp="1"/>
          </p:cNvSpPr>
          <p:nvPr/>
        </p:nvSpPr>
        <p:spPr>
          <a:xfrm>
            <a:off x="5905500" y="2238375"/>
            <a:ext cx="2095500" cy="47625"/>
          </a:xfrm>
          <a:prstGeom prst="rect">
            <a:avLst/>
          </a:prstGeom>
          <a:solidFill>
            <a:srgbClr val="287B83"/>
          </a:solidFill>
          <a:ln w="0">
            <a:noFill/>
          </a:ln>
        </p:spPr>
      </p:sp>
      <p:sp>
        <p:nvSpPr>
          <p:cNvPr id="16" name="Rectangle 15">
            <a:extLst>
              <a:ext uri="{FF2B5EF4-FFF2-40B4-BE49-F238E27FC236}">
                <a16:creationId xmlns:a16="http://schemas.microsoft.com/office/drawing/2014/main" id="{73E60ABD-BF9C-4464-973C-864D73259BFD}"/>
              </a:ext>
            </a:extLst>
          </p:cNvPr>
          <p:cNvSpPr>
            <a:spLocks noGrp="1"/>
          </p:cNvSpPr>
          <p:nvPr/>
        </p:nvSpPr>
        <p:spPr>
          <a:xfrm>
            <a:off x="6076950" y="2400300"/>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Comparaison</a:t>
            </a:r>
          </a:p>
        </p:txBody>
      </p:sp>
      <p:sp>
        <p:nvSpPr>
          <p:cNvPr id="17" name="Rectangle 16">
            <a:extLst>
              <a:ext uri="{FF2B5EF4-FFF2-40B4-BE49-F238E27FC236}">
                <a16:creationId xmlns:a16="http://schemas.microsoft.com/office/drawing/2014/main" id="{68C7EE37-B1D2-4AFC-856B-E9E4772F983F}"/>
              </a:ext>
            </a:extLst>
          </p:cNvPr>
          <p:cNvSpPr>
            <a:spLocks noGrp="1"/>
          </p:cNvSpPr>
          <p:nvPr/>
        </p:nvSpPr>
        <p:spPr>
          <a:xfrm>
            <a:off x="6076950" y="2771775"/>
            <a:ext cx="175260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MAE et RMSE</a:t>
            </a:r>
          </a:p>
        </p:txBody>
      </p:sp>
      <p:sp>
        <p:nvSpPr>
          <p:cNvPr id="18" name="Rectangle 17">
            <a:extLst>
              <a:ext uri="{FF2B5EF4-FFF2-40B4-BE49-F238E27FC236}">
                <a16:creationId xmlns:a16="http://schemas.microsoft.com/office/drawing/2014/main" id="{CB28F1B9-D79C-4044-93D3-27E6B41E7874}"/>
              </a:ext>
            </a:extLst>
          </p:cNvPr>
          <p:cNvSpPr>
            <a:spLocks noGrp="1"/>
          </p:cNvSpPr>
          <p:nvPr/>
        </p:nvSpPr>
        <p:spPr>
          <a:xfrm>
            <a:off x="8620125" y="2238375"/>
            <a:ext cx="2381250" cy="1143000"/>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CBA962CA-8861-434E-A9EB-14443FC1E1F2}"/>
              </a:ext>
            </a:extLst>
          </p:cNvPr>
          <p:cNvSpPr>
            <a:spLocks noGrp="1"/>
          </p:cNvSpPr>
          <p:nvPr/>
        </p:nvSpPr>
        <p:spPr>
          <a:xfrm>
            <a:off x="8620125" y="2238375"/>
            <a:ext cx="2381250" cy="47625"/>
          </a:xfrm>
          <a:prstGeom prst="rect">
            <a:avLst/>
          </a:prstGeom>
          <a:solidFill>
            <a:srgbClr val="287B83"/>
          </a:solidFill>
          <a:ln w="0">
            <a:noFill/>
          </a:ln>
        </p:spPr>
      </p:sp>
      <p:sp>
        <p:nvSpPr>
          <p:cNvPr id="20" name="Rectangle 19">
            <a:extLst>
              <a:ext uri="{FF2B5EF4-FFF2-40B4-BE49-F238E27FC236}">
                <a16:creationId xmlns:a16="http://schemas.microsoft.com/office/drawing/2014/main" id="{178029A0-8F99-403E-99A5-080DE9208B5D}"/>
              </a:ext>
            </a:extLst>
          </p:cNvPr>
          <p:cNvSpPr>
            <a:spLocks noGrp="1"/>
          </p:cNvSpPr>
          <p:nvPr/>
        </p:nvSpPr>
        <p:spPr>
          <a:xfrm>
            <a:off x="8791575" y="2400300"/>
            <a:ext cx="2038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Décision</a:t>
            </a:r>
          </a:p>
        </p:txBody>
      </p:sp>
      <p:sp>
        <p:nvSpPr>
          <p:cNvPr id="21" name="Rectangle 20">
            <a:extLst>
              <a:ext uri="{FF2B5EF4-FFF2-40B4-BE49-F238E27FC236}">
                <a16:creationId xmlns:a16="http://schemas.microsoft.com/office/drawing/2014/main" id="{7CB35F28-E368-4A57-B43A-CE86500EF2E9}"/>
              </a:ext>
            </a:extLst>
          </p:cNvPr>
          <p:cNvSpPr>
            <a:spLocks noGrp="1"/>
          </p:cNvSpPr>
          <p:nvPr/>
        </p:nvSpPr>
        <p:spPr>
          <a:xfrm>
            <a:off x="8791575" y="2771775"/>
            <a:ext cx="203835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promotion ou ancien champion</a:t>
            </a:r>
          </a:p>
        </p:txBody>
      </p:sp>
      <p:cxnSp>
        <p:nvCxnSpPr>
          <p:cNvPr id="50" name="Connecteur droit avec flèche 49"/>
          <p:cNvCxnSpPr>
            <a:stCxn id="6" idx="3"/>
            <a:endCxn id="10" idx="1"/>
          </p:cNvCxnSpPr>
          <p:nvPr/>
        </p:nvCxnSpPr>
        <p:spPr>
          <a:xfrm>
            <a:off x="2571750" y="2809875"/>
            <a:ext cx="619125" cy="0"/>
          </a:xfrm>
          <a:prstGeom prst="straightConnector1">
            <a:avLst/>
          </a:prstGeom>
          <a:ln w="19050">
            <a:solidFill>
              <a:srgbClr val="287B83"/>
            </a:solidFill>
            <a:prstDash val="solid"/>
            <a:tailEnd type="triangle" w="sm" len="sm"/>
          </a:ln>
        </p:spPr>
      </p:cxnSp>
      <p:cxnSp>
        <p:nvCxnSpPr>
          <p:cNvPr id="51" name="Connecteur droit avec flèche 50"/>
          <p:cNvCxnSpPr>
            <a:stCxn id="10" idx="3"/>
            <a:endCxn id="14" idx="1"/>
          </p:cNvCxnSpPr>
          <p:nvPr/>
        </p:nvCxnSpPr>
        <p:spPr>
          <a:xfrm>
            <a:off x="5286375" y="2809875"/>
            <a:ext cx="619125" cy="0"/>
          </a:xfrm>
          <a:prstGeom prst="straightConnector1">
            <a:avLst/>
          </a:prstGeom>
          <a:ln w="19050">
            <a:solidFill>
              <a:srgbClr val="287B83"/>
            </a:solidFill>
            <a:prstDash val="solid"/>
            <a:tailEnd type="triangle" w="sm" len="sm"/>
          </a:ln>
        </p:spPr>
      </p:cxnSp>
      <p:cxnSp>
        <p:nvCxnSpPr>
          <p:cNvPr id="52" name="Connecteur droit avec flèche 51"/>
          <p:cNvCxnSpPr>
            <a:stCxn id="14" idx="3"/>
            <a:endCxn id="18" idx="1"/>
          </p:cNvCxnSpPr>
          <p:nvPr/>
        </p:nvCxnSpPr>
        <p:spPr>
          <a:xfrm>
            <a:off x="8001000" y="2809875"/>
            <a:ext cx="619125" cy="0"/>
          </a:xfrm>
          <a:prstGeom prst="straightConnector1">
            <a:avLst/>
          </a:prstGeom>
          <a:ln w="19050">
            <a:solidFill>
              <a:srgbClr val="287B83"/>
            </a:solidFill>
            <a:prstDash val="solid"/>
            <a:tailEnd type="triangle" w="sm" len="sm"/>
          </a:ln>
        </p:spPr>
      </p:cxnSp>
      <p:sp>
        <p:nvSpPr>
          <p:cNvPr id="25" name="Rectangle 24">
            <a:extLst>
              <a:ext uri="{FF2B5EF4-FFF2-40B4-BE49-F238E27FC236}">
                <a16:creationId xmlns:a16="http://schemas.microsoft.com/office/drawing/2014/main" id="{3C1EBFC4-709A-4C77-B67B-8A067FEA9F77}"/>
              </a:ext>
            </a:extLst>
          </p:cNvPr>
          <p:cNvSpPr>
            <a:spLocks noGrp="1"/>
          </p:cNvSpPr>
          <p:nvPr/>
        </p:nvSpPr>
        <p:spPr>
          <a:xfrm>
            <a:off x="1047750" y="4191000"/>
            <a:ext cx="6191250" cy="1809750"/>
          </a:xfrm>
          <a:prstGeom prst="rect">
            <a:avLst/>
          </a:prstGeom>
          <a:noFill/>
          <a:ln w="0">
            <a:noFill/>
          </a:ln>
        </p:spPr>
        <p:txBody>
          <a:bodyPr wrap="square" lIns="0" tIns="0" rIns="0" bIns="0">
            <a:noAutofit/>
          </a:bodyPr>
          <a:lstStyle/>
          <a:p>
            <a:pPr marL="254000" indent="-127000">
              <a:lnSpc>
                <a:spcPct val="105000"/>
              </a:lnSpc>
              <a:spcAft>
                <a:spcPts val="1200"/>
              </a:spcAft>
              <a:buNone/>
              <a:defRPr sz="1575">
                <a:solidFill>
                  <a:srgbClr val="17212B"/>
                </a:solidFill>
                <a:latin typeface="Avenir Next"/>
                <a:ea typeface="Avenir Next"/>
                <a:cs typeface="Avenir Next"/>
              </a:defRPr>
            </a:pPr>
            <a:r>
              <a:rPr sz="1575">
                <a:solidFill>
                  <a:srgbClr val="17212B"/>
                </a:solidFill>
                <a:latin typeface="Avenir Next"/>
                <a:ea typeface="Avenir Next"/>
                <a:cs typeface="Avenir Next"/>
              </a:rPr>
              <a:t>Premier candidat : promotion.</a:t>
            </a:r>
          </a:p>
          <a:p>
            <a:pPr marL="254000" indent="-127000">
              <a:lnSpc>
                <a:spcPct val="105000"/>
              </a:lnSpc>
              <a:spcAft>
                <a:spcPts val="1200"/>
              </a:spcAft>
              <a:buNone/>
              <a:defRPr sz="1575">
                <a:solidFill>
                  <a:srgbClr val="17212B"/>
                </a:solidFill>
                <a:latin typeface="Avenir Next"/>
                <a:ea typeface="Avenir Next"/>
                <a:cs typeface="Avenir Next"/>
              </a:defRPr>
            </a:pPr>
            <a:r>
              <a:rPr sz="1575">
                <a:solidFill>
                  <a:srgbClr val="17212B"/>
                </a:solidFill>
                <a:latin typeface="Avenir Next"/>
                <a:ea typeface="Avenir Next"/>
                <a:cs typeface="Avenir Next"/>
              </a:rPr>
              <a:t>Les deux métriques doivent être au moins aussi bonnes.</a:t>
            </a:r>
          </a:p>
          <a:p>
            <a:pPr marL="254000" indent="-127000">
              <a:lnSpc>
                <a:spcPct val="105000"/>
              </a:lnSpc>
              <a:spcAft>
                <a:spcPts val="1200"/>
              </a:spcAft>
              <a:buNone/>
              <a:defRPr sz="1575">
                <a:solidFill>
                  <a:srgbClr val="17212B"/>
                </a:solidFill>
                <a:latin typeface="Avenir Next"/>
                <a:ea typeface="Avenir Next"/>
                <a:cs typeface="Avenir Next"/>
              </a:defRPr>
            </a:pPr>
            <a:r>
              <a:rPr sz="1575">
                <a:solidFill>
                  <a:srgbClr val="17212B"/>
                </a:solidFill>
                <a:latin typeface="Avenir Next"/>
                <a:ea typeface="Avenir Next"/>
                <a:cs typeface="Avenir Next"/>
              </a:rPr>
              <a:t>Métriques du champion absentes : promotion bloquée.</a:t>
            </a:r>
          </a:p>
          <a:p>
            <a:pPr marL="254000" indent="-127000">
              <a:lnSpc>
                <a:spcPct val="105000"/>
              </a:lnSpc>
              <a:spcAft>
                <a:spcPts val="1200"/>
              </a:spcAft>
              <a:buNone/>
              <a:defRPr sz="1575">
                <a:solidFill>
                  <a:srgbClr val="17212B"/>
                </a:solidFill>
                <a:latin typeface="Avenir Next"/>
                <a:ea typeface="Avenir Next"/>
                <a:cs typeface="Avenir Next"/>
              </a:defRPr>
            </a:pPr>
            <a:r>
              <a:rPr sz="1575">
                <a:solidFill>
                  <a:srgbClr val="17212B"/>
                </a:solidFill>
                <a:latin typeface="Avenir Next"/>
                <a:ea typeface="Avenir Next"/>
                <a:cs typeface="Avenir Next"/>
              </a:rPr>
              <a:t>Décision enregistrée dans MLflow et en JSON.</a:t>
            </a:r>
          </a:p>
        </p:txBody>
      </p:sp>
      <p:sp>
        <p:nvSpPr>
          <p:cNvPr id="26" name="Rectangle 25">
            <a:extLst>
              <a:ext uri="{FF2B5EF4-FFF2-40B4-BE49-F238E27FC236}">
                <a16:creationId xmlns:a16="http://schemas.microsoft.com/office/drawing/2014/main" id="{2D8E13C6-8936-43A6-ABEB-AC6A8CDAA188}"/>
              </a:ext>
            </a:extLst>
          </p:cNvPr>
          <p:cNvSpPr>
            <a:spLocks noGrp="1"/>
          </p:cNvSpPr>
          <p:nvPr/>
        </p:nvSpPr>
        <p:spPr>
          <a:xfrm>
            <a:off x="7667625" y="4572000"/>
            <a:ext cx="3333750" cy="762000"/>
          </a:xfrm>
          <a:prstGeom prst="rect">
            <a:avLst/>
          </a:prstGeom>
          <a:noFill/>
          <a:ln w="0">
            <a:noFill/>
          </a:ln>
        </p:spPr>
        <p:txBody>
          <a:bodyPr wrap="square" lIns="0" tIns="0" rIns="0" bIns="0" anchor="t">
            <a:noAutofit/>
          </a:bodyPr>
          <a:lstStyle/>
          <a:p>
            <a:pPr algn="ctr">
              <a:lnSpc>
                <a:spcPct val="103000"/>
              </a:lnSpc>
              <a:buNone/>
              <a:defRPr sz="1800" b="1">
                <a:solidFill>
                  <a:srgbClr val="C45A31"/>
                </a:solidFill>
                <a:latin typeface="Avenir Next"/>
                <a:ea typeface="Avenir Next"/>
                <a:cs typeface="Avenir Next"/>
              </a:defRPr>
            </a:pPr>
            <a:r>
              <a:rPr sz="1800" b="1">
                <a:solidFill>
                  <a:srgbClr val="C45A31"/>
                </a:solidFill>
                <a:latin typeface="Avenir Next"/>
                <a:ea typeface="Avenir Next"/>
                <a:cs typeface="Avenir Next"/>
              </a:rPr>
              <a:t>Le drift ne déclenche pas le réentraînement</a:t>
            </a:r>
          </a:p>
        </p:txBody>
      </p:sp>
      <p:sp>
        <p:nvSpPr>
          <p:cNvPr id="27" name="Rectangle 26">
            <a:extLst>
              <a:ext uri="{FF2B5EF4-FFF2-40B4-BE49-F238E27FC236}">
                <a16:creationId xmlns:a16="http://schemas.microsoft.com/office/drawing/2014/main" id="{E82F73D8-1ED9-425C-9F3A-3D6F539BA38F}"/>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Ossama  Cycle du modèle</a:t>
            </a:r>
          </a:p>
        </p:txBody>
      </p:sp>
      <p:sp>
        <p:nvSpPr>
          <p:cNvPr id="28" name="Rectangle 27">
            <a:extLst>
              <a:ext uri="{FF2B5EF4-FFF2-40B4-BE49-F238E27FC236}">
                <a16:creationId xmlns:a16="http://schemas.microsoft.com/office/drawing/2014/main" id="{66A4B61F-EE85-4F1D-9137-A262011DBA84}"/>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11 / 18</a:t>
            </a:r>
          </a:p>
        </p:txBody>
      </p:sp>
    </p:spTree>
    <p:extLst>
      <p:ext uri="{BB962C8B-B14F-4D97-AF65-F5344CB8AC3E}">
        <p14:creationId xmlns:p14="http://schemas.microsoft.com/office/powerpoint/2010/main" val="533882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2CB56FA9-109D-4F84-ACDA-6EC6F672F929}"/>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43985925-F49A-4E56-9389-91C1226A3468}"/>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35831B3E-F714-4B2F-A71F-7D136564D551}"/>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Docker, CI/CD et Komodo</a:t>
            </a:r>
          </a:p>
        </p:txBody>
      </p:sp>
      <p:sp>
        <p:nvSpPr>
          <p:cNvPr id="4" name="Rectangle 3">
            <a:extLst>
              <a:ext uri="{FF2B5EF4-FFF2-40B4-BE49-F238E27FC236}">
                <a16:creationId xmlns:a16="http://schemas.microsoft.com/office/drawing/2014/main" id="{6B634C49-48F5-43DB-9629-04C791414382}"/>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OSSAMA</a:t>
            </a:r>
          </a:p>
        </p:txBody>
      </p:sp>
      <p:sp>
        <p:nvSpPr>
          <p:cNvPr id="5" name="Rectangle 4">
            <a:extLst>
              <a:ext uri="{FF2B5EF4-FFF2-40B4-BE49-F238E27FC236}">
                <a16:creationId xmlns:a16="http://schemas.microsoft.com/office/drawing/2014/main" id="{2F0D2219-97E2-42DC-B864-BD1BE4BC0352}"/>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Une pile reproductible du dépôt au serveur partagé</a:t>
            </a:r>
          </a:p>
        </p:txBody>
      </p:sp>
      <p:sp>
        <p:nvSpPr>
          <p:cNvPr id="6" name="Rectangle 5">
            <a:extLst>
              <a:ext uri="{FF2B5EF4-FFF2-40B4-BE49-F238E27FC236}">
                <a16:creationId xmlns:a16="http://schemas.microsoft.com/office/drawing/2014/main" id="{971F6A17-94ED-4317-BEE0-C018875D0A19}"/>
              </a:ext>
            </a:extLst>
          </p:cNvPr>
          <p:cNvSpPr>
            <a:spLocks noGrp="1"/>
          </p:cNvSpPr>
          <p:nvPr/>
        </p:nvSpPr>
        <p:spPr>
          <a:xfrm>
            <a:off x="666750" y="2190750"/>
            <a:ext cx="1809750" cy="1143000"/>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5C543C15-2AD4-44CB-A4F8-9DB8B2EDDEB6}"/>
              </a:ext>
            </a:extLst>
          </p:cNvPr>
          <p:cNvSpPr>
            <a:spLocks noGrp="1"/>
          </p:cNvSpPr>
          <p:nvPr/>
        </p:nvSpPr>
        <p:spPr>
          <a:xfrm>
            <a:off x="666750" y="2190750"/>
            <a:ext cx="1809750" cy="47625"/>
          </a:xfrm>
          <a:prstGeom prst="rect">
            <a:avLst/>
          </a:prstGeom>
          <a:solidFill>
            <a:srgbClr val="287B83"/>
          </a:solidFill>
          <a:ln w="0">
            <a:noFill/>
          </a:ln>
        </p:spPr>
      </p:sp>
      <p:sp>
        <p:nvSpPr>
          <p:cNvPr id="8" name="Rectangle 7">
            <a:extLst>
              <a:ext uri="{FF2B5EF4-FFF2-40B4-BE49-F238E27FC236}">
                <a16:creationId xmlns:a16="http://schemas.microsoft.com/office/drawing/2014/main" id="{ED1B3AE8-DC5F-4426-BC95-741684821D57}"/>
              </a:ext>
            </a:extLst>
          </p:cNvPr>
          <p:cNvSpPr>
            <a:spLocks noGrp="1"/>
          </p:cNvSpPr>
          <p:nvPr/>
        </p:nvSpPr>
        <p:spPr>
          <a:xfrm>
            <a:off x="838200" y="2352675"/>
            <a:ext cx="14668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GitHub</a:t>
            </a:r>
          </a:p>
        </p:txBody>
      </p:sp>
      <p:sp>
        <p:nvSpPr>
          <p:cNvPr id="9" name="Rectangle 8">
            <a:extLst>
              <a:ext uri="{FF2B5EF4-FFF2-40B4-BE49-F238E27FC236}">
                <a16:creationId xmlns:a16="http://schemas.microsoft.com/office/drawing/2014/main" id="{794EE5A9-BDCD-49B9-8FD6-752DEFA4A032}"/>
              </a:ext>
            </a:extLst>
          </p:cNvPr>
          <p:cNvSpPr>
            <a:spLocks noGrp="1"/>
          </p:cNvSpPr>
          <p:nvPr/>
        </p:nvSpPr>
        <p:spPr>
          <a:xfrm>
            <a:off x="838200" y="2724150"/>
            <a:ext cx="146685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code et CI</a:t>
            </a:r>
          </a:p>
        </p:txBody>
      </p:sp>
      <p:sp>
        <p:nvSpPr>
          <p:cNvPr id="10" name="Rectangle 9">
            <a:extLst>
              <a:ext uri="{FF2B5EF4-FFF2-40B4-BE49-F238E27FC236}">
                <a16:creationId xmlns:a16="http://schemas.microsoft.com/office/drawing/2014/main" id="{6790F2FC-0CB2-475F-92AE-F88C60E6B816}"/>
              </a:ext>
            </a:extLst>
          </p:cNvPr>
          <p:cNvSpPr>
            <a:spLocks noGrp="1"/>
          </p:cNvSpPr>
          <p:nvPr/>
        </p:nvSpPr>
        <p:spPr>
          <a:xfrm>
            <a:off x="3143250" y="2190750"/>
            <a:ext cx="2095500" cy="1143000"/>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2FAFEABD-7133-450A-92D0-1E66DE7F4CED}"/>
              </a:ext>
            </a:extLst>
          </p:cNvPr>
          <p:cNvSpPr>
            <a:spLocks noGrp="1"/>
          </p:cNvSpPr>
          <p:nvPr/>
        </p:nvSpPr>
        <p:spPr>
          <a:xfrm>
            <a:off x="3143250" y="2190750"/>
            <a:ext cx="2095500" cy="47625"/>
          </a:xfrm>
          <a:prstGeom prst="rect">
            <a:avLst/>
          </a:prstGeom>
          <a:solidFill>
            <a:srgbClr val="287B83"/>
          </a:solidFill>
          <a:ln w="0">
            <a:noFill/>
          </a:ln>
        </p:spPr>
      </p:sp>
      <p:sp>
        <p:nvSpPr>
          <p:cNvPr id="12" name="Rectangle 11">
            <a:extLst>
              <a:ext uri="{FF2B5EF4-FFF2-40B4-BE49-F238E27FC236}">
                <a16:creationId xmlns:a16="http://schemas.microsoft.com/office/drawing/2014/main" id="{80D3D60A-5264-4EA1-8410-7A1AB813B35D}"/>
              </a:ext>
            </a:extLst>
          </p:cNvPr>
          <p:cNvSpPr>
            <a:spLocks noGrp="1"/>
          </p:cNvSpPr>
          <p:nvPr/>
        </p:nvSpPr>
        <p:spPr>
          <a:xfrm>
            <a:off x="3314700" y="2352675"/>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Image Docker</a:t>
            </a:r>
          </a:p>
        </p:txBody>
      </p:sp>
      <p:sp>
        <p:nvSpPr>
          <p:cNvPr id="13" name="Rectangle 12">
            <a:extLst>
              <a:ext uri="{FF2B5EF4-FFF2-40B4-BE49-F238E27FC236}">
                <a16:creationId xmlns:a16="http://schemas.microsoft.com/office/drawing/2014/main" id="{F44A112C-8E5A-4321-AEF0-5DD78068B35B}"/>
              </a:ext>
            </a:extLst>
          </p:cNvPr>
          <p:cNvSpPr>
            <a:spLocks noGrp="1"/>
          </p:cNvSpPr>
          <p:nvPr/>
        </p:nvSpPr>
        <p:spPr>
          <a:xfrm>
            <a:off x="3314700" y="2724150"/>
            <a:ext cx="175260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construction validée</a:t>
            </a:r>
          </a:p>
        </p:txBody>
      </p:sp>
      <p:sp>
        <p:nvSpPr>
          <p:cNvPr id="14" name="Rectangle 13">
            <a:extLst>
              <a:ext uri="{FF2B5EF4-FFF2-40B4-BE49-F238E27FC236}">
                <a16:creationId xmlns:a16="http://schemas.microsoft.com/office/drawing/2014/main" id="{EDD13F9A-221C-4D17-9FCB-871D36360CA5}"/>
              </a:ext>
            </a:extLst>
          </p:cNvPr>
          <p:cNvSpPr>
            <a:spLocks noGrp="1"/>
          </p:cNvSpPr>
          <p:nvPr/>
        </p:nvSpPr>
        <p:spPr>
          <a:xfrm>
            <a:off x="5905500" y="2190750"/>
            <a:ext cx="2095500" cy="1143000"/>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7322BB46-3811-4F74-994D-00AD822372D6}"/>
              </a:ext>
            </a:extLst>
          </p:cNvPr>
          <p:cNvSpPr>
            <a:spLocks noGrp="1"/>
          </p:cNvSpPr>
          <p:nvPr/>
        </p:nvSpPr>
        <p:spPr>
          <a:xfrm>
            <a:off x="5905500" y="2190750"/>
            <a:ext cx="2095500" cy="47625"/>
          </a:xfrm>
          <a:prstGeom prst="rect">
            <a:avLst/>
          </a:prstGeom>
          <a:solidFill>
            <a:srgbClr val="287B83"/>
          </a:solidFill>
          <a:ln w="0">
            <a:noFill/>
          </a:ln>
        </p:spPr>
      </p:sp>
      <p:sp>
        <p:nvSpPr>
          <p:cNvPr id="16" name="Rectangle 15">
            <a:extLst>
              <a:ext uri="{FF2B5EF4-FFF2-40B4-BE49-F238E27FC236}">
                <a16:creationId xmlns:a16="http://schemas.microsoft.com/office/drawing/2014/main" id="{E499BCC9-3065-4734-BAD3-DF5358A92DF3}"/>
              </a:ext>
            </a:extLst>
          </p:cNvPr>
          <p:cNvSpPr>
            <a:spLocks noGrp="1"/>
          </p:cNvSpPr>
          <p:nvPr/>
        </p:nvSpPr>
        <p:spPr>
          <a:xfrm>
            <a:off x="6076950" y="2352675"/>
            <a:ext cx="1752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Stack Komodo</a:t>
            </a:r>
          </a:p>
        </p:txBody>
      </p:sp>
      <p:sp>
        <p:nvSpPr>
          <p:cNvPr id="17" name="Rectangle 16">
            <a:extLst>
              <a:ext uri="{FF2B5EF4-FFF2-40B4-BE49-F238E27FC236}">
                <a16:creationId xmlns:a16="http://schemas.microsoft.com/office/drawing/2014/main" id="{1060FEA1-DDC0-49C0-9AF4-FB8915BAE12B}"/>
              </a:ext>
            </a:extLst>
          </p:cNvPr>
          <p:cNvSpPr>
            <a:spLocks noGrp="1"/>
          </p:cNvSpPr>
          <p:nvPr/>
        </p:nvSpPr>
        <p:spPr>
          <a:xfrm>
            <a:off x="6076950" y="2724150"/>
            <a:ext cx="175260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serveur partagé</a:t>
            </a:r>
          </a:p>
        </p:txBody>
      </p:sp>
      <p:sp>
        <p:nvSpPr>
          <p:cNvPr id="18" name="Rectangle 17">
            <a:extLst>
              <a:ext uri="{FF2B5EF4-FFF2-40B4-BE49-F238E27FC236}">
                <a16:creationId xmlns:a16="http://schemas.microsoft.com/office/drawing/2014/main" id="{04EAE0BA-644C-48D6-9F3D-739A34025332}"/>
              </a:ext>
            </a:extLst>
          </p:cNvPr>
          <p:cNvSpPr>
            <a:spLocks noGrp="1"/>
          </p:cNvSpPr>
          <p:nvPr/>
        </p:nvSpPr>
        <p:spPr>
          <a:xfrm>
            <a:off x="8667750" y="2190750"/>
            <a:ext cx="2286000" cy="1143000"/>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89670F90-D159-4029-8C68-D61CC5799F13}"/>
              </a:ext>
            </a:extLst>
          </p:cNvPr>
          <p:cNvSpPr>
            <a:spLocks noGrp="1"/>
          </p:cNvSpPr>
          <p:nvPr/>
        </p:nvSpPr>
        <p:spPr>
          <a:xfrm>
            <a:off x="8667750" y="2190750"/>
            <a:ext cx="2286000" cy="47625"/>
          </a:xfrm>
          <a:prstGeom prst="rect">
            <a:avLst/>
          </a:prstGeom>
          <a:solidFill>
            <a:srgbClr val="287B83"/>
          </a:solidFill>
          <a:ln w="0">
            <a:noFill/>
          </a:ln>
        </p:spPr>
      </p:sp>
      <p:sp>
        <p:nvSpPr>
          <p:cNvPr id="20" name="Rectangle 19">
            <a:extLst>
              <a:ext uri="{FF2B5EF4-FFF2-40B4-BE49-F238E27FC236}">
                <a16:creationId xmlns:a16="http://schemas.microsoft.com/office/drawing/2014/main" id="{D70B0D98-927D-46F3-A73F-7BA83778EFF9}"/>
              </a:ext>
            </a:extLst>
          </p:cNvPr>
          <p:cNvSpPr>
            <a:spLocks noGrp="1"/>
          </p:cNvSpPr>
          <p:nvPr/>
        </p:nvSpPr>
        <p:spPr>
          <a:xfrm>
            <a:off x="8839200" y="2352675"/>
            <a:ext cx="1943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Services</a:t>
            </a:r>
          </a:p>
        </p:txBody>
      </p:sp>
      <p:sp>
        <p:nvSpPr>
          <p:cNvPr id="21" name="Rectangle 20">
            <a:extLst>
              <a:ext uri="{FF2B5EF4-FFF2-40B4-BE49-F238E27FC236}">
                <a16:creationId xmlns:a16="http://schemas.microsoft.com/office/drawing/2014/main" id="{FF905272-299A-4A19-973C-992BCCBF5315}"/>
              </a:ext>
            </a:extLst>
          </p:cNvPr>
          <p:cNvSpPr>
            <a:spLocks noGrp="1"/>
          </p:cNvSpPr>
          <p:nvPr/>
        </p:nvSpPr>
        <p:spPr>
          <a:xfrm>
            <a:off x="8839200" y="2724150"/>
            <a:ext cx="1943100" cy="49530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API, MLflow, Dagster</a:t>
            </a:r>
          </a:p>
        </p:txBody>
      </p:sp>
      <p:cxnSp>
        <p:nvCxnSpPr>
          <p:cNvPr id="60" name="Connecteur droit avec flèche 59"/>
          <p:cNvCxnSpPr>
            <a:stCxn id="6" idx="3"/>
            <a:endCxn id="10" idx="1"/>
          </p:cNvCxnSpPr>
          <p:nvPr/>
        </p:nvCxnSpPr>
        <p:spPr>
          <a:xfrm>
            <a:off x="2476500" y="2762250"/>
            <a:ext cx="666750" cy="0"/>
          </a:xfrm>
          <a:prstGeom prst="straightConnector1">
            <a:avLst/>
          </a:prstGeom>
          <a:ln w="19050">
            <a:solidFill>
              <a:srgbClr val="287B83"/>
            </a:solidFill>
            <a:prstDash val="solid"/>
            <a:tailEnd type="triangle" w="sm" len="sm"/>
          </a:ln>
        </p:spPr>
      </p:cxnSp>
      <p:cxnSp>
        <p:nvCxnSpPr>
          <p:cNvPr id="61" name="Connecteur droit avec flèche 60"/>
          <p:cNvCxnSpPr>
            <a:stCxn id="10" idx="3"/>
            <a:endCxn id="14" idx="1"/>
          </p:cNvCxnSpPr>
          <p:nvPr/>
        </p:nvCxnSpPr>
        <p:spPr>
          <a:xfrm>
            <a:off x="5238750" y="2762250"/>
            <a:ext cx="666750" cy="0"/>
          </a:xfrm>
          <a:prstGeom prst="straightConnector1">
            <a:avLst/>
          </a:prstGeom>
          <a:ln w="19050">
            <a:solidFill>
              <a:srgbClr val="287B83"/>
            </a:solidFill>
            <a:prstDash val="solid"/>
            <a:tailEnd type="triangle" w="sm" len="sm"/>
          </a:ln>
        </p:spPr>
      </p:cxnSp>
      <p:cxnSp>
        <p:nvCxnSpPr>
          <p:cNvPr id="62" name="Connecteur droit avec flèche 61"/>
          <p:cNvCxnSpPr>
            <a:stCxn id="14" idx="3"/>
            <a:endCxn id="18" idx="1"/>
          </p:cNvCxnSpPr>
          <p:nvPr/>
        </p:nvCxnSpPr>
        <p:spPr>
          <a:xfrm>
            <a:off x="8001000" y="2762250"/>
            <a:ext cx="666750" cy="0"/>
          </a:xfrm>
          <a:prstGeom prst="straightConnector1">
            <a:avLst/>
          </a:prstGeom>
          <a:ln w="19050">
            <a:solidFill>
              <a:srgbClr val="287B83"/>
            </a:solidFill>
            <a:prstDash val="solid"/>
            <a:tailEnd type="triangle" w="sm" len="sm"/>
          </a:ln>
        </p:spPr>
      </p:cxnSp>
      <p:sp>
        <p:nvSpPr>
          <p:cNvPr id="25" name="Rectangle 24">
            <a:extLst>
              <a:ext uri="{FF2B5EF4-FFF2-40B4-BE49-F238E27FC236}">
                <a16:creationId xmlns:a16="http://schemas.microsoft.com/office/drawing/2014/main" id="{1EA8990B-825D-4A9A-867C-6C5333918601}"/>
              </a:ext>
            </a:extLst>
          </p:cNvPr>
          <p:cNvSpPr>
            <a:spLocks noGrp="1"/>
          </p:cNvSpPr>
          <p:nvPr/>
        </p:nvSpPr>
        <p:spPr>
          <a:xfrm>
            <a:off x="857250" y="4191000"/>
            <a:ext cx="3143250" cy="1238250"/>
          </a:xfrm>
          <a:prstGeom prst="rect">
            <a:avLst/>
          </a:prstGeom>
          <a:solidFill>
            <a:srgbClr val="FFFCF5"/>
          </a:solidFill>
          <a:ln w="10478">
            <a:solidFill>
              <a:srgbClr val="D7D1C5"/>
            </a:solidFill>
            <a:prstDash val="solid"/>
          </a:ln>
        </p:spPr>
      </p:sp>
      <p:sp>
        <p:nvSpPr>
          <p:cNvPr id="26" name="Rectangle 25">
            <a:extLst>
              <a:ext uri="{FF2B5EF4-FFF2-40B4-BE49-F238E27FC236}">
                <a16:creationId xmlns:a16="http://schemas.microsoft.com/office/drawing/2014/main" id="{727EAC39-D063-42F0-BAA8-F44E4F8753B1}"/>
              </a:ext>
            </a:extLst>
          </p:cNvPr>
          <p:cNvSpPr>
            <a:spLocks noGrp="1"/>
          </p:cNvSpPr>
          <p:nvPr/>
        </p:nvSpPr>
        <p:spPr>
          <a:xfrm>
            <a:off x="857250" y="4191000"/>
            <a:ext cx="3143250" cy="47625"/>
          </a:xfrm>
          <a:prstGeom prst="rect">
            <a:avLst/>
          </a:prstGeom>
          <a:solidFill>
            <a:srgbClr val="C45A31"/>
          </a:solidFill>
          <a:ln w="0">
            <a:noFill/>
          </a:ln>
        </p:spPr>
      </p:sp>
      <p:sp>
        <p:nvSpPr>
          <p:cNvPr id="27" name="Rectangle 26">
            <a:extLst>
              <a:ext uri="{FF2B5EF4-FFF2-40B4-BE49-F238E27FC236}">
                <a16:creationId xmlns:a16="http://schemas.microsoft.com/office/drawing/2014/main" id="{FF877B7C-A368-4927-832D-45E9173169C1}"/>
              </a:ext>
            </a:extLst>
          </p:cNvPr>
          <p:cNvSpPr>
            <a:spLocks noGrp="1"/>
          </p:cNvSpPr>
          <p:nvPr/>
        </p:nvSpPr>
        <p:spPr>
          <a:xfrm>
            <a:off x="1028700" y="4352925"/>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Révision validée</a:t>
            </a:r>
          </a:p>
        </p:txBody>
      </p:sp>
      <p:sp>
        <p:nvSpPr>
          <p:cNvPr id="28" name="Rectangle 27">
            <a:extLst>
              <a:ext uri="{FF2B5EF4-FFF2-40B4-BE49-F238E27FC236}">
                <a16:creationId xmlns:a16="http://schemas.microsoft.com/office/drawing/2014/main" id="{8EDF3FC0-B62B-4B3C-9C34-50A7931F59C0}"/>
              </a:ext>
            </a:extLst>
          </p:cNvPr>
          <p:cNvSpPr>
            <a:spLocks noGrp="1"/>
          </p:cNvSpPr>
          <p:nvPr/>
        </p:nvSpPr>
        <p:spPr>
          <a:xfrm>
            <a:off x="1028700" y="4724400"/>
            <a:ext cx="280035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3ef8c10</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CI #35261575924 passée</a:t>
            </a:r>
          </a:p>
        </p:txBody>
      </p:sp>
      <p:sp>
        <p:nvSpPr>
          <p:cNvPr id="29" name="Rectangle 28">
            <a:extLst>
              <a:ext uri="{FF2B5EF4-FFF2-40B4-BE49-F238E27FC236}">
                <a16:creationId xmlns:a16="http://schemas.microsoft.com/office/drawing/2014/main" id="{F830320C-F483-44FB-BB94-CFD67639C85D}"/>
              </a:ext>
            </a:extLst>
          </p:cNvPr>
          <p:cNvSpPr>
            <a:spLocks noGrp="1"/>
          </p:cNvSpPr>
          <p:nvPr/>
        </p:nvSpPr>
        <p:spPr>
          <a:xfrm>
            <a:off x="4524375" y="4191000"/>
            <a:ext cx="3143250" cy="1238250"/>
          </a:xfrm>
          <a:prstGeom prst="rect">
            <a:avLst/>
          </a:prstGeom>
          <a:solidFill>
            <a:srgbClr val="FFFCF5"/>
          </a:solidFill>
          <a:ln w="10478">
            <a:solidFill>
              <a:srgbClr val="D7D1C5"/>
            </a:solidFill>
            <a:prstDash val="solid"/>
          </a:ln>
        </p:spPr>
      </p:sp>
      <p:sp>
        <p:nvSpPr>
          <p:cNvPr id="30" name="Rectangle 29">
            <a:extLst>
              <a:ext uri="{FF2B5EF4-FFF2-40B4-BE49-F238E27FC236}">
                <a16:creationId xmlns:a16="http://schemas.microsoft.com/office/drawing/2014/main" id="{8DB696AB-F061-42FB-8DC0-6154DB5633F4}"/>
              </a:ext>
            </a:extLst>
          </p:cNvPr>
          <p:cNvSpPr>
            <a:spLocks noGrp="1"/>
          </p:cNvSpPr>
          <p:nvPr/>
        </p:nvSpPr>
        <p:spPr>
          <a:xfrm>
            <a:off x="4524375" y="4191000"/>
            <a:ext cx="3143250" cy="47625"/>
          </a:xfrm>
          <a:prstGeom prst="rect">
            <a:avLst/>
          </a:prstGeom>
          <a:solidFill>
            <a:srgbClr val="287B83"/>
          </a:solidFill>
          <a:ln w="0">
            <a:noFill/>
          </a:ln>
        </p:spPr>
      </p:sp>
      <p:sp>
        <p:nvSpPr>
          <p:cNvPr id="31" name="Rectangle 30">
            <a:extLst>
              <a:ext uri="{FF2B5EF4-FFF2-40B4-BE49-F238E27FC236}">
                <a16:creationId xmlns:a16="http://schemas.microsoft.com/office/drawing/2014/main" id="{2F70D036-0FA3-4688-9463-ABA3B08B0410}"/>
              </a:ext>
            </a:extLst>
          </p:cNvPr>
          <p:cNvSpPr>
            <a:spLocks noGrp="1"/>
          </p:cNvSpPr>
          <p:nvPr/>
        </p:nvSpPr>
        <p:spPr>
          <a:xfrm>
            <a:off x="4695825" y="4352925"/>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Production de démonstration</a:t>
            </a:r>
          </a:p>
        </p:txBody>
      </p:sp>
      <p:sp>
        <p:nvSpPr>
          <p:cNvPr id="32" name="Rectangle 31">
            <a:extLst>
              <a:ext uri="{FF2B5EF4-FFF2-40B4-BE49-F238E27FC236}">
                <a16:creationId xmlns:a16="http://schemas.microsoft.com/office/drawing/2014/main" id="{27DAE0F1-E3FE-435A-921F-68075409B22A}"/>
              </a:ext>
            </a:extLst>
          </p:cNvPr>
          <p:cNvSpPr>
            <a:spLocks noGrp="1"/>
          </p:cNvSpPr>
          <p:nvPr/>
        </p:nvSpPr>
        <p:spPr>
          <a:xfrm>
            <a:off x="4695825" y="4724400"/>
            <a:ext cx="280035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TRAIN_SUBSETS = FD001</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API, MLflow et Dagster</a:t>
            </a:r>
          </a:p>
        </p:txBody>
      </p:sp>
      <p:sp>
        <p:nvSpPr>
          <p:cNvPr id="33" name="Rectangle 32">
            <a:extLst>
              <a:ext uri="{FF2B5EF4-FFF2-40B4-BE49-F238E27FC236}">
                <a16:creationId xmlns:a16="http://schemas.microsoft.com/office/drawing/2014/main" id="{0697BF2F-2964-46CB-AF7F-5C682BB49647}"/>
              </a:ext>
            </a:extLst>
          </p:cNvPr>
          <p:cNvSpPr>
            <a:spLocks noGrp="1"/>
          </p:cNvSpPr>
          <p:nvPr/>
        </p:nvSpPr>
        <p:spPr>
          <a:xfrm>
            <a:off x="8191500" y="4191000"/>
            <a:ext cx="3143250" cy="1238250"/>
          </a:xfrm>
          <a:prstGeom prst="rect">
            <a:avLst/>
          </a:prstGeom>
          <a:solidFill>
            <a:srgbClr val="FFFCF5"/>
          </a:solidFill>
          <a:ln w="10478">
            <a:solidFill>
              <a:srgbClr val="D7D1C5"/>
            </a:solidFill>
            <a:prstDash val="solid"/>
          </a:ln>
        </p:spPr>
      </p:sp>
      <p:sp>
        <p:nvSpPr>
          <p:cNvPr id="34" name="Rectangle 33">
            <a:extLst>
              <a:ext uri="{FF2B5EF4-FFF2-40B4-BE49-F238E27FC236}">
                <a16:creationId xmlns:a16="http://schemas.microsoft.com/office/drawing/2014/main" id="{2309BEB8-38D9-435D-B0D7-998DC0DA1A67}"/>
              </a:ext>
            </a:extLst>
          </p:cNvPr>
          <p:cNvSpPr>
            <a:spLocks noGrp="1"/>
          </p:cNvSpPr>
          <p:nvPr/>
        </p:nvSpPr>
        <p:spPr>
          <a:xfrm>
            <a:off x="8191500" y="4191000"/>
            <a:ext cx="3143250" cy="47625"/>
          </a:xfrm>
          <a:prstGeom prst="rect">
            <a:avLst/>
          </a:prstGeom>
          <a:solidFill>
            <a:srgbClr val="173B5D"/>
          </a:solidFill>
          <a:ln w="0">
            <a:noFill/>
          </a:ln>
        </p:spPr>
      </p:sp>
      <p:sp>
        <p:nvSpPr>
          <p:cNvPr id="35" name="Rectangle 34">
            <a:extLst>
              <a:ext uri="{FF2B5EF4-FFF2-40B4-BE49-F238E27FC236}">
                <a16:creationId xmlns:a16="http://schemas.microsoft.com/office/drawing/2014/main" id="{13A4624C-E7BF-47C2-B033-55DC3A3D2031}"/>
              </a:ext>
            </a:extLst>
          </p:cNvPr>
          <p:cNvSpPr>
            <a:spLocks noGrp="1"/>
          </p:cNvSpPr>
          <p:nvPr/>
        </p:nvSpPr>
        <p:spPr>
          <a:xfrm>
            <a:off x="8362950" y="4352925"/>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Évaluation hors ligne</a:t>
            </a:r>
          </a:p>
        </p:txBody>
      </p:sp>
      <p:sp>
        <p:nvSpPr>
          <p:cNvPr id="36" name="Rectangle 35">
            <a:extLst>
              <a:ext uri="{FF2B5EF4-FFF2-40B4-BE49-F238E27FC236}">
                <a16:creationId xmlns:a16="http://schemas.microsoft.com/office/drawing/2014/main" id="{E7656005-025B-4197-8F05-F4F2AABC38D0}"/>
              </a:ext>
            </a:extLst>
          </p:cNvPr>
          <p:cNvSpPr>
            <a:spLocks noGrp="1"/>
          </p:cNvSpPr>
          <p:nvPr/>
        </p:nvSpPr>
        <p:spPr>
          <a:xfrm>
            <a:off x="8362950" y="4724400"/>
            <a:ext cx="280035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FD001 à FD004</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707 moteurs de test</a:t>
            </a:r>
          </a:p>
        </p:txBody>
      </p:sp>
      <p:sp>
        <p:nvSpPr>
          <p:cNvPr id="37" name="Rectangle 36">
            <a:extLst>
              <a:ext uri="{FF2B5EF4-FFF2-40B4-BE49-F238E27FC236}">
                <a16:creationId xmlns:a16="http://schemas.microsoft.com/office/drawing/2014/main" id="{0E8EB714-2847-427D-A151-A814907465DF}"/>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Ossama  Intégration</a:t>
            </a:r>
          </a:p>
        </p:txBody>
      </p:sp>
      <p:sp>
        <p:nvSpPr>
          <p:cNvPr id="38" name="Rectangle 37">
            <a:extLst>
              <a:ext uri="{FF2B5EF4-FFF2-40B4-BE49-F238E27FC236}">
                <a16:creationId xmlns:a16="http://schemas.microsoft.com/office/drawing/2014/main" id="{CB4CAE67-B2B3-4F5D-832A-EEDF28A57178}"/>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12 / 18</a:t>
            </a:r>
          </a:p>
        </p:txBody>
      </p:sp>
    </p:spTree>
    <p:extLst>
      <p:ext uri="{BB962C8B-B14F-4D97-AF65-F5344CB8AC3E}">
        <p14:creationId xmlns:p14="http://schemas.microsoft.com/office/powerpoint/2010/main" val="1055750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A8E4F92-331C-4E34-9BB6-DC1A368FBDE8}"/>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188CCA4E-7723-4688-86CC-50463F4F0F56}"/>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4C936F58-1DEB-4824-99A8-BD7D779651B8}"/>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Contrat FastAPI</a:t>
            </a:r>
          </a:p>
        </p:txBody>
      </p:sp>
      <p:sp>
        <p:nvSpPr>
          <p:cNvPr id="4" name="Rectangle 3">
            <a:extLst>
              <a:ext uri="{FF2B5EF4-FFF2-40B4-BE49-F238E27FC236}">
                <a16:creationId xmlns:a16="http://schemas.microsoft.com/office/drawing/2014/main" id="{E8A48A00-F89A-49B8-9799-E2BBB24C6E96}"/>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HAJAR</a:t>
            </a:r>
          </a:p>
        </p:txBody>
      </p:sp>
      <p:sp>
        <p:nvSpPr>
          <p:cNvPr id="5" name="Rectangle 4">
            <a:extLst>
              <a:ext uri="{FF2B5EF4-FFF2-40B4-BE49-F238E27FC236}">
                <a16:creationId xmlns:a16="http://schemas.microsoft.com/office/drawing/2014/main" id="{D7C18349-D9B9-47C2-9EEB-315419F3E04A}"/>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Les mêmes routes alimentent les tests et le tableau de bord</a:t>
            </a:r>
          </a:p>
        </p:txBody>
      </p:sp>
      <p:sp>
        <p:nvSpPr>
          <p:cNvPr id="6" name="Rectangle 5">
            <a:extLst>
              <a:ext uri="{FF2B5EF4-FFF2-40B4-BE49-F238E27FC236}">
                <a16:creationId xmlns:a16="http://schemas.microsoft.com/office/drawing/2014/main" id="{135F7BD1-A617-4ACB-B179-4EA76F079C34}"/>
              </a:ext>
            </a:extLst>
          </p:cNvPr>
          <p:cNvSpPr>
            <a:spLocks noGrp="1"/>
          </p:cNvSpPr>
          <p:nvPr/>
        </p:nvSpPr>
        <p:spPr>
          <a:xfrm>
            <a:off x="857250" y="1619250"/>
            <a:ext cx="857250" cy="323850"/>
          </a:xfrm>
          <a:prstGeom prst="rect">
            <a:avLst/>
          </a:prstGeom>
          <a:noFill/>
          <a:ln w="0">
            <a:noFill/>
          </a:ln>
        </p:spPr>
        <p:txBody>
          <a:bodyPr wrap="square" lIns="0" tIns="0" rIns="0" bIns="0" anchor="t">
            <a:noAutofit/>
          </a:bodyPr>
          <a:lstStyle/>
          <a:p>
            <a:pPr algn="l">
              <a:lnSpc>
                <a:spcPct val="103000"/>
              </a:lnSpc>
              <a:buNone/>
              <a:defRPr sz="1275" b="1">
                <a:solidFill>
                  <a:srgbClr val="287B83"/>
                </a:solidFill>
                <a:latin typeface="Avenir Next"/>
                <a:ea typeface="Avenir Next"/>
                <a:cs typeface="Avenir Next"/>
              </a:defRPr>
            </a:pPr>
            <a:r>
              <a:rPr sz="1275" b="1">
                <a:solidFill>
                  <a:srgbClr val="287B83"/>
                </a:solidFill>
                <a:latin typeface="Avenir Next"/>
                <a:ea typeface="Avenir Next"/>
                <a:cs typeface="Avenir Next"/>
              </a:rPr>
              <a:t>GET</a:t>
            </a:r>
          </a:p>
        </p:txBody>
      </p:sp>
      <p:sp>
        <p:nvSpPr>
          <p:cNvPr id="7" name="Rectangle 6">
            <a:extLst>
              <a:ext uri="{FF2B5EF4-FFF2-40B4-BE49-F238E27FC236}">
                <a16:creationId xmlns:a16="http://schemas.microsoft.com/office/drawing/2014/main" id="{E930C694-8718-4899-9846-C724CEB226E9}"/>
              </a:ext>
            </a:extLst>
          </p:cNvPr>
          <p:cNvSpPr>
            <a:spLocks noGrp="1"/>
          </p:cNvSpPr>
          <p:nvPr/>
        </p:nvSpPr>
        <p:spPr>
          <a:xfrm>
            <a:off x="1952625" y="1619250"/>
            <a:ext cx="3143250" cy="32385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/health</a:t>
            </a:r>
          </a:p>
        </p:txBody>
      </p:sp>
      <p:sp>
        <p:nvSpPr>
          <p:cNvPr id="8" name="Rectangle 7">
            <a:extLst>
              <a:ext uri="{FF2B5EF4-FFF2-40B4-BE49-F238E27FC236}">
                <a16:creationId xmlns:a16="http://schemas.microsoft.com/office/drawing/2014/main" id="{382C57D9-DF7A-4A65-9529-16F811856308}"/>
              </a:ext>
            </a:extLst>
          </p:cNvPr>
          <p:cNvSpPr>
            <a:spLocks noGrp="1"/>
          </p:cNvSpPr>
          <p:nvPr/>
        </p:nvSpPr>
        <p:spPr>
          <a:xfrm>
            <a:off x="5429250" y="1638300"/>
            <a:ext cx="5334000" cy="38100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état et version du modèle</a:t>
            </a:r>
          </a:p>
        </p:txBody>
      </p:sp>
      <p:sp>
        <p:nvSpPr>
          <p:cNvPr id="9" name="Connecteur droit 8">
            <a:extLst>
              <a:ext uri="{FF2B5EF4-FFF2-40B4-BE49-F238E27FC236}">
                <a16:creationId xmlns:a16="http://schemas.microsoft.com/office/drawing/2014/main" id="{0C768C17-E714-49E7-920C-15EC75671812}"/>
              </a:ext>
            </a:extLst>
          </p:cNvPr>
          <p:cNvSpPr>
            <a:spLocks noGrp="1"/>
          </p:cNvSpPr>
          <p:nvPr/>
        </p:nvSpPr>
        <p:spPr>
          <a:xfrm>
            <a:off x="857250" y="2171700"/>
            <a:ext cx="9810750" cy="0"/>
          </a:xfrm>
          <a:prstGeom prst="line">
            <a:avLst/>
          </a:prstGeom>
          <a:noFill/>
          <a:ln w="9525">
            <a:solidFill>
              <a:srgbClr val="D7D1C5"/>
            </a:solidFill>
            <a:prstDash val="solid"/>
          </a:ln>
        </p:spPr>
      </p:sp>
      <p:sp>
        <p:nvSpPr>
          <p:cNvPr id="10" name="Rectangle 9">
            <a:extLst>
              <a:ext uri="{FF2B5EF4-FFF2-40B4-BE49-F238E27FC236}">
                <a16:creationId xmlns:a16="http://schemas.microsoft.com/office/drawing/2014/main" id="{5AE66A18-664D-4156-9267-4E2D14812F87}"/>
              </a:ext>
            </a:extLst>
          </p:cNvPr>
          <p:cNvSpPr>
            <a:spLocks noGrp="1"/>
          </p:cNvSpPr>
          <p:nvPr/>
        </p:nvSpPr>
        <p:spPr>
          <a:xfrm>
            <a:off x="857250" y="2552700"/>
            <a:ext cx="857250" cy="323850"/>
          </a:xfrm>
          <a:prstGeom prst="rect">
            <a:avLst/>
          </a:prstGeom>
          <a:noFill/>
          <a:ln w="0">
            <a:noFill/>
          </a:ln>
        </p:spPr>
        <p:txBody>
          <a:bodyPr wrap="square" lIns="0" tIns="0" rIns="0" bIns="0" anchor="t">
            <a:noAutofit/>
          </a:bodyPr>
          <a:lstStyle/>
          <a:p>
            <a:pPr algn="l">
              <a:lnSpc>
                <a:spcPct val="103000"/>
              </a:lnSpc>
              <a:buNone/>
              <a:defRPr sz="1275" b="1">
                <a:solidFill>
                  <a:srgbClr val="287B83"/>
                </a:solidFill>
                <a:latin typeface="Avenir Next"/>
                <a:ea typeface="Avenir Next"/>
                <a:cs typeface="Avenir Next"/>
              </a:defRPr>
            </a:pPr>
            <a:r>
              <a:rPr sz="1275" b="1">
                <a:solidFill>
                  <a:srgbClr val="287B83"/>
                </a:solidFill>
                <a:latin typeface="Avenir Next"/>
                <a:ea typeface="Avenir Next"/>
                <a:cs typeface="Avenir Next"/>
              </a:rPr>
              <a:t>GET</a:t>
            </a:r>
          </a:p>
        </p:txBody>
      </p:sp>
      <p:sp>
        <p:nvSpPr>
          <p:cNvPr id="11" name="Rectangle 10">
            <a:extLst>
              <a:ext uri="{FF2B5EF4-FFF2-40B4-BE49-F238E27FC236}">
                <a16:creationId xmlns:a16="http://schemas.microsoft.com/office/drawing/2014/main" id="{FDC23F5F-F46E-4D6C-A411-2E2736863E88}"/>
              </a:ext>
            </a:extLst>
          </p:cNvPr>
          <p:cNvSpPr>
            <a:spLocks noGrp="1"/>
          </p:cNvSpPr>
          <p:nvPr/>
        </p:nvSpPr>
        <p:spPr>
          <a:xfrm>
            <a:off x="1952625" y="2552700"/>
            <a:ext cx="3143250" cy="32385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/demo-payload</a:t>
            </a:r>
          </a:p>
        </p:txBody>
      </p:sp>
      <p:sp>
        <p:nvSpPr>
          <p:cNvPr id="12" name="Rectangle 11">
            <a:extLst>
              <a:ext uri="{FF2B5EF4-FFF2-40B4-BE49-F238E27FC236}">
                <a16:creationId xmlns:a16="http://schemas.microsoft.com/office/drawing/2014/main" id="{CAED1C58-D358-4B63-BBA7-177536B4BB83}"/>
              </a:ext>
            </a:extLst>
          </p:cNvPr>
          <p:cNvSpPr>
            <a:spLocks noGrp="1"/>
          </p:cNvSpPr>
          <p:nvPr/>
        </p:nvSpPr>
        <p:spPr>
          <a:xfrm>
            <a:off x="5429250" y="2571750"/>
            <a:ext cx="5334000" cy="38100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exemple de requête valide</a:t>
            </a:r>
          </a:p>
        </p:txBody>
      </p:sp>
      <p:sp>
        <p:nvSpPr>
          <p:cNvPr id="13" name="Connecteur droit 12">
            <a:extLst>
              <a:ext uri="{FF2B5EF4-FFF2-40B4-BE49-F238E27FC236}">
                <a16:creationId xmlns:a16="http://schemas.microsoft.com/office/drawing/2014/main" id="{A653E9DD-D30A-4109-8BA1-29C6E9B751B0}"/>
              </a:ext>
            </a:extLst>
          </p:cNvPr>
          <p:cNvSpPr>
            <a:spLocks noGrp="1"/>
          </p:cNvSpPr>
          <p:nvPr/>
        </p:nvSpPr>
        <p:spPr>
          <a:xfrm>
            <a:off x="857250" y="3105150"/>
            <a:ext cx="9810750" cy="0"/>
          </a:xfrm>
          <a:prstGeom prst="line">
            <a:avLst/>
          </a:prstGeom>
          <a:noFill/>
          <a:ln w="9525">
            <a:solidFill>
              <a:srgbClr val="D7D1C5"/>
            </a:solidFill>
            <a:prstDash val="solid"/>
          </a:ln>
        </p:spPr>
      </p:sp>
      <p:sp>
        <p:nvSpPr>
          <p:cNvPr id="14" name="Rectangle 13">
            <a:extLst>
              <a:ext uri="{FF2B5EF4-FFF2-40B4-BE49-F238E27FC236}">
                <a16:creationId xmlns:a16="http://schemas.microsoft.com/office/drawing/2014/main" id="{90FF073A-51FE-461E-A722-BCE62E3D1D19}"/>
              </a:ext>
            </a:extLst>
          </p:cNvPr>
          <p:cNvSpPr>
            <a:spLocks noGrp="1"/>
          </p:cNvSpPr>
          <p:nvPr/>
        </p:nvSpPr>
        <p:spPr>
          <a:xfrm>
            <a:off x="857250" y="3486150"/>
            <a:ext cx="857250" cy="323850"/>
          </a:xfrm>
          <a:prstGeom prst="rect">
            <a:avLst/>
          </a:prstGeom>
          <a:noFill/>
          <a:ln w="0">
            <a:noFill/>
          </a:ln>
        </p:spPr>
        <p:txBody>
          <a:bodyPr wrap="square" lIns="0" tIns="0" rIns="0" bIns="0" anchor="t">
            <a:noAutofit/>
          </a:bodyPr>
          <a:lstStyle/>
          <a:p>
            <a:pPr algn="l">
              <a:lnSpc>
                <a:spcPct val="103000"/>
              </a:lnSpc>
              <a:buNone/>
              <a:defRPr sz="1275" b="1">
                <a:solidFill>
                  <a:srgbClr val="287B83"/>
                </a:solidFill>
                <a:latin typeface="Avenir Next"/>
                <a:ea typeface="Avenir Next"/>
                <a:cs typeface="Avenir Next"/>
              </a:defRPr>
            </a:pPr>
            <a:r>
              <a:rPr sz="1275" b="1">
                <a:solidFill>
                  <a:srgbClr val="287B83"/>
                </a:solidFill>
                <a:latin typeface="Avenir Next"/>
                <a:ea typeface="Avenir Next"/>
                <a:cs typeface="Avenir Next"/>
              </a:rPr>
              <a:t>POST</a:t>
            </a:r>
          </a:p>
        </p:txBody>
      </p:sp>
      <p:sp>
        <p:nvSpPr>
          <p:cNvPr id="15" name="Rectangle 14">
            <a:extLst>
              <a:ext uri="{FF2B5EF4-FFF2-40B4-BE49-F238E27FC236}">
                <a16:creationId xmlns:a16="http://schemas.microsoft.com/office/drawing/2014/main" id="{4DD53046-480A-485D-A95C-46E90F5D5B2B}"/>
              </a:ext>
            </a:extLst>
          </p:cNvPr>
          <p:cNvSpPr>
            <a:spLocks noGrp="1"/>
          </p:cNvSpPr>
          <p:nvPr/>
        </p:nvSpPr>
        <p:spPr>
          <a:xfrm>
            <a:off x="1952625" y="3486150"/>
            <a:ext cx="3143250" cy="32385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/predict</a:t>
            </a:r>
          </a:p>
        </p:txBody>
      </p:sp>
      <p:sp>
        <p:nvSpPr>
          <p:cNvPr id="16" name="Rectangle 15">
            <a:extLst>
              <a:ext uri="{FF2B5EF4-FFF2-40B4-BE49-F238E27FC236}">
                <a16:creationId xmlns:a16="http://schemas.microsoft.com/office/drawing/2014/main" id="{3A5D474D-AB66-4AD4-9420-F70E7174CCFE}"/>
              </a:ext>
            </a:extLst>
          </p:cNvPr>
          <p:cNvSpPr>
            <a:spLocks noGrp="1"/>
          </p:cNvSpPr>
          <p:nvPr/>
        </p:nvSpPr>
        <p:spPr>
          <a:xfrm>
            <a:off x="5429250" y="3505200"/>
            <a:ext cx="5334000" cy="38100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RUL, risque, version</a:t>
            </a:r>
          </a:p>
        </p:txBody>
      </p:sp>
      <p:sp>
        <p:nvSpPr>
          <p:cNvPr id="17" name="Connecteur droit 16">
            <a:extLst>
              <a:ext uri="{FF2B5EF4-FFF2-40B4-BE49-F238E27FC236}">
                <a16:creationId xmlns:a16="http://schemas.microsoft.com/office/drawing/2014/main" id="{EBFA0C75-FC95-494B-B5B7-434B0D5A41B5}"/>
              </a:ext>
            </a:extLst>
          </p:cNvPr>
          <p:cNvSpPr>
            <a:spLocks noGrp="1"/>
          </p:cNvSpPr>
          <p:nvPr/>
        </p:nvSpPr>
        <p:spPr>
          <a:xfrm>
            <a:off x="857250" y="4038600"/>
            <a:ext cx="9810750" cy="0"/>
          </a:xfrm>
          <a:prstGeom prst="line">
            <a:avLst/>
          </a:prstGeom>
          <a:noFill/>
          <a:ln w="9525">
            <a:solidFill>
              <a:srgbClr val="D7D1C5"/>
            </a:solidFill>
            <a:prstDash val="solid"/>
          </a:ln>
        </p:spPr>
      </p:sp>
      <p:sp>
        <p:nvSpPr>
          <p:cNvPr id="18" name="Rectangle 17">
            <a:extLst>
              <a:ext uri="{FF2B5EF4-FFF2-40B4-BE49-F238E27FC236}">
                <a16:creationId xmlns:a16="http://schemas.microsoft.com/office/drawing/2014/main" id="{86FF09BB-3B4B-4B1E-89D3-51098DAA944E}"/>
              </a:ext>
            </a:extLst>
          </p:cNvPr>
          <p:cNvSpPr>
            <a:spLocks noGrp="1"/>
          </p:cNvSpPr>
          <p:nvPr/>
        </p:nvSpPr>
        <p:spPr>
          <a:xfrm>
            <a:off x="857250" y="4419600"/>
            <a:ext cx="857250" cy="323850"/>
          </a:xfrm>
          <a:prstGeom prst="rect">
            <a:avLst/>
          </a:prstGeom>
          <a:noFill/>
          <a:ln w="0">
            <a:noFill/>
          </a:ln>
        </p:spPr>
        <p:txBody>
          <a:bodyPr wrap="square" lIns="0" tIns="0" rIns="0" bIns="0" anchor="t">
            <a:noAutofit/>
          </a:bodyPr>
          <a:lstStyle/>
          <a:p>
            <a:pPr algn="l">
              <a:lnSpc>
                <a:spcPct val="103000"/>
              </a:lnSpc>
              <a:buNone/>
              <a:defRPr sz="1275" b="1">
                <a:solidFill>
                  <a:srgbClr val="287B83"/>
                </a:solidFill>
                <a:latin typeface="Avenir Next"/>
                <a:ea typeface="Avenir Next"/>
                <a:cs typeface="Avenir Next"/>
              </a:defRPr>
            </a:pPr>
            <a:r>
              <a:rPr sz="1275" b="1">
                <a:solidFill>
                  <a:srgbClr val="287B83"/>
                </a:solidFill>
                <a:latin typeface="Avenir Next"/>
                <a:ea typeface="Avenir Next"/>
                <a:cs typeface="Avenir Next"/>
              </a:rPr>
              <a:t>GET</a:t>
            </a:r>
          </a:p>
        </p:txBody>
      </p:sp>
      <p:sp>
        <p:nvSpPr>
          <p:cNvPr id="19" name="Rectangle 18">
            <a:extLst>
              <a:ext uri="{FF2B5EF4-FFF2-40B4-BE49-F238E27FC236}">
                <a16:creationId xmlns:a16="http://schemas.microsoft.com/office/drawing/2014/main" id="{6D5B1C2F-B568-4859-BAAC-EDCD8BDA872A}"/>
              </a:ext>
            </a:extLst>
          </p:cNvPr>
          <p:cNvSpPr>
            <a:spLocks noGrp="1"/>
          </p:cNvSpPr>
          <p:nvPr/>
        </p:nvSpPr>
        <p:spPr>
          <a:xfrm>
            <a:off x="1952625" y="4419600"/>
            <a:ext cx="3143250" cy="32385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/api/fleet/summary</a:t>
            </a:r>
          </a:p>
        </p:txBody>
      </p:sp>
      <p:sp>
        <p:nvSpPr>
          <p:cNvPr id="20" name="Rectangle 19">
            <a:extLst>
              <a:ext uri="{FF2B5EF4-FFF2-40B4-BE49-F238E27FC236}">
                <a16:creationId xmlns:a16="http://schemas.microsoft.com/office/drawing/2014/main" id="{F204BA76-5830-4059-A528-CCBDF0DD6BDE}"/>
              </a:ext>
            </a:extLst>
          </p:cNvPr>
          <p:cNvSpPr>
            <a:spLocks noGrp="1"/>
          </p:cNvSpPr>
          <p:nvPr/>
        </p:nvSpPr>
        <p:spPr>
          <a:xfrm>
            <a:off x="5429250" y="4438650"/>
            <a:ext cx="5334000" cy="381000"/>
          </a:xfrm>
          <a:prstGeom prst="rect">
            <a:avLst/>
          </a:prstGeom>
          <a:noFill/>
          <a:ln w="0">
            <a:noFill/>
          </a:ln>
        </p:spPr>
        <p:txBody>
          <a:bodyPr wrap="square" lIns="0" tIns="0" rIns="0" bIns="0" anchor="t">
            <a:noAutofit/>
          </a:bodyPr>
          <a:lstStyle/>
          <a:p>
            <a:pPr algn="l">
              <a:lnSpc>
                <a:spcPct val="103000"/>
              </a:lnSpc>
              <a:buNone/>
              <a:defRPr sz="1575" b="0">
                <a:solidFill>
                  <a:srgbClr val="66727C"/>
                </a:solidFill>
                <a:latin typeface="Avenir Next"/>
                <a:ea typeface="Avenir Next"/>
                <a:cs typeface="Avenir Next"/>
              </a:defRPr>
            </a:pPr>
            <a:r>
              <a:rPr sz="1575" b="0">
                <a:solidFill>
                  <a:srgbClr val="66727C"/>
                </a:solidFill>
                <a:latin typeface="Avenir Next"/>
                <a:ea typeface="Avenir Next"/>
                <a:cs typeface="Avenir Next"/>
              </a:rPr>
              <a:t>résumé de la flotte</a:t>
            </a:r>
          </a:p>
        </p:txBody>
      </p:sp>
      <p:sp>
        <p:nvSpPr>
          <p:cNvPr id="21" name="Connecteur droit 20">
            <a:extLst>
              <a:ext uri="{FF2B5EF4-FFF2-40B4-BE49-F238E27FC236}">
                <a16:creationId xmlns:a16="http://schemas.microsoft.com/office/drawing/2014/main" id="{5A134392-1491-4460-AE40-F8A7EFCB731A}"/>
              </a:ext>
            </a:extLst>
          </p:cNvPr>
          <p:cNvSpPr>
            <a:spLocks noGrp="1"/>
          </p:cNvSpPr>
          <p:nvPr/>
        </p:nvSpPr>
        <p:spPr>
          <a:xfrm>
            <a:off x="857250" y="4972050"/>
            <a:ext cx="9810750" cy="0"/>
          </a:xfrm>
          <a:prstGeom prst="line">
            <a:avLst/>
          </a:prstGeom>
          <a:noFill/>
          <a:ln w="9525">
            <a:solidFill>
              <a:srgbClr val="D7D1C5"/>
            </a:solidFill>
            <a:prstDash val="solid"/>
          </a:ln>
        </p:spPr>
      </p:sp>
      <p:sp>
        <p:nvSpPr>
          <p:cNvPr id="22" name="Rectangle 21">
            <a:extLst>
              <a:ext uri="{FF2B5EF4-FFF2-40B4-BE49-F238E27FC236}">
                <a16:creationId xmlns:a16="http://schemas.microsoft.com/office/drawing/2014/main" id="{7BCE4388-847F-454E-91FB-3EE1271C92BF}"/>
              </a:ext>
            </a:extLst>
          </p:cNvPr>
          <p:cNvSpPr>
            <a:spLocks noGrp="1"/>
          </p:cNvSpPr>
          <p:nvPr/>
        </p:nvSpPr>
        <p:spPr>
          <a:xfrm>
            <a:off x="2571750" y="5572125"/>
            <a:ext cx="2286000" cy="552450"/>
          </a:xfrm>
          <a:prstGeom prst="rect">
            <a:avLst/>
          </a:prstGeom>
          <a:noFill/>
          <a:ln w="0">
            <a:noFill/>
          </a:ln>
        </p:spPr>
        <p:txBody>
          <a:bodyPr wrap="square" lIns="0" tIns="0" rIns="0" bIns="0" anchor="t">
            <a:noAutofit/>
          </a:bodyPr>
          <a:lstStyle/>
          <a:p>
            <a:pPr algn="l">
              <a:lnSpc>
                <a:spcPct val="103000"/>
              </a:lnSpc>
              <a:buNone/>
              <a:defRPr sz="3000" b="1">
                <a:solidFill>
                  <a:srgbClr val="287B83"/>
                </a:solidFill>
                <a:latin typeface="Avenir Next"/>
                <a:ea typeface="Avenir Next"/>
                <a:cs typeface="Avenir Next"/>
              </a:defRPr>
            </a:pPr>
            <a:r>
              <a:rPr sz="3000" b="1">
                <a:solidFill>
                  <a:srgbClr val="287B83"/>
                </a:solidFill>
                <a:latin typeface="Avenir Next"/>
                <a:ea typeface="Avenir Next"/>
                <a:cs typeface="Avenir Next"/>
              </a:rPr>
              <a:t>88</a:t>
            </a:r>
          </a:p>
        </p:txBody>
      </p:sp>
      <p:sp>
        <p:nvSpPr>
          <p:cNvPr id="23" name="Rectangle 22">
            <a:extLst>
              <a:ext uri="{FF2B5EF4-FFF2-40B4-BE49-F238E27FC236}">
                <a16:creationId xmlns:a16="http://schemas.microsoft.com/office/drawing/2014/main" id="{A1F7F4FA-FFD1-495B-A865-9F23BDA4EB44}"/>
              </a:ext>
            </a:extLst>
          </p:cNvPr>
          <p:cNvSpPr>
            <a:spLocks noGrp="1"/>
          </p:cNvSpPr>
          <p:nvPr/>
        </p:nvSpPr>
        <p:spPr>
          <a:xfrm>
            <a:off x="2571750" y="6105525"/>
            <a:ext cx="228600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valeurs envoyées</a:t>
            </a:r>
          </a:p>
        </p:txBody>
      </p:sp>
      <p:sp>
        <p:nvSpPr>
          <p:cNvPr id="24" name="Rectangle 23">
            <a:extLst>
              <a:ext uri="{FF2B5EF4-FFF2-40B4-BE49-F238E27FC236}">
                <a16:creationId xmlns:a16="http://schemas.microsoft.com/office/drawing/2014/main" id="{49EB4923-8FBB-4AA2-B5D9-B2580BE2241A}"/>
              </a:ext>
            </a:extLst>
          </p:cNvPr>
          <p:cNvSpPr>
            <a:spLocks noGrp="1"/>
          </p:cNvSpPr>
          <p:nvPr/>
        </p:nvSpPr>
        <p:spPr>
          <a:xfrm>
            <a:off x="7239000" y="5572125"/>
            <a:ext cx="2286000" cy="552450"/>
          </a:xfrm>
          <a:prstGeom prst="rect">
            <a:avLst/>
          </a:prstGeom>
          <a:noFill/>
          <a:ln w="0">
            <a:noFill/>
          </a:ln>
        </p:spPr>
        <p:txBody>
          <a:bodyPr wrap="square" lIns="0" tIns="0" rIns="0" bIns="0" anchor="t">
            <a:noAutofit/>
          </a:bodyPr>
          <a:lstStyle/>
          <a:p>
            <a:pPr algn="l">
              <a:lnSpc>
                <a:spcPct val="103000"/>
              </a:lnSpc>
              <a:buNone/>
              <a:defRPr sz="3000" b="1">
                <a:solidFill>
                  <a:srgbClr val="173B5D"/>
                </a:solidFill>
                <a:latin typeface="Avenir Next"/>
                <a:ea typeface="Avenir Next"/>
                <a:cs typeface="Avenir Next"/>
              </a:defRPr>
            </a:pPr>
            <a:r>
              <a:rPr sz="3000" b="1">
                <a:solidFill>
                  <a:srgbClr val="173B5D"/>
                </a:solidFill>
                <a:latin typeface="Avenir Next"/>
                <a:ea typeface="Avenir Next"/>
                <a:cs typeface="Avenir Next"/>
              </a:rPr>
              <a:t>89</a:t>
            </a:r>
          </a:p>
        </p:txBody>
      </p:sp>
      <p:sp>
        <p:nvSpPr>
          <p:cNvPr id="25" name="Rectangle 24">
            <a:extLst>
              <a:ext uri="{FF2B5EF4-FFF2-40B4-BE49-F238E27FC236}">
                <a16:creationId xmlns:a16="http://schemas.microsoft.com/office/drawing/2014/main" id="{F22F147B-F280-47A2-82BD-59640F8D590D}"/>
              </a:ext>
            </a:extLst>
          </p:cNvPr>
          <p:cNvSpPr>
            <a:spLocks noGrp="1"/>
          </p:cNvSpPr>
          <p:nvPr/>
        </p:nvSpPr>
        <p:spPr>
          <a:xfrm>
            <a:off x="7239000" y="6105525"/>
            <a:ext cx="228600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variables internes</a:t>
            </a:r>
          </a:p>
        </p:txBody>
      </p:sp>
      <p:sp>
        <p:nvSpPr>
          <p:cNvPr id="26" name="Rectangle 25">
            <a:extLst>
              <a:ext uri="{FF2B5EF4-FFF2-40B4-BE49-F238E27FC236}">
                <a16:creationId xmlns:a16="http://schemas.microsoft.com/office/drawing/2014/main" id="{C77F0B46-4066-4FA0-980C-32EA0A0FD4F4}"/>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Hajar  API</a:t>
            </a:r>
          </a:p>
        </p:txBody>
      </p:sp>
      <p:sp>
        <p:nvSpPr>
          <p:cNvPr id="27" name="Rectangle 26">
            <a:extLst>
              <a:ext uri="{FF2B5EF4-FFF2-40B4-BE49-F238E27FC236}">
                <a16:creationId xmlns:a16="http://schemas.microsoft.com/office/drawing/2014/main" id="{36A3BD3E-C01F-430D-BC92-176644845117}"/>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13 / 18</a:t>
            </a:r>
          </a:p>
        </p:txBody>
      </p:sp>
    </p:spTree>
    <p:extLst>
      <p:ext uri="{BB962C8B-B14F-4D97-AF65-F5344CB8AC3E}">
        <p14:creationId xmlns:p14="http://schemas.microsoft.com/office/powerpoint/2010/main" val="235787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8550D9C-B3F7-48F6-93BC-6464A4667C5F}"/>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4B56A883-F5C9-46B1-96B7-4705BE3B7EA1}"/>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CCE79579-9F58-4F85-93DB-3F4964E97C26}"/>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Parcours de démonstration</a:t>
            </a:r>
          </a:p>
        </p:txBody>
      </p:sp>
      <p:sp>
        <p:nvSpPr>
          <p:cNvPr id="4" name="Rectangle 3">
            <a:extLst>
              <a:ext uri="{FF2B5EF4-FFF2-40B4-BE49-F238E27FC236}">
                <a16:creationId xmlns:a16="http://schemas.microsoft.com/office/drawing/2014/main" id="{9732E80F-48A0-4785-8290-030BED8387ED}"/>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HAJAR</a:t>
            </a:r>
          </a:p>
        </p:txBody>
      </p:sp>
      <p:sp>
        <p:nvSpPr>
          <p:cNvPr id="5" name="Rectangle 4">
            <a:extLst>
              <a:ext uri="{FF2B5EF4-FFF2-40B4-BE49-F238E27FC236}">
                <a16:creationId xmlns:a16="http://schemas.microsoft.com/office/drawing/2014/main" id="{6641C871-56AD-4DE9-B9C9-54BFBAB772C7}"/>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Flotte, historique moteur et prédiction utilisent la même API</a:t>
            </a:r>
          </a:p>
        </p:txBody>
      </p:sp>
      <p:pic>
        <p:nvPicPr>
          <p:cNvPr id="18" name="Image 17"/>
          <p:cNvPicPr>
            <a:picLocks noChangeAspect="1"/>
          </p:cNvPicPr>
          <p:nvPr/>
        </p:nvPicPr>
        <p:blipFill>
          <a:blip r:embed="rId3"/>
          <a:stretch/>
        </p:blipFill>
        <p:spPr>
          <a:xfrm>
            <a:off x="2207457" y="1476375"/>
            <a:ext cx="4633836" cy="4524375"/>
          </a:xfrm>
          <a:prstGeom prst="rect">
            <a:avLst/>
          </a:prstGeom>
        </p:spPr>
      </p:pic>
      <p:sp>
        <p:nvSpPr>
          <p:cNvPr id="7" name="Rectangle 6">
            <a:extLst>
              <a:ext uri="{FF2B5EF4-FFF2-40B4-BE49-F238E27FC236}">
                <a16:creationId xmlns:a16="http://schemas.microsoft.com/office/drawing/2014/main" id="{E23A91F5-6887-4C16-B6F6-434DC6001F6A}"/>
              </a:ext>
            </a:extLst>
          </p:cNvPr>
          <p:cNvSpPr>
            <a:spLocks noGrp="1"/>
          </p:cNvSpPr>
          <p:nvPr/>
        </p:nvSpPr>
        <p:spPr>
          <a:xfrm>
            <a:off x="8858250" y="1809750"/>
            <a:ext cx="2381250" cy="30480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1  Vue de la flotte</a:t>
            </a:r>
          </a:p>
        </p:txBody>
      </p:sp>
      <p:sp>
        <p:nvSpPr>
          <p:cNvPr id="8" name="Rectangle 7">
            <a:extLst>
              <a:ext uri="{FF2B5EF4-FFF2-40B4-BE49-F238E27FC236}">
                <a16:creationId xmlns:a16="http://schemas.microsoft.com/office/drawing/2014/main" id="{04510C73-7FA8-4E5A-9C64-09A2DD6F6D69}"/>
              </a:ext>
            </a:extLst>
          </p:cNvPr>
          <p:cNvSpPr>
            <a:spLocks noGrp="1"/>
          </p:cNvSpPr>
          <p:nvPr/>
        </p:nvSpPr>
        <p:spPr>
          <a:xfrm>
            <a:off x="8858250" y="2714625"/>
            <a:ext cx="2571750" cy="49530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2  Historique d'un moteur</a:t>
            </a:r>
          </a:p>
        </p:txBody>
      </p:sp>
      <p:sp>
        <p:nvSpPr>
          <p:cNvPr id="9" name="Rectangle 8">
            <a:extLst>
              <a:ext uri="{FF2B5EF4-FFF2-40B4-BE49-F238E27FC236}">
                <a16:creationId xmlns:a16="http://schemas.microsoft.com/office/drawing/2014/main" id="{4174786E-057A-44D5-9C3F-C021BF680FF9}"/>
              </a:ext>
            </a:extLst>
          </p:cNvPr>
          <p:cNvSpPr>
            <a:spLocks noGrp="1"/>
          </p:cNvSpPr>
          <p:nvPr/>
        </p:nvSpPr>
        <p:spPr>
          <a:xfrm>
            <a:off x="8858250" y="3810000"/>
            <a:ext cx="2381250" cy="30480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3  Prédiction</a:t>
            </a:r>
          </a:p>
        </p:txBody>
      </p:sp>
      <p:sp>
        <p:nvSpPr>
          <p:cNvPr id="10" name="Rectangle 9">
            <a:extLst>
              <a:ext uri="{FF2B5EF4-FFF2-40B4-BE49-F238E27FC236}">
                <a16:creationId xmlns:a16="http://schemas.microsoft.com/office/drawing/2014/main" id="{0BB6798D-38FB-48D8-9482-B200ACA5F97C}"/>
              </a:ext>
            </a:extLst>
          </p:cNvPr>
          <p:cNvSpPr>
            <a:spLocks noGrp="1"/>
          </p:cNvSpPr>
          <p:nvPr/>
        </p:nvSpPr>
        <p:spPr>
          <a:xfrm>
            <a:off x="8858250" y="4714875"/>
            <a:ext cx="2571750" cy="495300"/>
          </a:xfrm>
          <a:prstGeom prst="rect">
            <a:avLst/>
          </a:prstGeom>
          <a:noFill/>
          <a:ln w="0">
            <a:noFill/>
          </a:ln>
        </p:spPr>
        <p:txBody>
          <a:bodyPr wrap="square" lIns="0" tIns="0" rIns="0" bIns="0" anchor="t">
            <a:noAutofit/>
          </a:bodyPr>
          <a:lstStyle/>
          <a:p>
            <a:pPr algn="l">
              <a:lnSpc>
                <a:spcPct val="103000"/>
              </a:lnSpc>
              <a:buNone/>
              <a:defRPr sz="1650" b="1">
                <a:solidFill>
                  <a:srgbClr val="173B5D"/>
                </a:solidFill>
                <a:latin typeface="Avenir Next"/>
                <a:ea typeface="Avenir Next"/>
                <a:cs typeface="Avenir Next"/>
              </a:defRPr>
            </a:pPr>
            <a:r>
              <a:rPr sz="1650" b="1">
                <a:solidFill>
                  <a:srgbClr val="173B5D"/>
                </a:solidFill>
                <a:latin typeface="Avenir Next"/>
                <a:ea typeface="Avenir Next"/>
                <a:cs typeface="Avenir Next"/>
              </a:rPr>
              <a:t>4  Preuves de plateforme</a:t>
            </a:r>
          </a:p>
        </p:txBody>
      </p:sp>
      <p:sp>
        <p:nvSpPr>
          <p:cNvPr id="11" name="Rectangle 10">
            <a:extLst>
              <a:ext uri="{FF2B5EF4-FFF2-40B4-BE49-F238E27FC236}">
                <a16:creationId xmlns:a16="http://schemas.microsoft.com/office/drawing/2014/main" id="{A6F5B4FE-F901-4EC4-B2D7-89C5560356EA}"/>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Hajar  Démonstration</a:t>
            </a:r>
          </a:p>
        </p:txBody>
      </p:sp>
      <p:sp>
        <p:nvSpPr>
          <p:cNvPr id="12" name="Rectangle 11">
            <a:extLst>
              <a:ext uri="{FF2B5EF4-FFF2-40B4-BE49-F238E27FC236}">
                <a16:creationId xmlns:a16="http://schemas.microsoft.com/office/drawing/2014/main" id="{F0441524-CBB5-46D0-9B77-34016298C7D1}"/>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14 / 18</a:t>
            </a:r>
          </a:p>
        </p:txBody>
      </p:sp>
    </p:spTree>
    <p:extLst>
      <p:ext uri="{BB962C8B-B14F-4D97-AF65-F5344CB8AC3E}">
        <p14:creationId xmlns:p14="http://schemas.microsoft.com/office/powerpoint/2010/main" val="658735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9A38E5-B5AE-4C8F-94F0-BF13524BA16F}"/>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B6AD63DB-7E7C-4A02-8A5B-B262B51DFC58}"/>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09B62BE6-3027-4F35-81F9-481BD6AAE843}"/>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Validation de production</a:t>
            </a:r>
          </a:p>
        </p:txBody>
      </p:sp>
      <p:sp>
        <p:nvSpPr>
          <p:cNvPr id="4" name="Rectangle 3">
            <a:extLst>
              <a:ext uri="{FF2B5EF4-FFF2-40B4-BE49-F238E27FC236}">
                <a16:creationId xmlns:a16="http://schemas.microsoft.com/office/drawing/2014/main" id="{81C5EC23-0447-4692-95E8-54C1D6E3D9C7}"/>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AYA MOUJOUD</a:t>
            </a:r>
          </a:p>
        </p:txBody>
      </p:sp>
      <p:sp>
        <p:nvSpPr>
          <p:cNvPr id="5" name="Rectangle 4">
            <a:extLst>
              <a:ext uri="{FF2B5EF4-FFF2-40B4-BE49-F238E27FC236}">
                <a16:creationId xmlns:a16="http://schemas.microsoft.com/office/drawing/2014/main" id="{B580A286-F4F9-4E63-B31B-0AF0EBD415CA}"/>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Contrôle direct effectué le 17 septembre 2026</a:t>
            </a:r>
          </a:p>
        </p:txBody>
      </p:sp>
      <p:sp>
        <p:nvSpPr>
          <p:cNvPr id="6" name="Rectangle 5">
            <a:extLst>
              <a:ext uri="{FF2B5EF4-FFF2-40B4-BE49-F238E27FC236}">
                <a16:creationId xmlns:a16="http://schemas.microsoft.com/office/drawing/2014/main" id="{F162A960-1CB8-4B7D-8151-ABFCBB1AA4E6}"/>
              </a:ext>
            </a:extLst>
          </p:cNvPr>
          <p:cNvSpPr>
            <a:spLocks noGrp="1"/>
          </p:cNvSpPr>
          <p:nvPr/>
        </p:nvSpPr>
        <p:spPr>
          <a:xfrm>
            <a:off x="762000" y="1666875"/>
            <a:ext cx="2286000" cy="552450"/>
          </a:xfrm>
          <a:prstGeom prst="rect">
            <a:avLst/>
          </a:prstGeom>
          <a:noFill/>
          <a:ln w="0">
            <a:noFill/>
          </a:ln>
        </p:spPr>
        <p:txBody>
          <a:bodyPr wrap="square" lIns="0" tIns="0" rIns="0" bIns="0" anchor="t">
            <a:noAutofit/>
          </a:bodyPr>
          <a:lstStyle/>
          <a:p>
            <a:pPr algn="l">
              <a:lnSpc>
                <a:spcPct val="103000"/>
              </a:lnSpc>
              <a:buNone/>
              <a:defRPr sz="3000" b="1">
                <a:solidFill>
                  <a:srgbClr val="3D7C5F"/>
                </a:solidFill>
                <a:latin typeface="Avenir Next"/>
                <a:ea typeface="Avenir Next"/>
                <a:cs typeface="Avenir Next"/>
              </a:defRPr>
            </a:pPr>
            <a:r>
              <a:rPr sz="3000" b="1">
                <a:solidFill>
                  <a:srgbClr val="3D7C5F"/>
                </a:solidFill>
                <a:latin typeface="Avenir Next"/>
                <a:ea typeface="Avenir Next"/>
                <a:cs typeface="Avenir Next"/>
              </a:rPr>
              <a:t>200</a:t>
            </a:r>
          </a:p>
        </p:txBody>
      </p:sp>
      <p:sp>
        <p:nvSpPr>
          <p:cNvPr id="7" name="Rectangle 6">
            <a:extLst>
              <a:ext uri="{FF2B5EF4-FFF2-40B4-BE49-F238E27FC236}">
                <a16:creationId xmlns:a16="http://schemas.microsoft.com/office/drawing/2014/main" id="{8D62965A-52DE-4C42-9F80-ED01B4D2C2E7}"/>
              </a:ext>
            </a:extLst>
          </p:cNvPr>
          <p:cNvSpPr>
            <a:spLocks noGrp="1"/>
          </p:cNvSpPr>
          <p:nvPr/>
        </p:nvSpPr>
        <p:spPr>
          <a:xfrm>
            <a:off x="762000" y="2200275"/>
            <a:ext cx="228600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santé et prédiction</a:t>
            </a:r>
          </a:p>
        </p:txBody>
      </p:sp>
      <p:sp>
        <p:nvSpPr>
          <p:cNvPr id="8" name="Rectangle 7">
            <a:extLst>
              <a:ext uri="{FF2B5EF4-FFF2-40B4-BE49-F238E27FC236}">
                <a16:creationId xmlns:a16="http://schemas.microsoft.com/office/drawing/2014/main" id="{6278B96D-FF7C-47EC-8974-CE7F3F4C20B6}"/>
              </a:ext>
            </a:extLst>
          </p:cNvPr>
          <p:cNvSpPr>
            <a:spLocks noGrp="1"/>
          </p:cNvSpPr>
          <p:nvPr/>
        </p:nvSpPr>
        <p:spPr>
          <a:xfrm>
            <a:off x="3476625" y="1666875"/>
            <a:ext cx="2381250" cy="552450"/>
          </a:xfrm>
          <a:prstGeom prst="rect">
            <a:avLst/>
          </a:prstGeom>
          <a:noFill/>
          <a:ln w="0">
            <a:noFill/>
          </a:ln>
        </p:spPr>
        <p:txBody>
          <a:bodyPr wrap="square" lIns="0" tIns="0" rIns="0" bIns="0" anchor="t">
            <a:noAutofit/>
          </a:bodyPr>
          <a:lstStyle/>
          <a:p>
            <a:pPr algn="l">
              <a:lnSpc>
                <a:spcPct val="103000"/>
              </a:lnSpc>
              <a:buNone/>
              <a:defRPr sz="3000" b="1">
                <a:solidFill>
                  <a:srgbClr val="287B83"/>
                </a:solidFill>
                <a:latin typeface="Avenir Next"/>
                <a:ea typeface="Avenir Next"/>
                <a:cs typeface="Avenir Next"/>
              </a:defRPr>
            </a:pPr>
            <a:r>
              <a:rPr sz="3000" b="1">
                <a:solidFill>
                  <a:srgbClr val="287B83"/>
                </a:solidFill>
                <a:latin typeface="Avenir Next"/>
                <a:ea typeface="Avenir Next"/>
                <a:cs typeface="Avenir Next"/>
              </a:rPr>
              <a:t>v2</a:t>
            </a:r>
          </a:p>
        </p:txBody>
      </p:sp>
      <p:sp>
        <p:nvSpPr>
          <p:cNvPr id="9" name="Rectangle 8">
            <a:extLst>
              <a:ext uri="{FF2B5EF4-FFF2-40B4-BE49-F238E27FC236}">
                <a16:creationId xmlns:a16="http://schemas.microsoft.com/office/drawing/2014/main" id="{50160AB1-4E85-404E-B320-4E4811D18E83}"/>
              </a:ext>
            </a:extLst>
          </p:cNvPr>
          <p:cNvSpPr>
            <a:spLocks noGrp="1"/>
          </p:cNvSpPr>
          <p:nvPr/>
        </p:nvSpPr>
        <p:spPr>
          <a:xfrm>
            <a:off x="3476625" y="2200275"/>
            <a:ext cx="238125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champion MLflow chargé</a:t>
            </a:r>
          </a:p>
        </p:txBody>
      </p:sp>
      <p:sp>
        <p:nvSpPr>
          <p:cNvPr id="10" name="Rectangle 9">
            <a:extLst>
              <a:ext uri="{FF2B5EF4-FFF2-40B4-BE49-F238E27FC236}">
                <a16:creationId xmlns:a16="http://schemas.microsoft.com/office/drawing/2014/main" id="{C84F9CA0-CC56-4F3D-A4CA-33DE8E34862F}"/>
              </a:ext>
            </a:extLst>
          </p:cNvPr>
          <p:cNvSpPr>
            <a:spLocks noGrp="1"/>
          </p:cNvSpPr>
          <p:nvPr/>
        </p:nvSpPr>
        <p:spPr>
          <a:xfrm>
            <a:off x="6572250" y="1666875"/>
            <a:ext cx="3143250" cy="552450"/>
          </a:xfrm>
          <a:prstGeom prst="rect">
            <a:avLst/>
          </a:prstGeom>
          <a:noFill/>
          <a:ln w="0">
            <a:noFill/>
          </a:ln>
        </p:spPr>
        <p:txBody>
          <a:bodyPr wrap="square" lIns="0" tIns="0" rIns="0" bIns="0" anchor="t">
            <a:noAutofit/>
          </a:bodyPr>
          <a:lstStyle/>
          <a:p>
            <a:pPr algn="l">
              <a:lnSpc>
                <a:spcPct val="103000"/>
              </a:lnSpc>
              <a:buNone/>
              <a:defRPr sz="3000" b="1">
                <a:solidFill>
                  <a:srgbClr val="173B5D"/>
                </a:solidFill>
                <a:latin typeface="Avenir Next"/>
                <a:ea typeface="Avenir Next"/>
                <a:cs typeface="Avenir Next"/>
              </a:defRPr>
            </a:pPr>
            <a:r>
              <a:rPr sz="3000" b="1">
                <a:solidFill>
                  <a:srgbClr val="173B5D"/>
                </a:solidFill>
                <a:latin typeface="Avenir Next"/>
                <a:ea typeface="Avenir Next"/>
                <a:cs typeface="Avenir Next"/>
              </a:rPr>
              <a:t>224 ms</a:t>
            </a:r>
          </a:p>
        </p:txBody>
      </p:sp>
      <p:sp>
        <p:nvSpPr>
          <p:cNvPr id="11" name="Rectangle 10">
            <a:extLst>
              <a:ext uri="{FF2B5EF4-FFF2-40B4-BE49-F238E27FC236}">
                <a16:creationId xmlns:a16="http://schemas.microsoft.com/office/drawing/2014/main" id="{3717242F-9C26-4E9D-851E-65170C579F53}"/>
              </a:ext>
            </a:extLst>
          </p:cNvPr>
          <p:cNvSpPr>
            <a:spLocks noGrp="1"/>
          </p:cNvSpPr>
          <p:nvPr/>
        </p:nvSpPr>
        <p:spPr>
          <a:xfrm>
            <a:off x="6572250" y="2200275"/>
            <a:ext cx="3143250" cy="400050"/>
          </a:xfrm>
          <a:prstGeom prst="rect">
            <a:avLst/>
          </a:prstGeom>
          <a:noFill/>
          <a:ln w="0">
            <a:noFill/>
          </a:ln>
        </p:spPr>
        <p:txBody>
          <a:bodyPr wrap="square" lIns="0" tIns="0" rIns="0" bIns="0" anchor="t">
            <a:noAutofit/>
          </a:bodyPr>
          <a:lstStyle/>
          <a:p>
            <a:pPr algn="l">
              <a:lnSpc>
                <a:spcPct val="103000"/>
              </a:lnSpc>
              <a:buNone/>
              <a:defRPr sz="1275" b="0">
                <a:solidFill>
                  <a:srgbClr val="66727C"/>
                </a:solidFill>
                <a:latin typeface="Avenir Next"/>
                <a:ea typeface="Avenir Next"/>
                <a:cs typeface="Avenir Next"/>
              </a:defRPr>
            </a:pPr>
            <a:r>
              <a:rPr sz="1275" b="0">
                <a:solidFill>
                  <a:srgbClr val="66727C"/>
                </a:solidFill>
                <a:latin typeface="Avenir Next"/>
                <a:ea typeface="Avenir Next"/>
                <a:cs typeface="Avenir Next"/>
              </a:rPr>
              <a:t>latence de la requête contrôlée</a:t>
            </a:r>
          </a:p>
        </p:txBody>
      </p:sp>
      <p:sp>
        <p:nvSpPr>
          <p:cNvPr id="12" name="Rectangle 11">
            <a:extLst>
              <a:ext uri="{FF2B5EF4-FFF2-40B4-BE49-F238E27FC236}">
                <a16:creationId xmlns:a16="http://schemas.microsoft.com/office/drawing/2014/main" id="{99279231-9B3D-4E8D-89E3-EAC2E4F17B81}"/>
              </a:ext>
            </a:extLst>
          </p:cNvPr>
          <p:cNvSpPr>
            <a:spLocks noGrp="1"/>
          </p:cNvSpPr>
          <p:nvPr/>
        </p:nvSpPr>
        <p:spPr>
          <a:xfrm>
            <a:off x="952500" y="3476625"/>
            <a:ext cx="9620250" cy="2000250"/>
          </a:xfrm>
          <a:prstGeom prst="rect">
            <a:avLst/>
          </a:prstGeom>
          <a:noFill/>
          <a:ln w="0">
            <a:noFill/>
          </a:ln>
        </p:spPr>
        <p:txBody>
          <a:bodyPr wrap="square" lIns="0" tIns="0" rIns="0" bIns="0">
            <a:noAutofit/>
          </a:bodyPr>
          <a:lstStyle/>
          <a:p>
            <a:pPr marL="254000" indent="-127000">
              <a:lnSpc>
                <a:spcPct val="105000"/>
              </a:lnSpc>
              <a:spcAft>
                <a:spcPts val="1200"/>
              </a:spcAft>
              <a:buNone/>
              <a:defRPr sz="1650">
                <a:solidFill>
                  <a:srgbClr val="17212B"/>
                </a:solidFill>
                <a:latin typeface="Avenir Next"/>
                <a:ea typeface="Avenir Next"/>
                <a:cs typeface="Avenir Next"/>
              </a:defRPr>
            </a:pPr>
            <a:r>
              <a:rPr sz="1650">
                <a:solidFill>
                  <a:srgbClr val="17212B"/>
                </a:solidFill>
                <a:latin typeface="Avenir Next"/>
                <a:ea typeface="Avenir Next"/>
                <a:cs typeface="Avenir Next"/>
              </a:rPr>
              <a:t>FastAPI, MLflow et Dagster répondent sur le serveur autorisé.</a:t>
            </a:r>
          </a:p>
          <a:p>
            <a:pPr marL="254000" indent="-127000">
              <a:lnSpc>
                <a:spcPct val="105000"/>
              </a:lnSpc>
              <a:spcAft>
                <a:spcPts val="1200"/>
              </a:spcAft>
              <a:buNone/>
              <a:defRPr sz="1650">
                <a:solidFill>
                  <a:srgbClr val="17212B"/>
                </a:solidFill>
                <a:latin typeface="Avenir Next"/>
                <a:ea typeface="Avenir Next"/>
                <a:cs typeface="Avenir Next"/>
              </a:defRPr>
            </a:pPr>
            <a:r>
              <a:rPr sz="1650">
                <a:solidFill>
                  <a:srgbClr val="17212B"/>
                </a:solidFill>
                <a:latin typeface="Avenir Next"/>
                <a:ea typeface="Avenir Next"/>
                <a:cs typeface="Avenir Next"/>
              </a:rPr>
              <a:t>Le champion MLflow version 2 est chargé par l'API.</a:t>
            </a:r>
          </a:p>
          <a:p>
            <a:pPr marL="254000" indent="-127000">
              <a:lnSpc>
                <a:spcPct val="105000"/>
              </a:lnSpc>
              <a:spcAft>
                <a:spcPts val="1200"/>
              </a:spcAft>
              <a:buNone/>
              <a:defRPr sz="1650">
                <a:solidFill>
                  <a:srgbClr val="17212B"/>
                </a:solidFill>
                <a:latin typeface="Avenir Next"/>
                <a:ea typeface="Avenir Next"/>
                <a:cs typeface="Avenir Next"/>
              </a:defRPr>
            </a:pPr>
            <a:r>
              <a:rPr sz="1650">
                <a:solidFill>
                  <a:srgbClr val="17212B"/>
                </a:solidFill>
                <a:latin typeface="Avenir Next"/>
                <a:ea typeface="Avenir Next"/>
                <a:cs typeface="Avenir Next"/>
              </a:rPr>
              <a:t>Prédiction FD004_204 : 101,87 cycles, risque faible.</a:t>
            </a:r>
          </a:p>
          <a:p>
            <a:pPr marL="254000" indent="-127000">
              <a:lnSpc>
                <a:spcPct val="105000"/>
              </a:lnSpc>
              <a:spcAft>
                <a:spcPts val="1200"/>
              </a:spcAft>
              <a:buNone/>
              <a:defRPr sz="1650">
                <a:solidFill>
                  <a:srgbClr val="17212B"/>
                </a:solidFill>
                <a:latin typeface="Avenir Next"/>
                <a:ea typeface="Avenir Next"/>
                <a:cs typeface="Avenir Next"/>
              </a:defRPr>
            </a:pPr>
            <a:r>
              <a:rPr sz="1650">
                <a:solidFill>
                  <a:srgbClr val="17212B"/>
                </a:solidFill>
                <a:latin typeface="Avenir Next"/>
                <a:ea typeface="Avenir Next"/>
                <a:cs typeface="Avenir Next"/>
              </a:rPr>
              <a:t>Les captures Komodo, MLflow et Dagster sont refaites juste avant la démo.</a:t>
            </a:r>
          </a:p>
        </p:txBody>
      </p:sp>
      <p:sp>
        <p:nvSpPr>
          <p:cNvPr id="13" name="Rectangle 12">
            <a:extLst>
              <a:ext uri="{FF2B5EF4-FFF2-40B4-BE49-F238E27FC236}">
                <a16:creationId xmlns:a16="http://schemas.microsoft.com/office/drawing/2014/main" id="{19337343-B921-4998-92EA-706BDB37F926}"/>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Aya Moujoud  QA et monitoring</a:t>
            </a:r>
          </a:p>
        </p:txBody>
      </p:sp>
      <p:sp>
        <p:nvSpPr>
          <p:cNvPr id="14" name="Rectangle 13">
            <a:extLst>
              <a:ext uri="{FF2B5EF4-FFF2-40B4-BE49-F238E27FC236}">
                <a16:creationId xmlns:a16="http://schemas.microsoft.com/office/drawing/2014/main" id="{33A9DEB5-4F4B-41AF-8AEA-493CA47F3D47}"/>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15 / 18</a:t>
            </a:r>
          </a:p>
        </p:txBody>
      </p:sp>
    </p:spTree>
    <p:extLst>
      <p:ext uri="{BB962C8B-B14F-4D97-AF65-F5344CB8AC3E}">
        <p14:creationId xmlns:p14="http://schemas.microsoft.com/office/powerpoint/2010/main" val="1287565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FA840CD-E4FE-4CC7-B2F3-F5CE85CAEFF1}"/>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E346218C-82C0-4D91-8E72-F23F4E8C4723}"/>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2EF8F0BF-BA5B-44FC-9B12-AF008573794B}"/>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Contrôle du déploiement Komodo</a:t>
            </a:r>
          </a:p>
        </p:txBody>
      </p:sp>
      <p:sp>
        <p:nvSpPr>
          <p:cNvPr id="4" name="Rectangle 3">
            <a:extLst>
              <a:ext uri="{FF2B5EF4-FFF2-40B4-BE49-F238E27FC236}">
                <a16:creationId xmlns:a16="http://schemas.microsoft.com/office/drawing/2014/main" id="{968395FF-4D25-4257-8C4F-D2912ABAC6F3}"/>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AYA MOUJOUD</a:t>
            </a:r>
          </a:p>
        </p:txBody>
      </p:sp>
      <p:sp>
        <p:nvSpPr>
          <p:cNvPr id="5" name="Rectangle 4">
            <a:extLst>
              <a:ext uri="{FF2B5EF4-FFF2-40B4-BE49-F238E27FC236}">
                <a16:creationId xmlns:a16="http://schemas.microsoft.com/office/drawing/2014/main" id="{CDE59FB8-300A-415D-9237-B7D1627B4535}"/>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Les services attendus et les preuves à montrer pendant la démo</a:t>
            </a:r>
          </a:p>
        </p:txBody>
      </p:sp>
      <p:sp>
        <p:nvSpPr>
          <p:cNvPr id="6" name="Rectangle 5">
            <a:extLst>
              <a:ext uri="{FF2B5EF4-FFF2-40B4-BE49-F238E27FC236}">
                <a16:creationId xmlns:a16="http://schemas.microsoft.com/office/drawing/2014/main" id="{41FF6D4F-CDF3-4324-99D6-E3A50DBF969B}"/>
              </a:ext>
            </a:extLst>
          </p:cNvPr>
          <p:cNvSpPr>
            <a:spLocks noGrp="1"/>
          </p:cNvSpPr>
          <p:nvPr/>
        </p:nvSpPr>
        <p:spPr>
          <a:xfrm>
            <a:off x="714375" y="1762125"/>
            <a:ext cx="2286000" cy="1000125"/>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DE1E3F30-06C9-4D99-8F58-29D9774C06C1}"/>
              </a:ext>
            </a:extLst>
          </p:cNvPr>
          <p:cNvSpPr>
            <a:spLocks noGrp="1"/>
          </p:cNvSpPr>
          <p:nvPr/>
        </p:nvSpPr>
        <p:spPr>
          <a:xfrm>
            <a:off x="714375" y="1762125"/>
            <a:ext cx="2286000" cy="47625"/>
          </a:xfrm>
          <a:prstGeom prst="rect">
            <a:avLst/>
          </a:prstGeom>
          <a:solidFill>
            <a:srgbClr val="3D7C5F"/>
          </a:solidFill>
          <a:ln w="0">
            <a:noFill/>
          </a:ln>
        </p:spPr>
      </p:sp>
      <p:sp>
        <p:nvSpPr>
          <p:cNvPr id="8" name="Rectangle 7">
            <a:extLst>
              <a:ext uri="{FF2B5EF4-FFF2-40B4-BE49-F238E27FC236}">
                <a16:creationId xmlns:a16="http://schemas.microsoft.com/office/drawing/2014/main" id="{0998EAA3-BF4C-428D-8D99-57C937D1BFE7}"/>
              </a:ext>
            </a:extLst>
          </p:cNvPr>
          <p:cNvSpPr>
            <a:spLocks noGrp="1"/>
          </p:cNvSpPr>
          <p:nvPr/>
        </p:nvSpPr>
        <p:spPr>
          <a:xfrm>
            <a:off x="885825" y="1924050"/>
            <a:ext cx="1943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FastAPI</a:t>
            </a:r>
          </a:p>
        </p:txBody>
      </p:sp>
      <p:sp>
        <p:nvSpPr>
          <p:cNvPr id="9" name="Rectangle 8">
            <a:extLst>
              <a:ext uri="{FF2B5EF4-FFF2-40B4-BE49-F238E27FC236}">
                <a16:creationId xmlns:a16="http://schemas.microsoft.com/office/drawing/2014/main" id="{73B260C3-D601-4596-AE7B-38390A8E121F}"/>
              </a:ext>
            </a:extLst>
          </p:cNvPr>
          <p:cNvSpPr>
            <a:spLocks noGrp="1"/>
          </p:cNvSpPr>
          <p:nvPr/>
        </p:nvSpPr>
        <p:spPr>
          <a:xfrm>
            <a:off x="885825" y="2295525"/>
            <a:ext cx="1943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sain</a:t>
            </a:r>
          </a:p>
        </p:txBody>
      </p:sp>
      <p:sp>
        <p:nvSpPr>
          <p:cNvPr id="10" name="Rectangle 9">
            <a:extLst>
              <a:ext uri="{FF2B5EF4-FFF2-40B4-BE49-F238E27FC236}">
                <a16:creationId xmlns:a16="http://schemas.microsoft.com/office/drawing/2014/main" id="{0E99809C-A28D-4805-A987-44B2BD11422A}"/>
              </a:ext>
            </a:extLst>
          </p:cNvPr>
          <p:cNvSpPr>
            <a:spLocks noGrp="1"/>
          </p:cNvSpPr>
          <p:nvPr/>
        </p:nvSpPr>
        <p:spPr>
          <a:xfrm>
            <a:off x="3476625" y="1762125"/>
            <a:ext cx="2286000" cy="1000125"/>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954EE2F6-1128-4954-94BC-4628EB662D25}"/>
              </a:ext>
            </a:extLst>
          </p:cNvPr>
          <p:cNvSpPr>
            <a:spLocks noGrp="1"/>
          </p:cNvSpPr>
          <p:nvPr/>
        </p:nvSpPr>
        <p:spPr>
          <a:xfrm>
            <a:off x="3476625" y="1762125"/>
            <a:ext cx="2286000" cy="47625"/>
          </a:xfrm>
          <a:prstGeom prst="rect">
            <a:avLst/>
          </a:prstGeom>
          <a:solidFill>
            <a:srgbClr val="3D7C5F"/>
          </a:solidFill>
          <a:ln w="0">
            <a:noFill/>
          </a:ln>
        </p:spPr>
      </p:sp>
      <p:sp>
        <p:nvSpPr>
          <p:cNvPr id="12" name="Rectangle 11">
            <a:extLst>
              <a:ext uri="{FF2B5EF4-FFF2-40B4-BE49-F238E27FC236}">
                <a16:creationId xmlns:a16="http://schemas.microsoft.com/office/drawing/2014/main" id="{1FDF2F0F-7869-4C7F-BC92-B307FB364AE7}"/>
              </a:ext>
            </a:extLst>
          </p:cNvPr>
          <p:cNvSpPr>
            <a:spLocks noGrp="1"/>
          </p:cNvSpPr>
          <p:nvPr/>
        </p:nvSpPr>
        <p:spPr>
          <a:xfrm>
            <a:off x="3648075" y="1924050"/>
            <a:ext cx="1943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MLflow</a:t>
            </a:r>
          </a:p>
        </p:txBody>
      </p:sp>
      <p:sp>
        <p:nvSpPr>
          <p:cNvPr id="13" name="Rectangle 12">
            <a:extLst>
              <a:ext uri="{FF2B5EF4-FFF2-40B4-BE49-F238E27FC236}">
                <a16:creationId xmlns:a16="http://schemas.microsoft.com/office/drawing/2014/main" id="{7F1E6805-31BA-4555-9382-3CF53F50022A}"/>
              </a:ext>
            </a:extLst>
          </p:cNvPr>
          <p:cNvSpPr>
            <a:spLocks noGrp="1"/>
          </p:cNvSpPr>
          <p:nvPr/>
        </p:nvSpPr>
        <p:spPr>
          <a:xfrm>
            <a:off x="3648075" y="2295525"/>
            <a:ext cx="1943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sain</a:t>
            </a:r>
          </a:p>
        </p:txBody>
      </p:sp>
      <p:sp>
        <p:nvSpPr>
          <p:cNvPr id="14" name="Rectangle 13">
            <a:extLst>
              <a:ext uri="{FF2B5EF4-FFF2-40B4-BE49-F238E27FC236}">
                <a16:creationId xmlns:a16="http://schemas.microsoft.com/office/drawing/2014/main" id="{0EF623AB-A67B-41A2-A09A-C0D7D9F02384}"/>
              </a:ext>
            </a:extLst>
          </p:cNvPr>
          <p:cNvSpPr>
            <a:spLocks noGrp="1"/>
          </p:cNvSpPr>
          <p:nvPr/>
        </p:nvSpPr>
        <p:spPr>
          <a:xfrm>
            <a:off x="6238875" y="1762125"/>
            <a:ext cx="2286000" cy="1000125"/>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EDA36591-27F8-4ACC-9906-214206CE3133}"/>
              </a:ext>
            </a:extLst>
          </p:cNvPr>
          <p:cNvSpPr>
            <a:spLocks noGrp="1"/>
          </p:cNvSpPr>
          <p:nvPr/>
        </p:nvSpPr>
        <p:spPr>
          <a:xfrm>
            <a:off x="6238875" y="1762125"/>
            <a:ext cx="2286000" cy="47625"/>
          </a:xfrm>
          <a:prstGeom prst="rect">
            <a:avLst/>
          </a:prstGeom>
          <a:solidFill>
            <a:srgbClr val="3D7C5F"/>
          </a:solidFill>
          <a:ln w="0">
            <a:noFill/>
          </a:ln>
        </p:spPr>
      </p:sp>
      <p:sp>
        <p:nvSpPr>
          <p:cNvPr id="16" name="Rectangle 15">
            <a:extLst>
              <a:ext uri="{FF2B5EF4-FFF2-40B4-BE49-F238E27FC236}">
                <a16:creationId xmlns:a16="http://schemas.microsoft.com/office/drawing/2014/main" id="{30F92EA9-F378-4113-B7D4-33C0FD2C866E}"/>
              </a:ext>
            </a:extLst>
          </p:cNvPr>
          <p:cNvSpPr>
            <a:spLocks noGrp="1"/>
          </p:cNvSpPr>
          <p:nvPr/>
        </p:nvSpPr>
        <p:spPr>
          <a:xfrm>
            <a:off x="6410325" y="1924050"/>
            <a:ext cx="1943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Dagster web</a:t>
            </a:r>
          </a:p>
        </p:txBody>
      </p:sp>
      <p:sp>
        <p:nvSpPr>
          <p:cNvPr id="17" name="Rectangle 16">
            <a:extLst>
              <a:ext uri="{FF2B5EF4-FFF2-40B4-BE49-F238E27FC236}">
                <a16:creationId xmlns:a16="http://schemas.microsoft.com/office/drawing/2014/main" id="{4190CCAB-729D-477D-8F0F-13E76704E4EB}"/>
              </a:ext>
            </a:extLst>
          </p:cNvPr>
          <p:cNvSpPr>
            <a:spLocks noGrp="1"/>
          </p:cNvSpPr>
          <p:nvPr/>
        </p:nvSpPr>
        <p:spPr>
          <a:xfrm>
            <a:off x="6410325" y="2295525"/>
            <a:ext cx="1943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sain</a:t>
            </a:r>
          </a:p>
        </p:txBody>
      </p:sp>
      <p:sp>
        <p:nvSpPr>
          <p:cNvPr id="18" name="Rectangle 17">
            <a:extLst>
              <a:ext uri="{FF2B5EF4-FFF2-40B4-BE49-F238E27FC236}">
                <a16:creationId xmlns:a16="http://schemas.microsoft.com/office/drawing/2014/main" id="{589DB8F3-EDAF-4BA0-871D-5C811ADA515C}"/>
              </a:ext>
            </a:extLst>
          </p:cNvPr>
          <p:cNvSpPr>
            <a:spLocks noGrp="1"/>
          </p:cNvSpPr>
          <p:nvPr/>
        </p:nvSpPr>
        <p:spPr>
          <a:xfrm>
            <a:off x="9001125" y="1762125"/>
            <a:ext cx="2286000" cy="1000125"/>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C9DFE8D6-1C12-4A19-A447-89DB39B00235}"/>
              </a:ext>
            </a:extLst>
          </p:cNvPr>
          <p:cNvSpPr>
            <a:spLocks noGrp="1"/>
          </p:cNvSpPr>
          <p:nvPr/>
        </p:nvSpPr>
        <p:spPr>
          <a:xfrm>
            <a:off x="9001125" y="1762125"/>
            <a:ext cx="2286000" cy="47625"/>
          </a:xfrm>
          <a:prstGeom prst="rect">
            <a:avLst/>
          </a:prstGeom>
          <a:solidFill>
            <a:srgbClr val="3D7C5F"/>
          </a:solidFill>
          <a:ln w="0">
            <a:noFill/>
          </a:ln>
        </p:spPr>
      </p:sp>
      <p:sp>
        <p:nvSpPr>
          <p:cNvPr id="20" name="Rectangle 19">
            <a:extLst>
              <a:ext uri="{FF2B5EF4-FFF2-40B4-BE49-F238E27FC236}">
                <a16:creationId xmlns:a16="http://schemas.microsoft.com/office/drawing/2014/main" id="{96337D45-C30E-472A-A4B8-134324BD493B}"/>
              </a:ext>
            </a:extLst>
          </p:cNvPr>
          <p:cNvSpPr>
            <a:spLocks noGrp="1"/>
          </p:cNvSpPr>
          <p:nvPr/>
        </p:nvSpPr>
        <p:spPr>
          <a:xfrm>
            <a:off x="9172575" y="1924050"/>
            <a:ext cx="19431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Dagster daemon</a:t>
            </a:r>
          </a:p>
        </p:txBody>
      </p:sp>
      <p:sp>
        <p:nvSpPr>
          <p:cNvPr id="21" name="Rectangle 20">
            <a:extLst>
              <a:ext uri="{FF2B5EF4-FFF2-40B4-BE49-F238E27FC236}">
                <a16:creationId xmlns:a16="http://schemas.microsoft.com/office/drawing/2014/main" id="{4BC8B71B-0185-4423-B183-D6CFE39F1E04}"/>
              </a:ext>
            </a:extLst>
          </p:cNvPr>
          <p:cNvSpPr>
            <a:spLocks noGrp="1"/>
          </p:cNvSpPr>
          <p:nvPr/>
        </p:nvSpPr>
        <p:spPr>
          <a:xfrm>
            <a:off x="9172575" y="2295525"/>
            <a:ext cx="1943100" cy="352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actif</a:t>
            </a:r>
          </a:p>
        </p:txBody>
      </p:sp>
      <p:sp>
        <p:nvSpPr>
          <p:cNvPr id="22" name="Rectangle 21">
            <a:extLst>
              <a:ext uri="{FF2B5EF4-FFF2-40B4-BE49-F238E27FC236}">
                <a16:creationId xmlns:a16="http://schemas.microsoft.com/office/drawing/2014/main" id="{057E59A8-F66D-4805-A4D3-E0913D2117A7}"/>
              </a:ext>
            </a:extLst>
          </p:cNvPr>
          <p:cNvSpPr>
            <a:spLocks noGrp="1"/>
          </p:cNvSpPr>
          <p:nvPr/>
        </p:nvSpPr>
        <p:spPr>
          <a:xfrm>
            <a:off x="904875" y="3524250"/>
            <a:ext cx="3143250" cy="1381125"/>
          </a:xfrm>
          <a:prstGeom prst="rect">
            <a:avLst/>
          </a:prstGeom>
          <a:solidFill>
            <a:srgbClr val="FFFCF5"/>
          </a:solidFill>
          <a:ln w="10478">
            <a:solidFill>
              <a:srgbClr val="D7D1C5"/>
            </a:solidFill>
            <a:prstDash val="solid"/>
          </a:ln>
        </p:spPr>
      </p:sp>
      <p:sp>
        <p:nvSpPr>
          <p:cNvPr id="23" name="Rectangle 22">
            <a:extLst>
              <a:ext uri="{FF2B5EF4-FFF2-40B4-BE49-F238E27FC236}">
                <a16:creationId xmlns:a16="http://schemas.microsoft.com/office/drawing/2014/main" id="{86CAE19C-D1AA-44CE-89B7-FF541DFC191F}"/>
              </a:ext>
            </a:extLst>
          </p:cNvPr>
          <p:cNvSpPr>
            <a:spLocks noGrp="1"/>
          </p:cNvSpPr>
          <p:nvPr/>
        </p:nvSpPr>
        <p:spPr>
          <a:xfrm>
            <a:off x="904875" y="3524250"/>
            <a:ext cx="3143250" cy="47625"/>
          </a:xfrm>
          <a:prstGeom prst="rect">
            <a:avLst/>
          </a:prstGeom>
          <a:solidFill>
            <a:srgbClr val="287B83"/>
          </a:solidFill>
          <a:ln w="0">
            <a:noFill/>
          </a:ln>
        </p:spPr>
      </p:sp>
      <p:sp>
        <p:nvSpPr>
          <p:cNvPr id="24" name="Rectangle 23">
            <a:extLst>
              <a:ext uri="{FF2B5EF4-FFF2-40B4-BE49-F238E27FC236}">
                <a16:creationId xmlns:a16="http://schemas.microsoft.com/office/drawing/2014/main" id="{5D3DBF22-2BF3-4C69-93A4-7037719D0408}"/>
              </a:ext>
            </a:extLst>
          </p:cNvPr>
          <p:cNvSpPr>
            <a:spLocks noGrp="1"/>
          </p:cNvSpPr>
          <p:nvPr/>
        </p:nvSpPr>
        <p:spPr>
          <a:xfrm>
            <a:off x="1076325" y="3686175"/>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Stack</a:t>
            </a:r>
          </a:p>
        </p:txBody>
      </p:sp>
      <p:sp>
        <p:nvSpPr>
          <p:cNvPr id="25" name="Rectangle 24">
            <a:extLst>
              <a:ext uri="{FF2B5EF4-FFF2-40B4-BE49-F238E27FC236}">
                <a16:creationId xmlns:a16="http://schemas.microsoft.com/office/drawing/2014/main" id="{1BD0B445-64DF-4B58-B873-BCEB302FDB9D}"/>
              </a:ext>
            </a:extLst>
          </p:cNvPr>
          <p:cNvSpPr>
            <a:spLocks noGrp="1"/>
          </p:cNvSpPr>
          <p:nvPr/>
        </p:nvSpPr>
        <p:spPr>
          <a:xfrm>
            <a:off x="1076325" y="4057650"/>
            <a:ext cx="2800350" cy="733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industrial_equipment_health_platform</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état et conteneurs visibles</a:t>
            </a:r>
          </a:p>
        </p:txBody>
      </p:sp>
      <p:sp>
        <p:nvSpPr>
          <p:cNvPr id="26" name="Rectangle 25">
            <a:extLst>
              <a:ext uri="{FF2B5EF4-FFF2-40B4-BE49-F238E27FC236}">
                <a16:creationId xmlns:a16="http://schemas.microsoft.com/office/drawing/2014/main" id="{94BC0B7B-7AD9-4BCA-854E-ECD63F158703}"/>
              </a:ext>
            </a:extLst>
          </p:cNvPr>
          <p:cNvSpPr>
            <a:spLocks noGrp="1"/>
          </p:cNvSpPr>
          <p:nvPr/>
        </p:nvSpPr>
        <p:spPr>
          <a:xfrm>
            <a:off x="4524375" y="3524250"/>
            <a:ext cx="3143250" cy="1381125"/>
          </a:xfrm>
          <a:prstGeom prst="rect">
            <a:avLst/>
          </a:prstGeom>
          <a:solidFill>
            <a:srgbClr val="FFFCF5"/>
          </a:solidFill>
          <a:ln w="10478">
            <a:solidFill>
              <a:srgbClr val="D7D1C5"/>
            </a:solidFill>
            <a:prstDash val="solid"/>
          </a:ln>
        </p:spPr>
      </p:sp>
      <p:sp>
        <p:nvSpPr>
          <p:cNvPr id="27" name="Rectangle 26">
            <a:extLst>
              <a:ext uri="{FF2B5EF4-FFF2-40B4-BE49-F238E27FC236}">
                <a16:creationId xmlns:a16="http://schemas.microsoft.com/office/drawing/2014/main" id="{E91B528F-E763-4D75-97A4-E8A29DF2082F}"/>
              </a:ext>
            </a:extLst>
          </p:cNvPr>
          <p:cNvSpPr>
            <a:spLocks noGrp="1"/>
          </p:cNvSpPr>
          <p:nvPr/>
        </p:nvSpPr>
        <p:spPr>
          <a:xfrm>
            <a:off x="4524375" y="3524250"/>
            <a:ext cx="3143250" cy="47625"/>
          </a:xfrm>
          <a:prstGeom prst="rect">
            <a:avLst/>
          </a:prstGeom>
          <a:solidFill>
            <a:srgbClr val="C45A31"/>
          </a:solidFill>
          <a:ln w="0">
            <a:noFill/>
          </a:ln>
        </p:spPr>
      </p:sp>
      <p:sp>
        <p:nvSpPr>
          <p:cNvPr id="28" name="Rectangle 27">
            <a:extLst>
              <a:ext uri="{FF2B5EF4-FFF2-40B4-BE49-F238E27FC236}">
                <a16:creationId xmlns:a16="http://schemas.microsoft.com/office/drawing/2014/main" id="{0BB7CAC7-A687-47C6-9D0C-819E8156A267}"/>
              </a:ext>
            </a:extLst>
          </p:cNvPr>
          <p:cNvSpPr>
            <a:spLocks noGrp="1"/>
          </p:cNvSpPr>
          <p:nvPr/>
        </p:nvSpPr>
        <p:spPr>
          <a:xfrm>
            <a:off x="4695825" y="3686175"/>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Révision attendue</a:t>
            </a:r>
          </a:p>
        </p:txBody>
      </p:sp>
      <p:sp>
        <p:nvSpPr>
          <p:cNvPr id="29" name="Rectangle 28">
            <a:extLst>
              <a:ext uri="{FF2B5EF4-FFF2-40B4-BE49-F238E27FC236}">
                <a16:creationId xmlns:a16="http://schemas.microsoft.com/office/drawing/2014/main" id="{E1F0C62C-4774-44FB-B2FB-2AA3A5CC6E9F}"/>
              </a:ext>
            </a:extLst>
          </p:cNvPr>
          <p:cNvSpPr>
            <a:spLocks noGrp="1"/>
          </p:cNvSpPr>
          <p:nvPr/>
        </p:nvSpPr>
        <p:spPr>
          <a:xfrm>
            <a:off x="4695825" y="4057650"/>
            <a:ext cx="2800350" cy="733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3ef8c10</a:t>
            </a:r>
          </a:p>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contrôle de l'image juste avant la démo</a:t>
            </a:r>
          </a:p>
        </p:txBody>
      </p:sp>
      <p:sp>
        <p:nvSpPr>
          <p:cNvPr id="30" name="Rectangle 29">
            <a:extLst>
              <a:ext uri="{FF2B5EF4-FFF2-40B4-BE49-F238E27FC236}">
                <a16:creationId xmlns:a16="http://schemas.microsoft.com/office/drawing/2014/main" id="{35DEED2E-BEA3-48E1-9609-F71D43C19306}"/>
              </a:ext>
            </a:extLst>
          </p:cNvPr>
          <p:cNvSpPr>
            <a:spLocks noGrp="1"/>
          </p:cNvSpPr>
          <p:nvPr/>
        </p:nvSpPr>
        <p:spPr>
          <a:xfrm>
            <a:off x="8143875" y="3524250"/>
            <a:ext cx="3143250" cy="1381125"/>
          </a:xfrm>
          <a:prstGeom prst="rect">
            <a:avLst/>
          </a:prstGeom>
          <a:solidFill>
            <a:srgbClr val="FFFCF5"/>
          </a:solidFill>
          <a:ln w="10478">
            <a:solidFill>
              <a:srgbClr val="D7D1C5"/>
            </a:solidFill>
            <a:prstDash val="solid"/>
          </a:ln>
        </p:spPr>
      </p:sp>
      <p:sp>
        <p:nvSpPr>
          <p:cNvPr id="31" name="Rectangle 30">
            <a:extLst>
              <a:ext uri="{FF2B5EF4-FFF2-40B4-BE49-F238E27FC236}">
                <a16:creationId xmlns:a16="http://schemas.microsoft.com/office/drawing/2014/main" id="{98F9FBDE-EA9F-4830-9D85-26F55DB9348B}"/>
              </a:ext>
            </a:extLst>
          </p:cNvPr>
          <p:cNvSpPr>
            <a:spLocks noGrp="1"/>
          </p:cNvSpPr>
          <p:nvPr/>
        </p:nvSpPr>
        <p:spPr>
          <a:xfrm>
            <a:off x="8143875" y="3524250"/>
            <a:ext cx="3143250" cy="47625"/>
          </a:xfrm>
          <a:prstGeom prst="rect">
            <a:avLst/>
          </a:prstGeom>
          <a:solidFill>
            <a:srgbClr val="173B5D"/>
          </a:solidFill>
          <a:ln w="0">
            <a:noFill/>
          </a:ln>
        </p:spPr>
      </p:sp>
      <p:sp>
        <p:nvSpPr>
          <p:cNvPr id="32" name="Rectangle 31">
            <a:extLst>
              <a:ext uri="{FF2B5EF4-FFF2-40B4-BE49-F238E27FC236}">
                <a16:creationId xmlns:a16="http://schemas.microsoft.com/office/drawing/2014/main" id="{AFF1A86A-7453-45B1-A414-14C46890553F}"/>
              </a:ext>
            </a:extLst>
          </p:cNvPr>
          <p:cNvSpPr>
            <a:spLocks noGrp="1"/>
          </p:cNvSpPr>
          <p:nvPr/>
        </p:nvSpPr>
        <p:spPr>
          <a:xfrm>
            <a:off x="8315325" y="3686175"/>
            <a:ext cx="280035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Preuves</a:t>
            </a:r>
          </a:p>
        </p:txBody>
      </p:sp>
      <p:sp>
        <p:nvSpPr>
          <p:cNvPr id="33" name="Rectangle 32">
            <a:extLst>
              <a:ext uri="{FF2B5EF4-FFF2-40B4-BE49-F238E27FC236}">
                <a16:creationId xmlns:a16="http://schemas.microsoft.com/office/drawing/2014/main" id="{DEA863E5-520F-4196-B27F-FABBF7552E52}"/>
              </a:ext>
            </a:extLst>
          </p:cNvPr>
          <p:cNvSpPr>
            <a:spLocks noGrp="1"/>
          </p:cNvSpPr>
          <p:nvPr/>
        </p:nvSpPr>
        <p:spPr>
          <a:xfrm>
            <a:off x="8315325" y="4057650"/>
            <a:ext cx="2800350" cy="733425"/>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logs, santé, champion, planning et monitoring</a:t>
            </a:r>
          </a:p>
        </p:txBody>
      </p:sp>
      <p:sp>
        <p:nvSpPr>
          <p:cNvPr id="34" name="Rectangle 33">
            <a:extLst>
              <a:ext uri="{FF2B5EF4-FFF2-40B4-BE49-F238E27FC236}">
                <a16:creationId xmlns:a16="http://schemas.microsoft.com/office/drawing/2014/main" id="{AF65FC8D-A187-4F21-B894-27690A4EA14D}"/>
              </a:ext>
            </a:extLst>
          </p:cNvPr>
          <p:cNvSpPr>
            <a:spLocks noGrp="1"/>
          </p:cNvSpPr>
          <p:nvPr/>
        </p:nvSpPr>
        <p:spPr>
          <a:xfrm>
            <a:off x="1619250" y="5572125"/>
            <a:ext cx="8953500" cy="419100"/>
          </a:xfrm>
          <a:prstGeom prst="rect">
            <a:avLst/>
          </a:prstGeom>
          <a:noFill/>
          <a:ln w="0">
            <a:noFill/>
          </a:ln>
        </p:spPr>
        <p:txBody>
          <a:bodyPr wrap="square" lIns="0" tIns="0" rIns="0" bIns="0" anchor="t">
            <a:noAutofit/>
          </a:bodyPr>
          <a:lstStyle/>
          <a:p>
            <a:pPr algn="ctr">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Komodo gère la Stack ; les autres pages ne sont utilisées que si elles correspondent à une ressource réelle</a:t>
            </a:r>
          </a:p>
        </p:txBody>
      </p:sp>
      <p:sp>
        <p:nvSpPr>
          <p:cNvPr id="35" name="Rectangle 34">
            <a:extLst>
              <a:ext uri="{FF2B5EF4-FFF2-40B4-BE49-F238E27FC236}">
                <a16:creationId xmlns:a16="http://schemas.microsoft.com/office/drawing/2014/main" id="{E539B195-C16C-4EB5-9B46-494EBC57AACF}"/>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Aya Moujoud  Komodo</a:t>
            </a:r>
          </a:p>
        </p:txBody>
      </p:sp>
      <p:sp>
        <p:nvSpPr>
          <p:cNvPr id="36" name="Rectangle 35">
            <a:extLst>
              <a:ext uri="{FF2B5EF4-FFF2-40B4-BE49-F238E27FC236}">
                <a16:creationId xmlns:a16="http://schemas.microsoft.com/office/drawing/2014/main" id="{41FDC660-C698-44B4-8B46-3175C53A0A15}"/>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16 / 18</a:t>
            </a:r>
          </a:p>
        </p:txBody>
      </p:sp>
    </p:spTree>
    <p:extLst>
      <p:ext uri="{BB962C8B-B14F-4D97-AF65-F5344CB8AC3E}">
        <p14:creationId xmlns:p14="http://schemas.microsoft.com/office/powerpoint/2010/main" val="500660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39A8C6D-E31A-4078-878F-480C1675031A}"/>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870E64D2-0820-468B-B49B-77A4F3B777DE}"/>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D6F4F1FB-BB20-4FC6-8EEB-5C3C02CE3226}"/>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Limites et améliorations</a:t>
            </a:r>
          </a:p>
        </p:txBody>
      </p:sp>
      <p:sp>
        <p:nvSpPr>
          <p:cNvPr id="4" name="Rectangle 3">
            <a:extLst>
              <a:ext uri="{FF2B5EF4-FFF2-40B4-BE49-F238E27FC236}">
                <a16:creationId xmlns:a16="http://schemas.microsoft.com/office/drawing/2014/main" id="{2BCDC960-1BB7-4F11-9266-436E041DF44F}"/>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AYA MOUJOUD</a:t>
            </a:r>
          </a:p>
        </p:txBody>
      </p:sp>
      <p:sp>
        <p:nvSpPr>
          <p:cNvPr id="5" name="Rectangle 4">
            <a:extLst>
              <a:ext uri="{FF2B5EF4-FFF2-40B4-BE49-F238E27FC236}">
                <a16:creationId xmlns:a16="http://schemas.microsoft.com/office/drawing/2014/main" id="{651230DF-2AC9-46F3-A883-4338167FDD93}"/>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Les résultats répondent au cadre du module, avec des limites connues</a:t>
            </a:r>
          </a:p>
        </p:txBody>
      </p:sp>
      <p:sp>
        <p:nvSpPr>
          <p:cNvPr id="6" name="Rectangle 5">
            <a:extLst>
              <a:ext uri="{FF2B5EF4-FFF2-40B4-BE49-F238E27FC236}">
                <a16:creationId xmlns:a16="http://schemas.microsoft.com/office/drawing/2014/main" id="{406745B7-2848-4942-A77D-49C92000A417}"/>
              </a:ext>
            </a:extLst>
          </p:cNvPr>
          <p:cNvSpPr>
            <a:spLocks noGrp="1"/>
          </p:cNvSpPr>
          <p:nvPr/>
        </p:nvSpPr>
        <p:spPr>
          <a:xfrm>
            <a:off x="762000" y="1666875"/>
            <a:ext cx="4762500" cy="1238250"/>
          </a:xfrm>
          <a:prstGeom prst="rect">
            <a:avLst/>
          </a:prstGeom>
          <a:solidFill>
            <a:srgbClr val="FFFCF5"/>
          </a:solidFill>
          <a:ln w="10478">
            <a:solidFill>
              <a:srgbClr val="D7D1C5"/>
            </a:solidFill>
            <a:prstDash val="solid"/>
          </a:ln>
        </p:spPr>
      </p:sp>
      <p:sp>
        <p:nvSpPr>
          <p:cNvPr id="7" name="Rectangle 6">
            <a:extLst>
              <a:ext uri="{FF2B5EF4-FFF2-40B4-BE49-F238E27FC236}">
                <a16:creationId xmlns:a16="http://schemas.microsoft.com/office/drawing/2014/main" id="{23B35041-BFFF-4DF6-A48C-128A53C10258}"/>
              </a:ext>
            </a:extLst>
          </p:cNvPr>
          <p:cNvSpPr>
            <a:spLocks noGrp="1"/>
          </p:cNvSpPr>
          <p:nvPr/>
        </p:nvSpPr>
        <p:spPr>
          <a:xfrm>
            <a:off x="762000" y="1666875"/>
            <a:ext cx="4762500" cy="47625"/>
          </a:xfrm>
          <a:prstGeom prst="rect">
            <a:avLst/>
          </a:prstGeom>
          <a:solidFill>
            <a:srgbClr val="C45A31"/>
          </a:solidFill>
          <a:ln w="0">
            <a:noFill/>
          </a:ln>
        </p:spPr>
      </p:sp>
      <p:sp>
        <p:nvSpPr>
          <p:cNvPr id="8" name="Rectangle 7">
            <a:extLst>
              <a:ext uri="{FF2B5EF4-FFF2-40B4-BE49-F238E27FC236}">
                <a16:creationId xmlns:a16="http://schemas.microsoft.com/office/drawing/2014/main" id="{1B6FA8CD-6A66-41DC-AE8D-01E4BCC2E580}"/>
              </a:ext>
            </a:extLst>
          </p:cNvPr>
          <p:cNvSpPr>
            <a:spLocks noGrp="1"/>
          </p:cNvSpPr>
          <p:nvPr/>
        </p:nvSpPr>
        <p:spPr>
          <a:xfrm>
            <a:off x="933450" y="1828800"/>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Données</a:t>
            </a:r>
          </a:p>
        </p:txBody>
      </p:sp>
      <p:sp>
        <p:nvSpPr>
          <p:cNvPr id="9" name="Rectangle 8">
            <a:extLst>
              <a:ext uri="{FF2B5EF4-FFF2-40B4-BE49-F238E27FC236}">
                <a16:creationId xmlns:a16="http://schemas.microsoft.com/office/drawing/2014/main" id="{DA7F63F1-1035-41A6-BC0A-CB7AA2D82626}"/>
              </a:ext>
            </a:extLst>
          </p:cNvPr>
          <p:cNvSpPr>
            <a:spLocks noGrp="1"/>
          </p:cNvSpPr>
          <p:nvPr/>
        </p:nvSpPr>
        <p:spPr>
          <a:xfrm>
            <a:off x="933450" y="2200275"/>
            <a:ext cx="4419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C-MAPSS simule des moteurs et ne remplace pas une télémétrie industrielle.</a:t>
            </a:r>
          </a:p>
        </p:txBody>
      </p:sp>
      <p:sp>
        <p:nvSpPr>
          <p:cNvPr id="10" name="Rectangle 9">
            <a:extLst>
              <a:ext uri="{FF2B5EF4-FFF2-40B4-BE49-F238E27FC236}">
                <a16:creationId xmlns:a16="http://schemas.microsoft.com/office/drawing/2014/main" id="{B2E6CFBA-138D-490C-8C0A-66DA982F0D46}"/>
              </a:ext>
            </a:extLst>
          </p:cNvPr>
          <p:cNvSpPr>
            <a:spLocks noGrp="1"/>
          </p:cNvSpPr>
          <p:nvPr/>
        </p:nvSpPr>
        <p:spPr>
          <a:xfrm>
            <a:off x="6667500" y="1666875"/>
            <a:ext cx="4762500" cy="1238250"/>
          </a:xfrm>
          <a:prstGeom prst="rect">
            <a:avLst/>
          </a:prstGeom>
          <a:solidFill>
            <a:srgbClr val="FFFCF5"/>
          </a:solidFill>
          <a:ln w="10478">
            <a:solidFill>
              <a:srgbClr val="D7D1C5"/>
            </a:solidFill>
            <a:prstDash val="solid"/>
          </a:ln>
        </p:spPr>
      </p:sp>
      <p:sp>
        <p:nvSpPr>
          <p:cNvPr id="11" name="Rectangle 10">
            <a:extLst>
              <a:ext uri="{FF2B5EF4-FFF2-40B4-BE49-F238E27FC236}">
                <a16:creationId xmlns:a16="http://schemas.microsoft.com/office/drawing/2014/main" id="{3D91D988-68B9-46A5-9C25-DDCED196E786}"/>
              </a:ext>
            </a:extLst>
          </p:cNvPr>
          <p:cNvSpPr>
            <a:spLocks noGrp="1"/>
          </p:cNvSpPr>
          <p:nvPr/>
        </p:nvSpPr>
        <p:spPr>
          <a:xfrm>
            <a:off x="6667500" y="1666875"/>
            <a:ext cx="4762500" cy="47625"/>
          </a:xfrm>
          <a:prstGeom prst="rect">
            <a:avLst/>
          </a:prstGeom>
          <a:solidFill>
            <a:srgbClr val="C45A31"/>
          </a:solidFill>
          <a:ln w="0">
            <a:noFill/>
          </a:ln>
        </p:spPr>
      </p:sp>
      <p:sp>
        <p:nvSpPr>
          <p:cNvPr id="12" name="Rectangle 11">
            <a:extLst>
              <a:ext uri="{FF2B5EF4-FFF2-40B4-BE49-F238E27FC236}">
                <a16:creationId xmlns:a16="http://schemas.microsoft.com/office/drawing/2014/main" id="{2C590665-BC71-4B06-910B-5B7755E0150C}"/>
              </a:ext>
            </a:extLst>
          </p:cNvPr>
          <p:cNvSpPr>
            <a:spLocks noGrp="1"/>
          </p:cNvSpPr>
          <p:nvPr/>
        </p:nvSpPr>
        <p:spPr>
          <a:xfrm>
            <a:off x="6838950" y="1828800"/>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Monitoring</a:t>
            </a:r>
          </a:p>
        </p:txBody>
      </p:sp>
      <p:sp>
        <p:nvSpPr>
          <p:cNvPr id="13" name="Rectangle 12">
            <a:extLst>
              <a:ext uri="{FF2B5EF4-FFF2-40B4-BE49-F238E27FC236}">
                <a16:creationId xmlns:a16="http://schemas.microsoft.com/office/drawing/2014/main" id="{5A82FECB-6239-4288-9618-76052C70B80A}"/>
              </a:ext>
            </a:extLst>
          </p:cNvPr>
          <p:cNvSpPr>
            <a:spLocks noGrp="1"/>
          </p:cNvSpPr>
          <p:nvPr/>
        </p:nvSpPr>
        <p:spPr>
          <a:xfrm>
            <a:off x="6838950" y="2200275"/>
            <a:ext cx="4419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Le drift compare une moyenne de RUL. Il ne détecte pas tous les changements de données.</a:t>
            </a:r>
          </a:p>
        </p:txBody>
      </p:sp>
      <p:sp>
        <p:nvSpPr>
          <p:cNvPr id="14" name="Rectangle 13">
            <a:extLst>
              <a:ext uri="{FF2B5EF4-FFF2-40B4-BE49-F238E27FC236}">
                <a16:creationId xmlns:a16="http://schemas.microsoft.com/office/drawing/2014/main" id="{00876F59-FA70-42E0-BD90-938877C23A18}"/>
              </a:ext>
            </a:extLst>
          </p:cNvPr>
          <p:cNvSpPr>
            <a:spLocks noGrp="1"/>
          </p:cNvSpPr>
          <p:nvPr/>
        </p:nvSpPr>
        <p:spPr>
          <a:xfrm>
            <a:off x="762000" y="3667125"/>
            <a:ext cx="4762500" cy="1238250"/>
          </a:xfrm>
          <a:prstGeom prst="rect">
            <a:avLst/>
          </a:prstGeom>
          <a:solidFill>
            <a:srgbClr val="FFFCF5"/>
          </a:solidFill>
          <a:ln w="10478">
            <a:solidFill>
              <a:srgbClr val="D7D1C5"/>
            </a:solidFill>
            <a:prstDash val="solid"/>
          </a:ln>
        </p:spPr>
      </p:sp>
      <p:sp>
        <p:nvSpPr>
          <p:cNvPr id="15" name="Rectangle 14">
            <a:extLst>
              <a:ext uri="{FF2B5EF4-FFF2-40B4-BE49-F238E27FC236}">
                <a16:creationId xmlns:a16="http://schemas.microsoft.com/office/drawing/2014/main" id="{B0BBBA75-DDFF-4D1C-AD85-9CB36E8B1677}"/>
              </a:ext>
            </a:extLst>
          </p:cNvPr>
          <p:cNvSpPr>
            <a:spLocks noGrp="1"/>
          </p:cNvSpPr>
          <p:nvPr/>
        </p:nvSpPr>
        <p:spPr>
          <a:xfrm>
            <a:off x="762000" y="3667125"/>
            <a:ext cx="4762500" cy="47625"/>
          </a:xfrm>
          <a:prstGeom prst="rect">
            <a:avLst/>
          </a:prstGeom>
          <a:solidFill>
            <a:srgbClr val="C45A31"/>
          </a:solidFill>
          <a:ln w="0">
            <a:noFill/>
          </a:ln>
        </p:spPr>
      </p:sp>
      <p:sp>
        <p:nvSpPr>
          <p:cNvPr id="16" name="Rectangle 15">
            <a:extLst>
              <a:ext uri="{FF2B5EF4-FFF2-40B4-BE49-F238E27FC236}">
                <a16:creationId xmlns:a16="http://schemas.microsoft.com/office/drawing/2014/main" id="{803CB446-1B4E-494C-A0EE-3D21AD6258EE}"/>
              </a:ext>
            </a:extLst>
          </p:cNvPr>
          <p:cNvSpPr>
            <a:spLocks noGrp="1"/>
          </p:cNvSpPr>
          <p:nvPr/>
        </p:nvSpPr>
        <p:spPr>
          <a:xfrm>
            <a:off x="933450" y="3829050"/>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Risque</a:t>
            </a:r>
          </a:p>
        </p:txBody>
      </p:sp>
      <p:sp>
        <p:nvSpPr>
          <p:cNvPr id="17" name="Rectangle 16">
            <a:extLst>
              <a:ext uri="{FF2B5EF4-FFF2-40B4-BE49-F238E27FC236}">
                <a16:creationId xmlns:a16="http://schemas.microsoft.com/office/drawing/2014/main" id="{C0787D78-F51F-49F9-B08B-B3624822841E}"/>
              </a:ext>
            </a:extLst>
          </p:cNvPr>
          <p:cNvSpPr>
            <a:spLocks noGrp="1"/>
          </p:cNvSpPr>
          <p:nvPr/>
        </p:nvSpPr>
        <p:spPr>
          <a:xfrm>
            <a:off x="933450" y="4200525"/>
            <a:ext cx="4419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Les classes viennent de seuils sur la RUL et non d'un classifieur calibré.</a:t>
            </a:r>
          </a:p>
        </p:txBody>
      </p:sp>
      <p:sp>
        <p:nvSpPr>
          <p:cNvPr id="18" name="Rectangle 17">
            <a:extLst>
              <a:ext uri="{FF2B5EF4-FFF2-40B4-BE49-F238E27FC236}">
                <a16:creationId xmlns:a16="http://schemas.microsoft.com/office/drawing/2014/main" id="{B5E3A41D-95EF-46CB-ABB1-1A448B8EDE0B}"/>
              </a:ext>
            </a:extLst>
          </p:cNvPr>
          <p:cNvSpPr>
            <a:spLocks noGrp="1"/>
          </p:cNvSpPr>
          <p:nvPr/>
        </p:nvSpPr>
        <p:spPr>
          <a:xfrm>
            <a:off x="6667500" y="3667125"/>
            <a:ext cx="4762500" cy="1238250"/>
          </a:xfrm>
          <a:prstGeom prst="rect">
            <a:avLst/>
          </a:prstGeom>
          <a:solidFill>
            <a:srgbClr val="FFFCF5"/>
          </a:solidFill>
          <a:ln w="10478">
            <a:solidFill>
              <a:srgbClr val="D7D1C5"/>
            </a:solidFill>
            <a:prstDash val="solid"/>
          </a:ln>
        </p:spPr>
      </p:sp>
      <p:sp>
        <p:nvSpPr>
          <p:cNvPr id="19" name="Rectangle 18">
            <a:extLst>
              <a:ext uri="{FF2B5EF4-FFF2-40B4-BE49-F238E27FC236}">
                <a16:creationId xmlns:a16="http://schemas.microsoft.com/office/drawing/2014/main" id="{673B848C-94F0-4B56-94CB-0C0FF83BF8A0}"/>
              </a:ext>
            </a:extLst>
          </p:cNvPr>
          <p:cNvSpPr>
            <a:spLocks noGrp="1"/>
          </p:cNvSpPr>
          <p:nvPr/>
        </p:nvSpPr>
        <p:spPr>
          <a:xfrm>
            <a:off x="6667500" y="3667125"/>
            <a:ext cx="4762500" cy="47625"/>
          </a:xfrm>
          <a:prstGeom prst="rect">
            <a:avLst/>
          </a:prstGeom>
          <a:solidFill>
            <a:srgbClr val="C45A31"/>
          </a:solidFill>
          <a:ln w="0">
            <a:noFill/>
          </a:ln>
        </p:spPr>
      </p:sp>
      <p:sp>
        <p:nvSpPr>
          <p:cNvPr id="20" name="Rectangle 19">
            <a:extLst>
              <a:ext uri="{FF2B5EF4-FFF2-40B4-BE49-F238E27FC236}">
                <a16:creationId xmlns:a16="http://schemas.microsoft.com/office/drawing/2014/main" id="{7CB48A19-045D-41AA-B706-B8FF7F9B392B}"/>
              </a:ext>
            </a:extLst>
          </p:cNvPr>
          <p:cNvSpPr>
            <a:spLocks noGrp="1"/>
          </p:cNvSpPr>
          <p:nvPr/>
        </p:nvSpPr>
        <p:spPr>
          <a:xfrm>
            <a:off x="6838950" y="3829050"/>
            <a:ext cx="4419600" cy="323850"/>
          </a:xfrm>
          <a:prstGeom prst="rect">
            <a:avLst/>
          </a:prstGeom>
          <a:noFill/>
          <a:ln w="0">
            <a:noFill/>
          </a:ln>
        </p:spPr>
        <p:txBody>
          <a:bodyPr wrap="square" lIns="0" tIns="0" rIns="0" bIns="0" anchor="t">
            <a:noAutofit/>
          </a:bodyPr>
          <a:lstStyle/>
          <a:p>
            <a:pPr algn="l">
              <a:lnSpc>
                <a:spcPct val="103000"/>
              </a:lnSpc>
              <a:buNone/>
              <a:defRPr sz="1500" b="1">
                <a:solidFill>
                  <a:srgbClr val="173B5D"/>
                </a:solidFill>
                <a:latin typeface="Avenir Next"/>
                <a:ea typeface="Avenir Next"/>
                <a:cs typeface="Avenir Next"/>
              </a:defRPr>
            </a:pPr>
            <a:r>
              <a:rPr sz="1500" b="1">
                <a:solidFill>
                  <a:srgbClr val="173B5D"/>
                </a:solidFill>
                <a:latin typeface="Avenir Next"/>
                <a:ea typeface="Avenir Next"/>
                <a:cs typeface="Avenir Next"/>
              </a:rPr>
              <a:t>Production</a:t>
            </a:r>
          </a:p>
        </p:txBody>
      </p:sp>
      <p:sp>
        <p:nvSpPr>
          <p:cNvPr id="21" name="Rectangle 20">
            <a:extLst>
              <a:ext uri="{FF2B5EF4-FFF2-40B4-BE49-F238E27FC236}">
                <a16:creationId xmlns:a16="http://schemas.microsoft.com/office/drawing/2014/main" id="{EE2D3EBA-E705-4314-B6E8-7E2D92DEC41C}"/>
              </a:ext>
            </a:extLst>
          </p:cNvPr>
          <p:cNvSpPr>
            <a:spLocks noGrp="1"/>
          </p:cNvSpPr>
          <p:nvPr/>
        </p:nvSpPr>
        <p:spPr>
          <a:xfrm>
            <a:off x="6838950" y="4200525"/>
            <a:ext cx="4419600" cy="590550"/>
          </a:xfrm>
          <a:prstGeom prst="rect">
            <a:avLst/>
          </a:prstGeom>
          <a:noFill/>
          <a:ln w="0">
            <a:noFill/>
          </a:ln>
        </p:spPr>
        <p:txBody>
          <a:bodyPr wrap="square" lIns="0" tIns="0" rIns="0" bIns="0" anchor="t">
            <a:noAutofit/>
          </a:bodyPr>
          <a:lstStyle/>
          <a:p>
            <a:pPr algn="l">
              <a:lnSpc>
                <a:spcPct val="105000"/>
              </a:lnSpc>
              <a:buNone/>
              <a:defRPr sz="1125" b="0">
                <a:solidFill>
                  <a:srgbClr val="66727C"/>
                </a:solidFill>
                <a:latin typeface="Avenir Next"/>
                <a:ea typeface="Avenir Next"/>
                <a:cs typeface="Avenir Next"/>
              </a:defRPr>
            </a:pPr>
            <a:r>
              <a:rPr sz="1125" b="0">
                <a:solidFill>
                  <a:srgbClr val="66727C"/>
                </a:solidFill>
                <a:latin typeface="Avenir Next"/>
                <a:ea typeface="Avenir Next"/>
                <a:cs typeface="Avenir Next"/>
              </a:rPr>
              <a:t>FD001 réduit le temps de démonstration. L'évaluation complète utilise les quatre sous ensembles.</a:t>
            </a:r>
          </a:p>
        </p:txBody>
      </p:sp>
      <p:sp>
        <p:nvSpPr>
          <p:cNvPr id="22" name="Rectangle 21">
            <a:extLst>
              <a:ext uri="{FF2B5EF4-FFF2-40B4-BE49-F238E27FC236}">
                <a16:creationId xmlns:a16="http://schemas.microsoft.com/office/drawing/2014/main" id="{E2F47694-709F-4A59-980A-E01D6D69DF73}"/>
              </a:ext>
            </a:extLst>
          </p:cNvPr>
          <p:cNvSpPr>
            <a:spLocks noGrp="1"/>
          </p:cNvSpPr>
          <p:nvPr/>
        </p:nvSpPr>
        <p:spPr>
          <a:xfrm>
            <a:off x="1619250" y="5572125"/>
            <a:ext cx="8953500" cy="428625"/>
          </a:xfrm>
          <a:prstGeom prst="rect">
            <a:avLst/>
          </a:prstGeom>
          <a:noFill/>
          <a:ln w="0">
            <a:noFill/>
          </a:ln>
        </p:spPr>
        <p:txBody>
          <a:bodyPr wrap="square" lIns="0" tIns="0" rIns="0" bIns="0" anchor="t">
            <a:noAutofit/>
          </a:bodyPr>
          <a:lstStyle/>
          <a:p>
            <a:pPr algn="ctr">
              <a:lnSpc>
                <a:spcPct val="103000"/>
              </a:lnSpc>
              <a:buNone/>
              <a:defRPr sz="1725" b="1">
                <a:solidFill>
                  <a:srgbClr val="173B5D"/>
                </a:solidFill>
                <a:latin typeface="Avenir Next"/>
                <a:ea typeface="Avenir Next"/>
                <a:cs typeface="Avenir Next"/>
              </a:defRPr>
            </a:pPr>
            <a:r>
              <a:rPr sz="1725" b="1">
                <a:solidFill>
                  <a:srgbClr val="173B5D"/>
                </a:solidFill>
                <a:latin typeface="Avenir Next"/>
                <a:ea typeface="Avenir Next"/>
                <a:cs typeface="Avenir Next"/>
              </a:rPr>
              <a:t>Suite proposée : données réelles, drift par variable et validation métier des alertes</a:t>
            </a:r>
          </a:p>
        </p:txBody>
      </p:sp>
      <p:sp>
        <p:nvSpPr>
          <p:cNvPr id="23" name="Rectangle 22">
            <a:extLst>
              <a:ext uri="{FF2B5EF4-FFF2-40B4-BE49-F238E27FC236}">
                <a16:creationId xmlns:a16="http://schemas.microsoft.com/office/drawing/2014/main" id="{675312A3-2B6B-4844-8B0C-B17AE80447A2}"/>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Aya Moujoud  Limites</a:t>
            </a:r>
          </a:p>
        </p:txBody>
      </p:sp>
      <p:sp>
        <p:nvSpPr>
          <p:cNvPr id="24" name="Rectangle 23">
            <a:extLst>
              <a:ext uri="{FF2B5EF4-FFF2-40B4-BE49-F238E27FC236}">
                <a16:creationId xmlns:a16="http://schemas.microsoft.com/office/drawing/2014/main" id="{F7106673-D6EF-4A19-9D03-29E244A24723}"/>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17 / 18</a:t>
            </a:r>
          </a:p>
        </p:txBody>
      </p:sp>
    </p:spTree>
    <p:extLst>
      <p:ext uri="{BB962C8B-B14F-4D97-AF65-F5344CB8AC3E}">
        <p14:creationId xmlns:p14="http://schemas.microsoft.com/office/powerpoint/2010/main" val="1032015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1E7"/>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0412893-00CF-467E-A0A7-217BCCA58D76}"/>
              </a:ext>
            </a:extLst>
          </p:cNvPr>
          <p:cNvSpPr>
            <a:spLocks noGrp="1"/>
          </p:cNvSpPr>
          <p:nvPr/>
        </p:nvSpPr>
        <p:spPr>
          <a:xfrm>
            <a:off x="0" y="0"/>
            <a:ext cx="12192000" cy="1200150"/>
          </a:xfrm>
          <a:prstGeom prst="rect">
            <a:avLst/>
          </a:prstGeom>
          <a:solidFill>
            <a:srgbClr val="173B5D"/>
          </a:solidFill>
          <a:ln w="0">
            <a:noFill/>
          </a:ln>
        </p:spPr>
      </p:sp>
      <p:sp>
        <p:nvSpPr>
          <p:cNvPr id="2" name="Rectangle 1">
            <a:extLst>
              <a:ext uri="{FF2B5EF4-FFF2-40B4-BE49-F238E27FC236}">
                <a16:creationId xmlns:a16="http://schemas.microsoft.com/office/drawing/2014/main" id="{9594EC42-45E6-422A-836D-BBB3AEC8B6E5}"/>
              </a:ext>
            </a:extLst>
          </p:cNvPr>
          <p:cNvSpPr>
            <a:spLocks noGrp="1"/>
          </p:cNvSpPr>
          <p:nvPr/>
        </p:nvSpPr>
        <p:spPr>
          <a:xfrm>
            <a:off x="0" y="1162050"/>
            <a:ext cx="12192000" cy="38100"/>
          </a:xfrm>
          <a:prstGeom prst="rect">
            <a:avLst/>
          </a:prstGeom>
          <a:solidFill>
            <a:srgbClr val="C45A31"/>
          </a:solidFill>
          <a:ln w="0">
            <a:noFill/>
          </a:ln>
        </p:spPr>
      </p:sp>
      <p:sp>
        <p:nvSpPr>
          <p:cNvPr id="3" name="Rectangle 2">
            <a:extLst>
              <a:ext uri="{FF2B5EF4-FFF2-40B4-BE49-F238E27FC236}">
                <a16:creationId xmlns:a16="http://schemas.microsoft.com/office/drawing/2014/main" id="{9D59F1EF-4226-4186-B345-9DD7C328D950}"/>
              </a:ext>
            </a:extLst>
          </p:cNvPr>
          <p:cNvSpPr>
            <a:spLocks noGrp="1"/>
          </p:cNvSpPr>
          <p:nvPr/>
        </p:nvSpPr>
        <p:spPr>
          <a:xfrm>
            <a:off x="628650" y="266700"/>
            <a:ext cx="8572500" cy="495300"/>
          </a:xfrm>
          <a:prstGeom prst="rect">
            <a:avLst/>
          </a:prstGeom>
          <a:noFill/>
          <a:ln w="0">
            <a:noFill/>
          </a:ln>
        </p:spPr>
        <p:txBody>
          <a:bodyPr wrap="square" lIns="0" tIns="0" rIns="0" bIns="0" anchor="t">
            <a:noAutofit/>
          </a:bodyPr>
          <a:lstStyle/>
          <a:p>
            <a:pPr algn="l">
              <a:lnSpc>
                <a:spcPct val="103000"/>
              </a:lnSpc>
              <a:buNone/>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Démonstration et répartition orale</a:t>
            </a:r>
          </a:p>
        </p:txBody>
      </p:sp>
      <p:sp>
        <p:nvSpPr>
          <p:cNvPr id="4" name="Rectangle 3">
            <a:extLst>
              <a:ext uri="{FF2B5EF4-FFF2-40B4-BE49-F238E27FC236}">
                <a16:creationId xmlns:a16="http://schemas.microsoft.com/office/drawing/2014/main" id="{FE464FBC-39D2-4D5D-BAD1-0A7EA0F12944}"/>
              </a:ext>
            </a:extLst>
          </p:cNvPr>
          <p:cNvSpPr>
            <a:spLocks noGrp="1"/>
          </p:cNvSpPr>
          <p:nvPr/>
        </p:nvSpPr>
        <p:spPr>
          <a:xfrm>
            <a:off x="9429750" y="352425"/>
            <a:ext cx="2143125" cy="247650"/>
          </a:xfrm>
          <a:prstGeom prst="rect">
            <a:avLst/>
          </a:prstGeom>
          <a:noFill/>
          <a:ln w="0">
            <a:noFill/>
          </a:ln>
        </p:spPr>
        <p:txBody>
          <a:bodyPr wrap="square" lIns="0" tIns="0" rIns="0" bIns="0" anchor="t">
            <a:noAutofit/>
          </a:bodyPr>
          <a:lstStyle/>
          <a:p>
            <a:pPr algn="r">
              <a:lnSpc>
                <a:spcPct val="103000"/>
              </a:lnSpc>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ÉQUIPE</a:t>
            </a:r>
          </a:p>
        </p:txBody>
      </p:sp>
      <p:sp>
        <p:nvSpPr>
          <p:cNvPr id="5" name="Rectangle 4">
            <a:extLst>
              <a:ext uri="{FF2B5EF4-FFF2-40B4-BE49-F238E27FC236}">
                <a16:creationId xmlns:a16="http://schemas.microsoft.com/office/drawing/2014/main" id="{DEA22898-2739-47D7-B4DF-CF355010DAF7}"/>
              </a:ext>
            </a:extLst>
          </p:cNvPr>
          <p:cNvSpPr>
            <a:spLocks noGrp="1"/>
          </p:cNvSpPr>
          <p:nvPr/>
        </p:nvSpPr>
        <p:spPr>
          <a:xfrm>
            <a:off x="628650" y="781050"/>
            <a:ext cx="10382250" cy="257175"/>
          </a:xfrm>
          <a:prstGeom prst="rect">
            <a:avLst/>
          </a:prstGeom>
          <a:noFill/>
          <a:ln w="0">
            <a:noFill/>
          </a:ln>
        </p:spPr>
        <p:txBody>
          <a:bodyPr wrap="square" lIns="0" tIns="0" rIns="0" bIns="0" anchor="t">
            <a:noAutofit/>
          </a:bodyPr>
          <a:lstStyle/>
          <a:p>
            <a:pPr algn="l">
              <a:lnSpc>
                <a:spcPct val="103000"/>
              </a:lnSpc>
              <a:buNone/>
              <a:defRPr sz="1125" b="0">
                <a:solidFill>
                  <a:srgbClr val="DCE7EE"/>
                </a:solidFill>
                <a:latin typeface="Avenir Next"/>
                <a:ea typeface="Avenir Next"/>
                <a:cs typeface="Avenir Next"/>
              </a:defRPr>
            </a:pPr>
            <a:r>
              <a:rPr sz="1125" b="0">
                <a:solidFill>
                  <a:srgbClr val="DCE7EE"/>
                </a:solidFill>
                <a:latin typeface="Avenir Next"/>
                <a:ea typeface="Avenir Next"/>
                <a:cs typeface="Avenir Next"/>
              </a:rPr>
              <a:t>Un parcours court, chaque membre défend sa contribution</a:t>
            </a:r>
          </a:p>
        </p:txBody>
      </p:sp>
      <p:sp>
        <p:nvSpPr>
          <p:cNvPr id="6" name="Rectangle 5">
            <a:extLst>
              <a:ext uri="{FF2B5EF4-FFF2-40B4-BE49-F238E27FC236}">
                <a16:creationId xmlns:a16="http://schemas.microsoft.com/office/drawing/2014/main" id="{3C881EA6-1033-46E1-B318-4D6DBBE340BF}"/>
              </a:ext>
            </a:extLst>
          </p:cNvPr>
          <p:cNvSpPr>
            <a:spLocks noGrp="1"/>
          </p:cNvSpPr>
          <p:nvPr/>
        </p:nvSpPr>
        <p:spPr>
          <a:xfrm>
            <a:off x="1428750" y="1571625"/>
            <a:ext cx="457200" cy="400050"/>
          </a:xfrm>
          <a:prstGeom prst="rect">
            <a:avLst/>
          </a:prstGeom>
          <a:noFill/>
          <a:ln w="0">
            <a:noFill/>
          </a:ln>
        </p:spPr>
        <p:txBody>
          <a:bodyPr wrap="square" lIns="0" tIns="0" rIns="0" bIns="0" anchor="t">
            <a:noAutofit/>
          </a:bodyPr>
          <a:lstStyle/>
          <a:p>
            <a:pPr algn="ctr">
              <a:lnSpc>
                <a:spcPct val="103000"/>
              </a:lnSpc>
              <a:buNone/>
              <a:defRPr sz="1725" b="1">
                <a:solidFill>
                  <a:srgbClr val="287B83"/>
                </a:solidFill>
                <a:latin typeface="Avenir Next"/>
                <a:ea typeface="Avenir Next"/>
                <a:cs typeface="Avenir Next"/>
              </a:defRPr>
            </a:pPr>
            <a:r>
              <a:rPr sz="1725" b="1">
                <a:solidFill>
                  <a:srgbClr val="287B83"/>
                </a:solidFill>
                <a:latin typeface="Avenir Next"/>
                <a:ea typeface="Avenir Next"/>
                <a:cs typeface="Avenir Next"/>
              </a:rPr>
              <a:t>1</a:t>
            </a:r>
          </a:p>
        </p:txBody>
      </p:sp>
      <p:sp>
        <p:nvSpPr>
          <p:cNvPr id="7" name="Rectangle 6">
            <a:extLst>
              <a:ext uri="{FF2B5EF4-FFF2-40B4-BE49-F238E27FC236}">
                <a16:creationId xmlns:a16="http://schemas.microsoft.com/office/drawing/2014/main" id="{FCB59B38-5A87-4AD0-BB76-61D552BC3CAA}"/>
              </a:ext>
            </a:extLst>
          </p:cNvPr>
          <p:cNvSpPr>
            <a:spLocks noGrp="1"/>
          </p:cNvSpPr>
          <p:nvPr/>
        </p:nvSpPr>
        <p:spPr>
          <a:xfrm>
            <a:off x="2238375" y="1590675"/>
            <a:ext cx="6572250" cy="361950"/>
          </a:xfrm>
          <a:prstGeom prst="rect">
            <a:avLst/>
          </a:prstGeom>
          <a:noFill/>
          <a:ln w="0">
            <a:noFill/>
          </a:ln>
        </p:spPr>
        <p:txBody>
          <a:bodyPr wrap="square" lIns="0" tIns="0" rIns="0" bIns="0" anchor="t">
            <a:noAutofit/>
          </a:bodyPr>
          <a:lstStyle/>
          <a:p>
            <a:pPr algn="l">
              <a:lnSpc>
                <a:spcPct val="103000"/>
              </a:lnSpc>
              <a:buNone/>
              <a:defRPr sz="1800" b="0">
                <a:solidFill>
                  <a:srgbClr val="173B5D"/>
                </a:solidFill>
                <a:latin typeface="Avenir Next"/>
                <a:ea typeface="Avenir Next"/>
                <a:cs typeface="Avenir Next"/>
              </a:defRPr>
            </a:pPr>
            <a:r>
              <a:rPr sz="1800" b="0">
                <a:solidFill>
                  <a:srgbClr val="173B5D"/>
                </a:solidFill>
                <a:latin typeface="Avenir Next"/>
                <a:ea typeface="Avenir Next"/>
                <a:cs typeface="Avenir Next"/>
              </a:rPr>
              <a:t>Flotte et historique moteur</a:t>
            </a:r>
          </a:p>
        </p:txBody>
      </p:sp>
      <p:sp>
        <p:nvSpPr>
          <p:cNvPr id="8" name="Rectangle 7">
            <a:extLst>
              <a:ext uri="{FF2B5EF4-FFF2-40B4-BE49-F238E27FC236}">
                <a16:creationId xmlns:a16="http://schemas.microsoft.com/office/drawing/2014/main" id="{D333B114-FFD7-4C7D-AFFF-4604AA97953B}"/>
              </a:ext>
            </a:extLst>
          </p:cNvPr>
          <p:cNvSpPr>
            <a:spLocks noGrp="1"/>
          </p:cNvSpPr>
          <p:nvPr/>
        </p:nvSpPr>
        <p:spPr>
          <a:xfrm>
            <a:off x="1428750" y="2352675"/>
            <a:ext cx="457200" cy="400050"/>
          </a:xfrm>
          <a:prstGeom prst="rect">
            <a:avLst/>
          </a:prstGeom>
          <a:noFill/>
          <a:ln w="0">
            <a:noFill/>
          </a:ln>
        </p:spPr>
        <p:txBody>
          <a:bodyPr wrap="square" lIns="0" tIns="0" rIns="0" bIns="0" anchor="t">
            <a:noAutofit/>
          </a:bodyPr>
          <a:lstStyle/>
          <a:p>
            <a:pPr algn="ctr">
              <a:lnSpc>
                <a:spcPct val="103000"/>
              </a:lnSpc>
              <a:buNone/>
              <a:defRPr sz="1725" b="1">
                <a:solidFill>
                  <a:srgbClr val="287B83"/>
                </a:solidFill>
                <a:latin typeface="Avenir Next"/>
                <a:ea typeface="Avenir Next"/>
                <a:cs typeface="Avenir Next"/>
              </a:defRPr>
            </a:pPr>
            <a:r>
              <a:rPr sz="1725" b="1">
                <a:solidFill>
                  <a:srgbClr val="287B83"/>
                </a:solidFill>
                <a:latin typeface="Avenir Next"/>
                <a:ea typeface="Avenir Next"/>
                <a:cs typeface="Avenir Next"/>
              </a:rPr>
              <a:t>2</a:t>
            </a:r>
          </a:p>
        </p:txBody>
      </p:sp>
      <p:sp>
        <p:nvSpPr>
          <p:cNvPr id="9" name="Rectangle 8">
            <a:extLst>
              <a:ext uri="{FF2B5EF4-FFF2-40B4-BE49-F238E27FC236}">
                <a16:creationId xmlns:a16="http://schemas.microsoft.com/office/drawing/2014/main" id="{73AF6E40-571D-460D-9690-3DDCD00AEA0E}"/>
              </a:ext>
            </a:extLst>
          </p:cNvPr>
          <p:cNvSpPr>
            <a:spLocks noGrp="1"/>
          </p:cNvSpPr>
          <p:nvPr/>
        </p:nvSpPr>
        <p:spPr>
          <a:xfrm>
            <a:off x="2238375" y="2371725"/>
            <a:ext cx="6572250" cy="361950"/>
          </a:xfrm>
          <a:prstGeom prst="rect">
            <a:avLst/>
          </a:prstGeom>
          <a:noFill/>
          <a:ln w="0">
            <a:noFill/>
          </a:ln>
        </p:spPr>
        <p:txBody>
          <a:bodyPr wrap="square" lIns="0" tIns="0" rIns="0" bIns="0" anchor="t">
            <a:noAutofit/>
          </a:bodyPr>
          <a:lstStyle/>
          <a:p>
            <a:pPr algn="l">
              <a:lnSpc>
                <a:spcPct val="103000"/>
              </a:lnSpc>
              <a:buNone/>
              <a:defRPr sz="1800" b="0">
                <a:solidFill>
                  <a:srgbClr val="173B5D"/>
                </a:solidFill>
                <a:latin typeface="Avenir Next"/>
                <a:ea typeface="Avenir Next"/>
                <a:cs typeface="Avenir Next"/>
              </a:defRPr>
            </a:pPr>
            <a:r>
              <a:rPr sz="1800" b="0">
                <a:solidFill>
                  <a:srgbClr val="173B5D"/>
                </a:solidFill>
                <a:latin typeface="Avenir Next"/>
                <a:ea typeface="Avenir Next"/>
                <a:cs typeface="Avenir Next"/>
              </a:rPr>
              <a:t>Prédiction et documentation API</a:t>
            </a:r>
          </a:p>
        </p:txBody>
      </p:sp>
      <p:sp>
        <p:nvSpPr>
          <p:cNvPr id="10" name="Rectangle 9">
            <a:extLst>
              <a:ext uri="{FF2B5EF4-FFF2-40B4-BE49-F238E27FC236}">
                <a16:creationId xmlns:a16="http://schemas.microsoft.com/office/drawing/2014/main" id="{17D3E3E4-47C9-4958-8BBA-5A32941B1BB0}"/>
              </a:ext>
            </a:extLst>
          </p:cNvPr>
          <p:cNvSpPr>
            <a:spLocks noGrp="1"/>
          </p:cNvSpPr>
          <p:nvPr/>
        </p:nvSpPr>
        <p:spPr>
          <a:xfrm>
            <a:off x="1428750" y="3133725"/>
            <a:ext cx="457200" cy="400050"/>
          </a:xfrm>
          <a:prstGeom prst="rect">
            <a:avLst/>
          </a:prstGeom>
          <a:noFill/>
          <a:ln w="0">
            <a:noFill/>
          </a:ln>
        </p:spPr>
        <p:txBody>
          <a:bodyPr wrap="square" lIns="0" tIns="0" rIns="0" bIns="0" anchor="t">
            <a:noAutofit/>
          </a:bodyPr>
          <a:lstStyle/>
          <a:p>
            <a:pPr algn="ctr">
              <a:lnSpc>
                <a:spcPct val="103000"/>
              </a:lnSpc>
              <a:buNone/>
              <a:defRPr sz="1725" b="1">
                <a:solidFill>
                  <a:srgbClr val="287B83"/>
                </a:solidFill>
                <a:latin typeface="Avenir Next"/>
                <a:ea typeface="Avenir Next"/>
                <a:cs typeface="Avenir Next"/>
              </a:defRPr>
            </a:pPr>
            <a:r>
              <a:rPr sz="1725" b="1">
                <a:solidFill>
                  <a:srgbClr val="287B83"/>
                </a:solidFill>
                <a:latin typeface="Avenir Next"/>
                <a:ea typeface="Avenir Next"/>
                <a:cs typeface="Avenir Next"/>
              </a:rPr>
              <a:t>3</a:t>
            </a:r>
          </a:p>
        </p:txBody>
      </p:sp>
      <p:sp>
        <p:nvSpPr>
          <p:cNvPr id="11" name="Rectangle 10">
            <a:extLst>
              <a:ext uri="{FF2B5EF4-FFF2-40B4-BE49-F238E27FC236}">
                <a16:creationId xmlns:a16="http://schemas.microsoft.com/office/drawing/2014/main" id="{C4028879-C985-4BAF-8878-C17327E98FCE}"/>
              </a:ext>
            </a:extLst>
          </p:cNvPr>
          <p:cNvSpPr>
            <a:spLocks noGrp="1"/>
          </p:cNvSpPr>
          <p:nvPr/>
        </p:nvSpPr>
        <p:spPr>
          <a:xfrm>
            <a:off x="2238375" y="3152775"/>
            <a:ext cx="6572250" cy="361950"/>
          </a:xfrm>
          <a:prstGeom prst="rect">
            <a:avLst/>
          </a:prstGeom>
          <a:noFill/>
          <a:ln w="0">
            <a:noFill/>
          </a:ln>
        </p:spPr>
        <p:txBody>
          <a:bodyPr wrap="square" lIns="0" tIns="0" rIns="0" bIns="0" anchor="t">
            <a:noAutofit/>
          </a:bodyPr>
          <a:lstStyle/>
          <a:p>
            <a:pPr algn="l">
              <a:lnSpc>
                <a:spcPct val="103000"/>
              </a:lnSpc>
              <a:buNone/>
              <a:defRPr sz="1800" b="0">
                <a:solidFill>
                  <a:srgbClr val="173B5D"/>
                </a:solidFill>
                <a:latin typeface="Avenir Next"/>
                <a:ea typeface="Avenir Next"/>
                <a:cs typeface="Avenir Next"/>
              </a:defRPr>
            </a:pPr>
            <a:r>
              <a:rPr sz="1800" b="0">
                <a:solidFill>
                  <a:srgbClr val="173B5D"/>
                </a:solidFill>
                <a:latin typeface="Avenir Next"/>
                <a:ea typeface="Avenir Next"/>
                <a:cs typeface="Avenir Next"/>
              </a:rPr>
              <a:t>Champion MLflow</a:t>
            </a:r>
          </a:p>
        </p:txBody>
      </p:sp>
      <p:sp>
        <p:nvSpPr>
          <p:cNvPr id="12" name="Rectangle 11">
            <a:extLst>
              <a:ext uri="{FF2B5EF4-FFF2-40B4-BE49-F238E27FC236}">
                <a16:creationId xmlns:a16="http://schemas.microsoft.com/office/drawing/2014/main" id="{AE9C734F-38E2-4D46-8BB5-039836A336F3}"/>
              </a:ext>
            </a:extLst>
          </p:cNvPr>
          <p:cNvSpPr>
            <a:spLocks noGrp="1"/>
          </p:cNvSpPr>
          <p:nvPr/>
        </p:nvSpPr>
        <p:spPr>
          <a:xfrm>
            <a:off x="1428750" y="3914775"/>
            <a:ext cx="457200" cy="400050"/>
          </a:xfrm>
          <a:prstGeom prst="rect">
            <a:avLst/>
          </a:prstGeom>
          <a:noFill/>
          <a:ln w="0">
            <a:noFill/>
          </a:ln>
        </p:spPr>
        <p:txBody>
          <a:bodyPr wrap="square" lIns="0" tIns="0" rIns="0" bIns="0" anchor="t">
            <a:noAutofit/>
          </a:bodyPr>
          <a:lstStyle/>
          <a:p>
            <a:pPr algn="ctr">
              <a:lnSpc>
                <a:spcPct val="103000"/>
              </a:lnSpc>
              <a:buNone/>
              <a:defRPr sz="1725" b="1">
                <a:solidFill>
                  <a:srgbClr val="287B83"/>
                </a:solidFill>
                <a:latin typeface="Avenir Next"/>
                <a:ea typeface="Avenir Next"/>
                <a:cs typeface="Avenir Next"/>
              </a:defRPr>
            </a:pPr>
            <a:r>
              <a:rPr sz="1725" b="1">
                <a:solidFill>
                  <a:srgbClr val="287B83"/>
                </a:solidFill>
                <a:latin typeface="Avenir Next"/>
                <a:ea typeface="Avenir Next"/>
                <a:cs typeface="Avenir Next"/>
              </a:rPr>
              <a:t>4</a:t>
            </a:r>
          </a:p>
        </p:txBody>
      </p:sp>
      <p:sp>
        <p:nvSpPr>
          <p:cNvPr id="13" name="Rectangle 12">
            <a:extLst>
              <a:ext uri="{FF2B5EF4-FFF2-40B4-BE49-F238E27FC236}">
                <a16:creationId xmlns:a16="http://schemas.microsoft.com/office/drawing/2014/main" id="{EFB0CE40-8225-4BA5-AF5E-080B41C4804A}"/>
              </a:ext>
            </a:extLst>
          </p:cNvPr>
          <p:cNvSpPr>
            <a:spLocks noGrp="1"/>
          </p:cNvSpPr>
          <p:nvPr/>
        </p:nvSpPr>
        <p:spPr>
          <a:xfrm>
            <a:off x="2238375" y="3933825"/>
            <a:ext cx="6572250" cy="361950"/>
          </a:xfrm>
          <a:prstGeom prst="rect">
            <a:avLst/>
          </a:prstGeom>
          <a:noFill/>
          <a:ln w="0">
            <a:noFill/>
          </a:ln>
        </p:spPr>
        <p:txBody>
          <a:bodyPr wrap="square" lIns="0" tIns="0" rIns="0" bIns="0" anchor="t">
            <a:noAutofit/>
          </a:bodyPr>
          <a:lstStyle/>
          <a:p>
            <a:pPr algn="l">
              <a:lnSpc>
                <a:spcPct val="103000"/>
              </a:lnSpc>
              <a:buNone/>
              <a:defRPr sz="1800" b="0">
                <a:solidFill>
                  <a:srgbClr val="173B5D"/>
                </a:solidFill>
                <a:latin typeface="Avenir Next"/>
                <a:ea typeface="Avenir Next"/>
                <a:cs typeface="Avenir Next"/>
              </a:defRPr>
            </a:pPr>
            <a:r>
              <a:rPr sz="1800" b="0">
                <a:solidFill>
                  <a:srgbClr val="173B5D"/>
                </a:solidFill>
                <a:latin typeface="Avenir Next"/>
                <a:ea typeface="Avenir Next"/>
                <a:cs typeface="Avenir Next"/>
              </a:rPr>
              <a:t>Planning Dagster</a:t>
            </a:r>
          </a:p>
        </p:txBody>
      </p:sp>
      <p:sp>
        <p:nvSpPr>
          <p:cNvPr id="14" name="Rectangle 13">
            <a:extLst>
              <a:ext uri="{FF2B5EF4-FFF2-40B4-BE49-F238E27FC236}">
                <a16:creationId xmlns:a16="http://schemas.microsoft.com/office/drawing/2014/main" id="{AEBF99DF-DED7-45FD-86F3-82CEBB3F8DAB}"/>
              </a:ext>
            </a:extLst>
          </p:cNvPr>
          <p:cNvSpPr>
            <a:spLocks noGrp="1"/>
          </p:cNvSpPr>
          <p:nvPr/>
        </p:nvSpPr>
        <p:spPr>
          <a:xfrm>
            <a:off x="1428750" y="4695825"/>
            <a:ext cx="457200" cy="400050"/>
          </a:xfrm>
          <a:prstGeom prst="rect">
            <a:avLst/>
          </a:prstGeom>
          <a:noFill/>
          <a:ln w="0">
            <a:noFill/>
          </a:ln>
        </p:spPr>
        <p:txBody>
          <a:bodyPr wrap="square" lIns="0" tIns="0" rIns="0" bIns="0" anchor="t">
            <a:noAutofit/>
          </a:bodyPr>
          <a:lstStyle/>
          <a:p>
            <a:pPr algn="ctr">
              <a:lnSpc>
                <a:spcPct val="103000"/>
              </a:lnSpc>
              <a:buNone/>
              <a:defRPr sz="1725" b="1">
                <a:solidFill>
                  <a:srgbClr val="287B83"/>
                </a:solidFill>
                <a:latin typeface="Avenir Next"/>
                <a:ea typeface="Avenir Next"/>
                <a:cs typeface="Avenir Next"/>
              </a:defRPr>
            </a:pPr>
            <a:r>
              <a:rPr sz="1725" b="1">
                <a:solidFill>
                  <a:srgbClr val="287B83"/>
                </a:solidFill>
                <a:latin typeface="Avenir Next"/>
                <a:ea typeface="Avenir Next"/>
                <a:cs typeface="Avenir Next"/>
              </a:rPr>
              <a:t>5</a:t>
            </a:r>
          </a:p>
        </p:txBody>
      </p:sp>
      <p:sp>
        <p:nvSpPr>
          <p:cNvPr id="15" name="Rectangle 14">
            <a:extLst>
              <a:ext uri="{FF2B5EF4-FFF2-40B4-BE49-F238E27FC236}">
                <a16:creationId xmlns:a16="http://schemas.microsoft.com/office/drawing/2014/main" id="{48C0DF79-8EDC-4E00-A162-5F0FC4B747CE}"/>
              </a:ext>
            </a:extLst>
          </p:cNvPr>
          <p:cNvSpPr>
            <a:spLocks noGrp="1"/>
          </p:cNvSpPr>
          <p:nvPr/>
        </p:nvSpPr>
        <p:spPr>
          <a:xfrm>
            <a:off x="2238375" y="4714875"/>
            <a:ext cx="6572250" cy="361950"/>
          </a:xfrm>
          <a:prstGeom prst="rect">
            <a:avLst/>
          </a:prstGeom>
          <a:noFill/>
          <a:ln w="0">
            <a:noFill/>
          </a:ln>
        </p:spPr>
        <p:txBody>
          <a:bodyPr wrap="square" lIns="0" tIns="0" rIns="0" bIns="0" anchor="t">
            <a:noAutofit/>
          </a:bodyPr>
          <a:lstStyle/>
          <a:p>
            <a:pPr algn="l">
              <a:lnSpc>
                <a:spcPct val="103000"/>
              </a:lnSpc>
              <a:buNone/>
              <a:defRPr sz="1800" b="0">
                <a:solidFill>
                  <a:srgbClr val="173B5D"/>
                </a:solidFill>
                <a:latin typeface="Avenir Next"/>
                <a:ea typeface="Avenir Next"/>
                <a:cs typeface="Avenir Next"/>
              </a:defRPr>
            </a:pPr>
            <a:r>
              <a:rPr sz="1800" b="0">
                <a:solidFill>
                  <a:srgbClr val="173B5D"/>
                </a:solidFill>
                <a:latin typeface="Avenir Next"/>
                <a:ea typeface="Avenir Next"/>
                <a:cs typeface="Avenir Next"/>
              </a:rPr>
              <a:t>Stack Komodo et monitoring</a:t>
            </a:r>
          </a:p>
        </p:txBody>
      </p:sp>
      <p:sp>
        <p:nvSpPr>
          <p:cNvPr id="16" name="Rectangle 15">
            <a:extLst>
              <a:ext uri="{FF2B5EF4-FFF2-40B4-BE49-F238E27FC236}">
                <a16:creationId xmlns:a16="http://schemas.microsoft.com/office/drawing/2014/main" id="{72C576A3-861D-45E4-8AE6-84AA9EC21252}"/>
              </a:ext>
            </a:extLst>
          </p:cNvPr>
          <p:cNvSpPr>
            <a:spLocks noGrp="1"/>
          </p:cNvSpPr>
          <p:nvPr/>
        </p:nvSpPr>
        <p:spPr>
          <a:xfrm>
            <a:off x="8572500" y="1666875"/>
            <a:ext cx="2381250" cy="333375"/>
          </a:xfrm>
          <a:prstGeom prst="rect">
            <a:avLst/>
          </a:prstGeom>
          <a:noFill/>
          <a:ln w="0">
            <a:noFill/>
          </a:ln>
        </p:spPr>
        <p:txBody>
          <a:bodyPr wrap="square" lIns="0" tIns="0" rIns="0" bIns="0" anchor="t">
            <a:noAutofit/>
          </a:bodyPr>
          <a:lstStyle/>
          <a:p>
            <a:pPr algn="ctr">
              <a:lnSpc>
                <a:spcPct val="103000"/>
              </a:lnSpc>
              <a:buNone/>
              <a:defRPr sz="1725" b="1">
                <a:solidFill>
                  <a:srgbClr val="C45A31"/>
                </a:solidFill>
                <a:latin typeface="Avenir Next"/>
                <a:ea typeface="Avenir Next"/>
                <a:cs typeface="Avenir Next"/>
              </a:defRPr>
            </a:pPr>
            <a:r>
              <a:rPr sz="1725" b="1">
                <a:solidFill>
                  <a:srgbClr val="C45A31"/>
                </a:solidFill>
                <a:latin typeface="Avenir Next"/>
                <a:ea typeface="Avenir Next"/>
                <a:cs typeface="Avenir Next"/>
              </a:rPr>
              <a:t>Ordre de parole</a:t>
            </a:r>
          </a:p>
        </p:txBody>
      </p:sp>
      <p:sp>
        <p:nvSpPr>
          <p:cNvPr id="17" name="Rectangle 16">
            <a:extLst>
              <a:ext uri="{FF2B5EF4-FFF2-40B4-BE49-F238E27FC236}">
                <a16:creationId xmlns:a16="http://schemas.microsoft.com/office/drawing/2014/main" id="{105F2807-A99D-4AA1-96D3-0D7842038C0B}"/>
              </a:ext>
            </a:extLst>
          </p:cNvPr>
          <p:cNvSpPr>
            <a:spLocks noGrp="1"/>
          </p:cNvSpPr>
          <p:nvPr/>
        </p:nvSpPr>
        <p:spPr>
          <a:xfrm>
            <a:off x="7524750" y="2190750"/>
            <a:ext cx="3905250" cy="2428875"/>
          </a:xfrm>
          <a:prstGeom prst="rect">
            <a:avLst/>
          </a:prstGeom>
          <a:noFill/>
          <a:ln w="0">
            <a:noFill/>
          </a:ln>
        </p:spPr>
        <p:txBody>
          <a:bodyPr wrap="square" lIns="0" tIns="0" rIns="0" bIns="0" anchor="t">
            <a:noAutofit/>
          </a:bodyPr>
          <a:lstStyle/>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Ilyass  contexte et données</a:t>
            </a:r>
          </a:p>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Mohamed  DataOps et Dagster</a:t>
            </a:r>
          </a:p>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Hamza  qualité et CI</a:t>
            </a:r>
          </a:p>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Mouhcine  modèle et métriques</a:t>
            </a:r>
          </a:p>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Ossama  MLflow et déploiement</a:t>
            </a:r>
          </a:p>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Hajar  API et parcours de démo</a:t>
            </a:r>
          </a:p>
          <a:p>
            <a:pPr algn="l">
              <a:lnSpc>
                <a:spcPct val="115000"/>
              </a:lnSpc>
              <a:buNone/>
              <a:defRPr sz="1275" b="0">
                <a:solidFill>
                  <a:srgbClr val="173B5D"/>
                </a:solidFill>
                <a:latin typeface="Avenir Next"/>
                <a:ea typeface="Avenir Next"/>
                <a:cs typeface="Avenir Next"/>
              </a:defRPr>
            </a:pPr>
            <a:r>
              <a:rPr sz="1275" b="0">
                <a:solidFill>
                  <a:srgbClr val="173B5D"/>
                </a:solidFill>
                <a:latin typeface="Avenir Next"/>
                <a:ea typeface="Avenir Next"/>
                <a:cs typeface="Avenir Next"/>
              </a:rPr>
              <a:t>Aya  QA, monitoring, Komodo et limites</a:t>
            </a:r>
          </a:p>
        </p:txBody>
      </p:sp>
      <p:sp>
        <p:nvSpPr>
          <p:cNvPr id="18" name="Rectangle 17">
            <a:extLst>
              <a:ext uri="{FF2B5EF4-FFF2-40B4-BE49-F238E27FC236}">
                <a16:creationId xmlns:a16="http://schemas.microsoft.com/office/drawing/2014/main" id="{2BF24BB5-0712-4382-BD09-95B5B8120E56}"/>
              </a:ext>
            </a:extLst>
          </p:cNvPr>
          <p:cNvSpPr>
            <a:spLocks noGrp="1"/>
          </p:cNvSpPr>
          <p:nvPr/>
        </p:nvSpPr>
        <p:spPr>
          <a:xfrm>
            <a:off x="7524750" y="5095875"/>
            <a:ext cx="3905250" cy="495300"/>
          </a:xfrm>
          <a:prstGeom prst="rect">
            <a:avLst/>
          </a:prstGeom>
          <a:noFill/>
          <a:ln w="0">
            <a:noFill/>
          </a:ln>
        </p:spPr>
        <p:txBody>
          <a:bodyPr wrap="square" lIns="0" tIns="0" rIns="0" bIns="0" anchor="t">
            <a:noAutofit/>
          </a:bodyPr>
          <a:lstStyle/>
          <a:p>
            <a:pPr algn="ctr">
              <a:lnSpc>
                <a:spcPct val="103000"/>
              </a:lnSpc>
              <a:buNone/>
              <a:defRPr sz="1050" b="0">
                <a:solidFill>
                  <a:srgbClr val="66727C"/>
                </a:solidFill>
                <a:latin typeface="Avenir Next"/>
                <a:ea typeface="Avenir Next"/>
                <a:cs typeface="Avenir Next"/>
              </a:defRPr>
            </a:pPr>
            <a:r>
              <a:rPr sz="1050" b="0">
                <a:solidFill>
                  <a:srgbClr val="66727C"/>
                </a:solidFill>
                <a:latin typeface="Avenir Next"/>
                <a:ea typeface="Avenir Next"/>
                <a:cs typeface="Avenir Next"/>
              </a:rPr>
              <a:t>Appui antérieur Agile/Jira : Mohamed Akrame Kraichy, non présentateur</a:t>
            </a:r>
          </a:p>
        </p:txBody>
      </p:sp>
      <p:sp>
        <p:nvSpPr>
          <p:cNvPr id="19" name="Rectangle 18">
            <a:extLst>
              <a:ext uri="{FF2B5EF4-FFF2-40B4-BE49-F238E27FC236}">
                <a16:creationId xmlns:a16="http://schemas.microsoft.com/office/drawing/2014/main" id="{D1DC5BE5-C27C-4755-AEEA-FC9C49E831A8}"/>
              </a:ext>
            </a:extLst>
          </p:cNvPr>
          <p:cNvSpPr>
            <a:spLocks noGrp="1"/>
          </p:cNvSpPr>
          <p:nvPr/>
        </p:nvSpPr>
        <p:spPr>
          <a:xfrm>
            <a:off x="8286750" y="5810250"/>
            <a:ext cx="2571750" cy="361950"/>
          </a:xfrm>
          <a:prstGeom prst="rect">
            <a:avLst/>
          </a:prstGeom>
          <a:noFill/>
          <a:ln w="0">
            <a:noFill/>
          </a:ln>
        </p:spPr>
        <p:txBody>
          <a:bodyPr wrap="square" lIns="0" tIns="0" rIns="0" bIns="0" anchor="t">
            <a:noAutofit/>
          </a:bodyPr>
          <a:lstStyle/>
          <a:p>
            <a:pPr algn="ctr">
              <a:lnSpc>
                <a:spcPct val="103000"/>
              </a:lnSpc>
              <a:buNone/>
              <a:defRPr sz="2100" b="1">
                <a:solidFill>
                  <a:srgbClr val="287B83"/>
                </a:solidFill>
                <a:latin typeface="Avenir Next"/>
                <a:ea typeface="Avenir Next"/>
                <a:cs typeface="Avenir Next"/>
              </a:defRPr>
            </a:pPr>
            <a:r>
              <a:rPr sz="2100" b="1">
                <a:solidFill>
                  <a:srgbClr val="287B83"/>
                </a:solidFill>
                <a:latin typeface="Avenir Next"/>
                <a:ea typeface="Avenir Next"/>
                <a:cs typeface="Avenir Next"/>
              </a:rPr>
              <a:t>Questions</a:t>
            </a:r>
          </a:p>
        </p:txBody>
      </p:sp>
      <p:sp>
        <p:nvSpPr>
          <p:cNvPr id="20" name="Rectangle 19">
            <a:extLst>
              <a:ext uri="{FF2B5EF4-FFF2-40B4-BE49-F238E27FC236}">
                <a16:creationId xmlns:a16="http://schemas.microsoft.com/office/drawing/2014/main" id="{5690EF89-23E3-4E95-9E15-7B63073EDE8C}"/>
              </a:ext>
            </a:extLst>
          </p:cNvPr>
          <p:cNvSpPr>
            <a:spLocks noGrp="1"/>
          </p:cNvSpPr>
          <p:nvPr/>
        </p:nvSpPr>
        <p:spPr>
          <a:xfrm>
            <a:off x="628650" y="6534150"/>
            <a:ext cx="5334000" cy="171450"/>
          </a:xfrm>
          <a:prstGeom prst="rect">
            <a:avLst/>
          </a:prstGeom>
          <a:noFill/>
          <a:ln w="0">
            <a:noFill/>
          </a:ln>
        </p:spPr>
        <p:txBody>
          <a:bodyPr wrap="square" lIns="0" tIns="0" rIns="0" bIns="0" anchor="t">
            <a:noAutofit/>
          </a:bodyPr>
          <a:lstStyle/>
          <a:p>
            <a:pPr algn="l">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Équipe</a:t>
            </a:r>
          </a:p>
        </p:txBody>
      </p:sp>
      <p:sp>
        <p:nvSpPr>
          <p:cNvPr id="21" name="Rectangle 20">
            <a:extLst>
              <a:ext uri="{FF2B5EF4-FFF2-40B4-BE49-F238E27FC236}">
                <a16:creationId xmlns:a16="http://schemas.microsoft.com/office/drawing/2014/main" id="{912E7C87-9715-4A43-B53A-85237096E22C}"/>
              </a:ext>
            </a:extLst>
          </p:cNvPr>
          <p:cNvSpPr>
            <a:spLocks noGrp="1"/>
          </p:cNvSpPr>
          <p:nvPr/>
        </p:nvSpPr>
        <p:spPr>
          <a:xfrm>
            <a:off x="10763250" y="6534150"/>
            <a:ext cx="800100" cy="171450"/>
          </a:xfrm>
          <a:prstGeom prst="rect">
            <a:avLst/>
          </a:prstGeom>
          <a:noFill/>
          <a:ln w="0">
            <a:noFill/>
          </a:ln>
        </p:spPr>
        <p:txBody>
          <a:bodyPr wrap="square" lIns="0" tIns="0" rIns="0" bIns="0" anchor="t">
            <a:noAutofit/>
          </a:bodyPr>
          <a:lstStyle/>
          <a:p>
            <a:pPr algn="r">
              <a:lnSpc>
                <a:spcPct val="103000"/>
              </a:lnSpc>
              <a:buNone/>
              <a:defRPr sz="750" b="0">
                <a:solidFill>
                  <a:srgbClr val="66727C"/>
                </a:solidFill>
                <a:latin typeface="Avenir Next"/>
                <a:ea typeface="Avenir Next"/>
                <a:cs typeface="Avenir Next"/>
              </a:defRPr>
            </a:pPr>
            <a:r>
              <a:rPr sz="750" b="0">
                <a:solidFill>
                  <a:srgbClr val="66727C"/>
                </a:solidFill>
                <a:latin typeface="Avenir Next"/>
                <a:ea typeface="Avenir Next"/>
                <a:cs typeface="Avenir Next"/>
              </a:rPr>
              <a:t>18 / 18</a:t>
            </a:r>
          </a:p>
        </p:txBody>
      </p:sp>
    </p:spTree>
    <p:extLst>
      <p:ext uri="{BB962C8B-B14F-4D97-AF65-F5344CB8AC3E}">
        <p14:creationId xmlns:p14="http://schemas.microsoft.com/office/powerpoint/2010/main" val="1125517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3013</Words>
  <Application>Microsoft Office PowerPoint</Application>
  <DocSecurity>0</DocSecurity>
  <PresentationFormat>Grand écran</PresentationFormat>
  <Paragraphs>420</Paragraphs>
  <Slides>18</Slides>
  <Notes>18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18</vt:i4>
      </vt:variant>
    </vt:vector>
  </HeadingPairs>
  <TitlesOfParts>
    <vt:vector size="21" baseType="lpstr">
      <vt:lpstr>Avenir Next</vt: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Mohamed amine</cp:lastModifiedBy>
  <cp:revision>4</cp:revision>
  <dcterms:created xsi:type="dcterms:W3CDTF">2026-09-17T22:00:22Z</dcterms:created>
  <dcterms:modified xsi:type="dcterms:W3CDTF">2026-09-18T09:48:43Z</dcterms:modified>
</cp:coreProperties>
</file>